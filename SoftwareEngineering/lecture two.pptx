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52" autoAdjust="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858471-DFFB-48A0-A1BE-00AD2E6D9F2B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E8C7A-C326-4932-A1F0-7145BF1BB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3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9E8C7A-C326-4932-A1F0-7145BF1BB2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96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334155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1980" y="1676400"/>
            <a:ext cx="38099" cy="6096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3B82F6"/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0575" y="1885950"/>
            <a:ext cx="192400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6B6D4"/>
                </a:solidFill>
                <a:latin typeface="Inter"/>
              </a:rPr>
              <a:t>LECTURE TWO •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2514600"/>
            <a:ext cx="6781630" cy="1428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810"/>
              </a:lnSpc>
              <a:spcBef>
                <a:spcPts val="0"/>
              </a:spcBef>
              <a:spcAft>
                <a:spcPts val="1560"/>
              </a:spcAft>
            </a:pPr>
            <a:r>
              <a:rPr sz="4066" b="1">
                <a:solidFill>
                  <a:srgbClr val="F8FAFC"/>
                </a:solidFill>
                <a:latin typeface="Space Grotesk"/>
              </a:rPr>
              <a:t> Software</a:t>
            </a:r>
            <a:r>
              <a:rPr sz="1104"/>
              <a:t>
</a:t>
            </a:r>
            <a:r>
              <a:rPr sz="4066" b="1">
                <a:solidFill>
                  <a:srgbClr val="F8FAFC"/>
                </a:solidFill>
                <a:latin typeface="Space Grotesk"/>
              </a:rPr>
              <a:t>Engineering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4171950"/>
            <a:ext cx="678163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Understanding Software Fundamentals &amp; Engineering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4743450"/>
            <a:ext cx="1838279" cy="438149"/>
          </a:xfrm>
          <a:prstGeom prst="roundRect">
            <a:avLst>
              <a:gd name="adj" fmla="val 43473913"/>
            </a:avLst>
          </a:prstGeom>
          <a:solidFill>
            <a:srgbClr val="06B6D4">
              <a:alpha val="1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2000" y="4886325"/>
            <a:ext cx="1438239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 dirty="0">
                <a:solidFill>
                  <a:srgbClr val="06B6D4"/>
                </a:solidFill>
                <a:latin typeface="Inter"/>
              </a:rPr>
              <a:t>Software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2656" y="4743450"/>
            <a:ext cx="1409664" cy="438149"/>
          </a:xfrm>
          <a:prstGeom prst="roundRect">
            <a:avLst>
              <a:gd name="adj" fmla="val 43473913"/>
            </a:avLst>
          </a:prstGeom>
          <a:solidFill>
            <a:srgbClr val="3B82F6">
              <a:alpha val="10000"/>
            </a:srgbClr>
          </a:soli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2676" y="4886325"/>
            <a:ext cx="1009624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B82F6"/>
                </a:solidFill>
                <a:latin typeface="Inter"/>
              </a:rPr>
              <a:t>Process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4717" y="4743450"/>
            <a:ext cx="1552536" cy="438149"/>
          </a:xfrm>
          <a:prstGeom prst="roundRect">
            <a:avLst>
              <a:gd name="adj" fmla="val 43473913"/>
            </a:avLst>
          </a:prstGeom>
          <a:solidFill>
            <a:srgbClr val="9333EA">
              <a:alpha val="10000"/>
            </a:srgbClr>
          </a:solidFill>
          <a:ln w="825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4737" y="4886325"/>
            <a:ext cx="1152496" cy="1619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A78BFA"/>
                </a:solidFill>
                <a:latin typeface="Inter"/>
              </a:rPr>
              <a:t>Quality Assurance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4641" y="857250"/>
            <a:ext cx="308602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05592" y="838200"/>
            <a:ext cx="3124121" cy="518159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F172A">
                  <a:alpha val="60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34186" y="53149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0384" y="5442584"/>
            <a:ext cx="228594" cy="12572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029474" y="53149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05672" y="5408295"/>
            <a:ext cx="228594" cy="19430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524761" y="53149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9333E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0959" y="5395436"/>
            <a:ext cx="228594" cy="2200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905752" y="5219700"/>
            <a:ext cx="1295367" cy="304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4A3B8"/>
                </a:solidFill>
                <a:latin typeface="Inter"/>
              </a:rPr>
              <a:t>MODERN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5752" y="5524499"/>
            <a:ext cx="12953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FAFC"/>
                </a:solidFill>
                <a:latin typeface="Inter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69630"/>
            <a:ext cx="304792" cy="2608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14300"/>
            <a:ext cx="326699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8FAFC"/>
                </a:solidFill>
                <a:latin typeface="Space Grotesk"/>
              </a:rPr>
              <a:t>What is Software?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1304925"/>
            <a:ext cx="5371965" cy="609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A textbook description of software consists of three key components: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95525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>
                  <a:alpha val="15000"/>
                </a:srgbClr>
              </a:gs>
              <a:gs pos="100000">
                <a:srgbClr val="06B6D4">
                  <a:alpha val="5000"/>
                </a:srgbClr>
              </a:gs>
            </a:gsLst>
            <a:lin ang="8100000" scaled="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377" y="2428875"/>
            <a:ext cx="12382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6B6D4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6813" y="2371725"/>
            <a:ext cx="457188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8FAFC"/>
                </a:solidFill>
                <a:latin typeface="Inter"/>
              </a:rPr>
              <a:t>Instructions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6813" y="2819399"/>
            <a:ext cx="4571885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4A3B8"/>
                </a:solidFill>
                <a:latin typeface="Inter"/>
              </a:rPr>
              <a:t>Computer programs that provide desired function and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24274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82F6">
                  <a:alpha val="15000"/>
                </a:srgbClr>
              </a:gs>
              <a:gs pos="100000">
                <a:srgbClr val="3B82F6">
                  <a:alpha val="5000"/>
                </a:srgbClr>
              </a:gs>
            </a:gsLst>
            <a:lin ang="8100000" scaled="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5802" y="3857625"/>
            <a:ext cx="1809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3B82F6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6813" y="3800475"/>
            <a:ext cx="457188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8FAFC"/>
                </a:solidFill>
                <a:latin typeface="Inter"/>
              </a:rPr>
              <a:t>Data Structures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6813" y="4248150"/>
            <a:ext cx="4571885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4A3B8"/>
                </a:solidFill>
                <a:latin typeface="Inter"/>
              </a:rPr>
              <a:t>Enable programs to adequately manipulate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5162550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333EA">
                  <a:alpha val="15000"/>
                </a:srgbClr>
              </a:gs>
              <a:gs pos="100000">
                <a:srgbClr val="9333EA">
                  <a:alpha val="5000"/>
                </a:srgbClr>
              </a:gs>
            </a:gsLst>
            <a:lin ang="8100000" scaled="0"/>
          </a:gradFill>
          <a:ln w="825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6278" y="5295899"/>
            <a:ext cx="1809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A78BFA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6813" y="5238749"/>
            <a:ext cx="457188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520"/>
              </a:spcAft>
            </a:pPr>
            <a:r>
              <a:rPr sz="1554" b="1">
                <a:solidFill>
                  <a:srgbClr val="F8FAFC"/>
                </a:solidFill>
                <a:latin typeface="Inter"/>
              </a:rPr>
              <a:t>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6813" y="5686425"/>
            <a:ext cx="4571885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4A3B8"/>
                </a:solidFill>
                <a:latin typeface="Inter"/>
              </a:rPr>
              <a:t>Describe the operation and use of the programs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05472" y="1257300"/>
            <a:ext cx="4686182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86422" y="1238249"/>
            <a:ext cx="4724281" cy="5181599"/>
          </a:xfrm>
          <a:prstGeom prst="rect">
            <a:avLst/>
          </a:prstGeom>
          <a:gradFill rotWithShape="1">
            <a:gsLst>
              <a:gs pos="50000">
                <a:srgbClr val="000000">
                  <a:alpha val="0"/>
                </a:srgbClr>
              </a:gs>
              <a:gs pos="100000">
                <a:srgbClr val="0F172A">
                  <a:alpha val="80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017" y="5734050"/>
            <a:ext cx="1723981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6B6D4"/>
                </a:solidFill>
                <a:latin typeface="Inter"/>
              </a:rP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017" y="5924549"/>
            <a:ext cx="172398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FAFC"/>
                </a:solidFill>
                <a:latin typeface="Inter"/>
              </a:rPr>
              <a:t>Software Ecosystem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24921" y="57340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20169" y="5862637"/>
            <a:ext cx="266693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810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68519"/>
            <a:ext cx="304792" cy="234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0"/>
            <a:ext cx="4467113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8FAFC"/>
                </a:solidFill>
                <a:latin typeface="Space Grotesk"/>
              </a:rPr>
              <a:t>Software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885825"/>
            <a:ext cx="573390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Software has characteristics considerably different from hardware: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762125"/>
            <a:ext cx="2771705" cy="1695449"/>
          </a:xfrm>
          <a:prstGeom prst="roundRect">
            <a:avLst>
              <a:gd name="adj" fmla="val 17977"/>
            </a:avLst>
          </a:prstGeom>
          <a:gradFill rotWithShape="1">
            <a:gsLst>
              <a:gs pos="0">
                <a:srgbClr val="06B6D4">
                  <a:alpha val="8000"/>
                </a:srgbClr>
              </a:gs>
              <a:gs pos="100000">
                <a:srgbClr val="06B6D4">
                  <a:alpha val="2000"/>
                </a:srgbClr>
              </a:gs>
            </a:gsLst>
            <a:lin ang="8100000" scaled="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6753" y="19621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099" y="2115792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2536" y="2000250"/>
            <a:ext cx="1685882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Logical, Not Physical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2536" y="2724150"/>
            <a:ext cx="168588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A logical system element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8934" y="1762125"/>
            <a:ext cx="2771705" cy="1695449"/>
          </a:xfrm>
          <a:prstGeom prst="roundRect">
            <a:avLst>
              <a:gd name="adj" fmla="val 17977"/>
            </a:avLst>
          </a:prstGeom>
          <a:gradFill rotWithShape="1">
            <a:gsLst>
              <a:gs pos="0">
                <a:srgbClr val="3B82F6">
                  <a:alpha val="8000"/>
                </a:srgbClr>
              </a:gs>
              <a:gs pos="100000">
                <a:srgbClr val="3B82F6">
                  <a:alpha val="2000"/>
                </a:srgbClr>
              </a:gs>
            </a:gsLst>
            <a:lin ang="8100000" scaled="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28954" y="196214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300" y="2124489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14737" y="2000250"/>
            <a:ext cx="168588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Engineered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737" y="2381250"/>
            <a:ext cx="168588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Developed, not manufactured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648074"/>
            <a:ext cx="2771705" cy="1695449"/>
          </a:xfrm>
          <a:prstGeom prst="roundRect">
            <a:avLst>
              <a:gd name="adj" fmla="val 17977"/>
            </a:avLst>
          </a:prstGeom>
          <a:gradFill rotWithShape="1">
            <a:gsLst>
              <a:gs pos="0">
                <a:srgbClr val="9333EA">
                  <a:alpha val="8000"/>
                </a:srgbClr>
              </a:gs>
              <a:gs pos="100000">
                <a:srgbClr val="9333EA">
                  <a:alpha val="2000"/>
                </a:srgbClr>
              </a:gs>
            </a:gsLst>
            <a:lin ang="8100000" scaled="0"/>
          </a:gradFill>
          <a:ln w="825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6753" y="384809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9333E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099" y="4019135"/>
            <a:ext cx="266693" cy="19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2536" y="3886200"/>
            <a:ext cx="1685882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Doesn't "Wear Out"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2536" y="4610099"/>
            <a:ext cx="168588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No spare parts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8934" y="3648074"/>
            <a:ext cx="2771705" cy="1695449"/>
          </a:xfrm>
          <a:prstGeom prst="roundRect">
            <a:avLst>
              <a:gd name="adj" fmla="val 17977"/>
            </a:avLst>
          </a:prstGeom>
          <a:gradFill rotWithShape="1">
            <a:gsLst>
              <a:gs pos="0">
                <a:srgbClr val="EC4899">
                  <a:alpha val="8000"/>
                </a:srgbClr>
              </a:gs>
              <a:gs pos="100000">
                <a:srgbClr val="EC4899">
                  <a:alpha val="2000"/>
                </a:srgbClr>
              </a:gs>
            </a:gsLst>
            <a:lin ang="8100000" scaled="0"/>
          </a:gra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28954" y="3848099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EC489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2300" y="3987247"/>
            <a:ext cx="266693" cy="2551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14737" y="3886200"/>
            <a:ext cx="168588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Custom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737" y="4267199"/>
            <a:ext cx="1685882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Most software is custom built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572125"/>
            <a:ext cx="5733906" cy="1400175"/>
          </a:xfrm>
          <a:prstGeom prst="roundRect">
            <a:avLst>
              <a:gd name="adj" fmla="val 21768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06B6D4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2686" y="6206172"/>
            <a:ext cx="1400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5327" y="5762625"/>
            <a:ext cx="5314817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CBD5E1"/>
                </a:solidFill>
                <a:latin typeface="Inter"/>
              </a:rPr>
              <a:t> Every software failure indicates an </a:t>
            </a:r>
            <a:r>
              <a:rPr sz="1315" b="1">
                <a:solidFill>
                  <a:srgbClr val="06B6D4"/>
                </a:solidFill>
                <a:latin typeface="Inter"/>
              </a:rPr>
              <a:t>error in design</a:t>
            </a:r>
            <a:r>
              <a:rPr sz="1315" b="0">
                <a:solidFill>
                  <a:srgbClr val="CBD5E1"/>
                </a:solidFill>
                <a:latin typeface="Inter"/>
              </a:rPr>
              <a:t> or in the process through which design was translated into machine executable code.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67413" y="1362075"/>
            <a:ext cx="4324241" cy="514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48363" y="1343025"/>
            <a:ext cx="4362340" cy="5181599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0F172A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76958" y="5838824"/>
            <a:ext cx="1847803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6B6D4"/>
                </a:solidFill>
                <a:latin typeface="Inter"/>
              </a:rPr>
              <a:t>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958" y="6029325"/>
            <a:ext cx="184780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FAFC"/>
                </a:solidFill>
                <a:latin typeface="Inter"/>
              </a:rPr>
              <a:t>Hardware vs Software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24921" y="5838824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20169" y="5983356"/>
            <a:ext cx="266693" cy="168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810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77311"/>
            <a:ext cx="304792" cy="216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0"/>
            <a:ext cx="547673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8FAFC"/>
                </a:solidFill>
                <a:latin typeface="Space Grotesk"/>
              </a:rPr>
              <a:t>Software Applications —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885825"/>
            <a:ext cx="5733906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Software areas indicate the breadth of potential applications: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476375"/>
            <a:ext cx="2771705" cy="2609850"/>
          </a:xfrm>
          <a:prstGeom prst="roundRect">
            <a:avLst>
              <a:gd name="adj" fmla="val 10996"/>
            </a:avLst>
          </a:prstGeom>
          <a:gradFill rotWithShape="1">
            <a:gsLst>
              <a:gs pos="0">
                <a:srgbClr val="06B6D4">
                  <a:alpha val="8000"/>
                </a:srgbClr>
              </a:gs>
              <a:gs pos="100000">
                <a:srgbClr val="06B6D4">
                  <a:alpha val="2000"/>
                </a:srgbClr>
              </a:gs>
            </a:gsLst>
            <a:lin ang="8100000" scaled="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852" y="17145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199" y="1868142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90635" y="1752599"/>
            <a:ext cx="1609684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System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0635" y="2514600"/>
            <a:ext cx="1609684" cy="18668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Programs that service other programs (compilers, editors, file management utilities)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8934" y="1476375"/>
            <a:ext cx="2771705" cy="2409825"/>
          </a:xfrm>
          <a:prstGeom prst="roundRect">
            <a:avLst>
              <a:gd name="adj" fmla="val 10996"/>
            </a:avLst>
          </a:prstGeom>
          <a:gradFill rotWithShape="1">
            <a:gsLst>
              <a:gs pos="0">
                <a:srgbClr val="3B82F6">
                  <a:alpha val="8000"/>
                </a:srgbClr>
              </a:gs>
              <a:gs pos="100000">
                <a:srgbClr val="3B82F6">
                  <a:alpha val="2000"/>
                </a:srgbClr>
              </a:gs>
            </a:gsLst>
            <a:lin ang="8100000" scaled="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67053" y="17145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399" y="1886985"/>
            <a:ext cx="266693" cy="1884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52836" y="1752599"/>
            <a:ext cx="24002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Real-Time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837" y="2171700"/>
            <a:ext cx="1609684" cy="8001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94A3B8"/>
                </a:solidFill>
                <a:latin typeface="Inter"/>
              </a:rPr>
              <a:t>Monitors/analyzes/controls real-world events as they occur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198756"/>
            <a:ext cx="2771705" cy="2609850"/>
          </a:xfrm>
          <a:prstGeom prst="roundRect">
            <a:avLst>
              <a:gd name="adj" fmla="val 11678"/>
            </a:avLst>
          </a:prstGeom>
          <a:gradFill rotWithShape="1">
            <a:gsLst>
              <a:gs pos="0">
                <a:srgbClr val="9333EA">
                  <a:alpha val="8000"/>
                </a:srgbClr>
              </a:gs>
              <a:gs pos="100000">
                <a:srgbClr val="9333EA">
                  <a:alpha val="2000"/>
                </a:srgbClr>
              </a:gs>
            </a:gsLst>
            <a:lin ang="8100000" scaled="0"/>
          </a:gradFill>
          <a:ln w="825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4852" y="50482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9333E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8199" y="521058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57298" y="4817881"/>
            <a:ext cx="1609684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 dirty="0">
                <a:solidFill>
                  <a:srgbClr val="F8FAFC"/>
                </a:solidFill>
                <a:latin typeface="Inter"/>
              </a:rPr>
              <a:t>Business 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2174" y="5456056"/>
            <a:ext cx="1609684" cy="1333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94A3B8"/>
                </a:solidFill>
                <a:latin typeface="Inter"/>
              </a:rPr>
              <a:t>Largest single software application area for information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28933" y="4240490"/>
            <a:ext cx="2771705" cy="2549066"/>
          </a:xfrm>
          <a:prstGeom prst="roundRect">
            <a:avLst>
              <a:gd name="adj" fmla="val 11678"/>
            </a:avLst>
          </a:prstGeom>
          <a:gradFill rotWithShape="1">
            <a:gsLst>
              <a:gs pos="0">
                <a:srgbClr val="EC4899">
                  <a:alpha val="8000"/>
                </a:srgbClr>
              </a:gs>
              <a:gs pos="100000">
                <a:srgbClr val="EC4899">
                  <a:alpha val="2000"/>
                </a:srgbClr>
              </a:gs>
            </a:gsLst>
            <a:lin ang="8100000" scaled="0"/>
          </a:gra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67053" y="50482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EC489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0399" y="5210589"/>
            <a:ext cx="266693" cy="2087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52836" y="4743450"/>
            <a:ext cx="1609684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 dirty="0">
                <a:solidFill>
                  <a:srgbClr val="F8FAFC"/>
                </a:solidFill>
                <a:latin typeface="Inter"/>
              </a:rPr>
              <a:t>Engineering &amp; Scientific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2836" y="5503681"/>
            <a:ext cx="1609684" cy="1333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94A3B8"/>
                </a:solidFill>
                <a:latin typeface="Inter"/>
              </a:rPr>
              <a:t>Characterized by "number crunching" algorithms and computations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67413" y="1581149"/>
            <a:ext cx="4324241" cy="514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48363" y="1562100"/>
            <a:ext cx="4362340" cy="5181599"/>
          </a:xfrm>
          <a:prstGeom prst="rect">
            <a:avLst/>
          </a:prstGeom>
          <a:gradFill rotWithShape="1">
            <a:gsLst>
              <a:gs pos="50000">
                <a:srgbClr val="000000">
                  <a:alpha val="0"/>
                </a:srgbClr>
              </a:gs>
              <a:gs pos="100000">
                <a:srgbClr val="0F172A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76958" y="6057900"/>
            <a:ext cx="1314417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6B6D4"/>
                </a:solidFill>
                <a:latin typeface="Inter"/>
              </a:rPr>
              <a:t>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6958" y="6248400"/>
            <a:ext cx="131441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FAFC"/>
                </a:solidFill>
                <a:latin typeface="Inter"/>
              </a:rPr>
              <a:t>Software Types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24921" y="60579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20169" y="6173442"/>
            <a:ext cx="266693" cy="226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810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77311"/>
            <a:ext cx="304792" cy="216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0"/>
            <a:ext cx="553388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8FAFC"/>
                </a:solidFill>
                <a:latin typeface="Space Grotesk"/>
              </a:rPr>
              <a:t>Software Applications — Part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885825"/>
            <a:ext cx="2771705" cy="2266950"/>
          </a:xfrm>
          <a:prstGeom prst="roundRect">
            <a:avLst>
              <a:gd name="adj" fmla="val 13445"/>
            </a:avLst>
          </a:prstGeom>
          <a:gradFill rotWithShape="1">
            <a:gsLst>
              <a:gs pos="0">
                <a:srgbClr val="06B6D4">
                  <a:alpha val="8000"/>
                </a:srgbClr>
              </a:gs>
              <a:gs pos="100000">
                <a:srgbClr val="06B6D4">
                  <a:alpha val="2000"/>
                </a:srgbClr>
              </a:gs>
            </a:gsLst>
            <a:lin ang="8100000" scaled="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6753" y="10858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099" y="1248189"/>
            <a:ext cx="266693" cy="2087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2536" y="1123949"/>
            <a:ext cx="1685882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Embedded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2536" y="1885950"/>
            <a:ext cx="1685882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Intelligent products in consumer and industrial markets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8934" y="885825"/>
            <a:ext cx="2771705" cy="2266950"/>
          </a:xfrm>
          <a:prstGeom prst="roundRect">
            <a:avLst>
              <a:gd name="adj" fmla="val 13445"/>
            </a:avLst>
          </a:prstGeom>
          <a:gradFill rotWithShape="1">
            <a:gsLst>
              <a:gs pos="0">
                <a:srgbClr val="3B82F6">
                  <a:alpha val="8000"/>
                </a:srgbClr>
              </a:gs>
              <a:gs pos="100000">
                <a:srgbClr val="3B82F6">
                  <a:alpha val="2000"/>
                </a:srgbClr>
              </a:gs>
            </a:gsLst>
            <a:lin ang="8100000" scaled="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28954" y="108585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2300" y="1256885"/>
            <a:ext cx="266693" cy="191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14737" y="1123949"/>
            <a:ext cx="168588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PC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4737" y="1543050"/>
            <a:ext cx="1685882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Word processing, spreadsheets, graphics, multimedia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3343275"/>
            <a:ext cx="2771705" cy="1952623"/>
          </a:xfrm>
          <a:prstGeom prst="roundRect">
            <a:avLst>
              <a:gd name="adj" fmla="val 13445"/>
            </a:avLst>
          </a:prstGeom>
          <a:gradFill rotWithShape="1">
            <a:gsLst>
              <a:gs pos="0">
                <a:srgbClr val="9333EA">
                  <a:alpha val="8000"/>
                </a:srgbClr>
              </a:gs>
              <a:gs pos="100000">
                <a:srgbClr val="9333EA">
                  <a:alpha val="2000"/>
                </a:srgbClr>
              </a:gs>
            </a:gsLst>
            <a:lin ang="8100000" scaled="0"/>
          </a:gradFill>
          <a:ln w="825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6753" y="35433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9333E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0099" y="3696942"/>
            <a:ext cx="266693" cy="22611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52536" y="3581400"/>
            <a:ext cx="1685882" cy="685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Web-Based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2536" y="4343400"/>
            <a:ext cx="1685882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Web pages with executable instructions (CGI, HTML, Java)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28934" y="3343275"/>
            <a:ext cx="2771705" cy="1952623"/>
          </a:xfrm>
          <a:prstGeom prst="roundRect">
            <a:avLst>
              <a:gd name="adj" fmla="val 13445"/>
            </a:avLst>
          </a:prstGeom>
          <a:gradFill rotWithShape="1">
            <a:gsLst>
              <a:gs pos="0">
                <a:srgbClr val="EC4899">
                  <a:alpha val="8000"/>
                </a:srgbClr>
              </a:gs>
              <a:gs pos="100000">
                <a:srgbClr val="EC4899">
                  <a:alpha val="2000"/>
                </a:srgbClr>
              </a:gs>
            </a:gsLst>
            <a:lin ang="8100000" scaled="0"/>
          </a:gradFill>
          <a:ln w="825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828954" y="3543300"/>
            <a:ext cx="533386" cy="533399"/>
          </a:xfrm>
          <a:prstGeom prst="roundRect">
            <a:avLst>
              <a:gd name="adj" fmla="val 42857"/>
            </a:avLst>
          </a:prstGeom>
          <a:solidFill>
            <a:srgbClr val="EC4899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62300" y="3705639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14737" y="3581400"/>
            <a:ext cx="168588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8FAFC"/>
                </a:solidFill>
                <a:latin typeface="Inter"/>
              </a:rPr>
              <a:t>AI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4737" y="4000500"/>
            <a:ext cx="1685882" cy="10667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94A3B8"/>
                </a:solidFill>
                <a:latin typeface="Inter"/>
              </a:rPr>
              <a:t>Non-numerical algorithms for complex problem solving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" y="5586410"/>
            <a:ext cx="5733906" cy="1743075"/>
          </a:xfrm>
          <a:prstGeom prst="roundRect">
            <a:avLst>
              <a:gd name="adj" fmla="val 17486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06B6D4">
                  <a:alpha val="3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-138764" y="6644321"/>
            <a:ext cx="1743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6753" y="5734051"/>
            <a:ext cx="5314817" cy="1362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CBD5E1"/>
                </a:solidFill>
                <a:latin typeface="Inter"/>
              </a:rPr>
              <a:t> The personal computer software market has burgeoned over the past two decades with hundreds of applications across </a:t>
            </a:r>
            <a:r>
              <a:rPr sz="1315" b="1" dirty="0">
                <a:solidFill>
                  <a:srgbClr val="06B6D4"/>
                </a:solidFill>
                <a:latin typeface="Inter"/>
              </a:rPr>
              <a:t>entertainment, business, and networking</a:t>
            </a:r>
            <a:r>
              <a:rPr sz="1315" b="0" dirty="0">
                <a:solidFill>
                  <a:srgbClr val="CBD5E1"/>
                </a:solidFill>
                <a:latin typeface="Inter"/>
              </a:rPr>
              <a:t>.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67413" y="1657350"/>
            <a:ext cx="4324241" cy="514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48363" y="1638299"/>
            <a:ext cx="4362340" cy="5181599"/>
          </a:xfrm>
          <a:prstGeom prst="rect">
            <a:avLst/>
          </a:prstGeom>
          <a:gradFill rotWithShape="1">
            <a:gsLst>
              <a:gs pos="40000">
                <a:srgbClr val="000000">
                  <a:alpha val="0"/>
                </a:srgbClr>
              </a:gs>
              <a:gs pos="100000">
                <a:srgbClr val="0F172A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76958" y="6134100"/>
            <a:ext cx="971525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6B6D4"/>
                </a:solidFill>
                <a:latin typeface="Inter"/>
              </a:rPr>
              <a:t>TECHNOLOGY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76958" y="6324599"/>
            <a:ext cx="97152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FAFC"/>
                </a:solidFill>
                <a:latin typeface="Inter"/>
              </a:rPr>
              <a:t>AI Software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24921" y="61341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20169" y="6253990"/>
            <a:ext cx="266693" cy="2174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2819"/>
            <a:ext cx="304792" cy="234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114300"/>
            <a:ext cx="639111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8FAFC"/>
                </a:solidFill>
                <a:latin typeface="Space Grotesk"/>
              </a:rPr>
              <a:t>Definitions of Software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1352549"/>
            <a:ext cx="5733906" cy="1914525"/>
          </a:xfrm>
          <a:prstGeom prst="roundRect">
            <a:avLst>
              <a:gd name="adj" fmla="val 15920"/>
            </a:avLst>
          </a:prstGeom>
          <a:gradFill rotWithShape="1">
            <a:gsLst>
              <a:gs pos="0">
                <a:srgbClr val="06B6D4">
                  <a:alpha val="10000"/>
                </a:srgbClr>
              </a:gs>
              <a:gs pos="100000">
                <a:srgbClr val="06B6D4">
                  <a:alpha val="3000"/>
                </a:srgbClr>
              </a:gs>
            </a:gsLst>
            <a:lin ang="8100000" scaled="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6258" y="13525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14917" y="13525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6258" y="31813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14917" y="31813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2951" y="16192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7723" y="1695449"/>
            <a:ext cx="25716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6B6D4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0635" y="1619250"/>
            <a:ext cx="4533786" cy="1362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CBD5E1"/>
                </a:solidFill>
                <a:latin typeface="Inter"/>
              </a:rPr>
              <a:t> The </a:t>
            </a:r>
            <a:r>
              <a:rPr sz="1315" b="1">
                <a:solidFill>
                  <a:srgbClr val="06B6D4"/>
                </a:solidFill>
                <a:latin typeface="Inter"/>
              </a:rPr>
              <a:t>establishment and use of sound engineering principles</a:t>
            </a:r>
            <a:r>
              <a:rPr sz="1315" b="0">
                <a:solidFill>
                  <a:srgbClr val="CBD5E1"/>
                </a:solidFill>
                <a:latin typeface="Inter"/>
              </a:rPr>
              <a:t> in order to obtain economically software that is </a:t>
            </a:r>
            <a:r>
              <a:rPr sz="1315" b="1">
                <a:solidFill>
                  <a:srgbClr val="06B6D4"/>
                </a:solidFill>
                <a:latin typeface="Inter"/>
              </a:rPr>
              <a:t>reliable and works efficiently</a:t>
            </a:r>
            <a:r>
              <a:rPr sz="1315" b="0">
                <a:solidFill>
                  <a:srgbClr val="CBD5E1"/>
                </a:solidFill>
                <a:latin typeface="Inter"/>
              </a:rPr>
              <a:t> on real machines.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3524250"/>
            <a:ext cx="5733906" cy="1914525"/>
          </a:xfrm>
          <a:prstGeom prst="roundRect">
            <a:avLst>
              <a:gd name="adj" fmla="val 15920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3000"/>
                </a:srgbClr>
              </a:gs>
            </a:gsLst>
            <a:lin ang="8100000" scaled="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258" y="3543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14917" y="3543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6258" y="53530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14917" y="53530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42951" y="380999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149" y="3886200"/>
            <a:ext cx="29526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3B82F6"/>
                </a:solidFill>
                <a:latin typeface="Inte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0635" y="3809999"/>
            <a:ext cx="4533786" cy="13620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CBD5E1"/>
                </a:solidFill>
                <a:latin typeface="Inter"/>
              </a:rPr>
              <a:t> The </a:t>
            </a:r>
            <a:r>
              <a:rPr sz="1315" b="1">
                <a:solidFill>
                  <a:srgbClr val="3B82F6"/>
                </a:solidFill>
                <a:latin typeface="Inter"/>
              </a:rPr>
              <a:t>application of a systematic, disciplined, quantifiable approach</a:t>
            </a:r>
            <a:r>
              <a:rPr sz="1315" b="0">
                <a:solidFill>
                  <a:srgbClr val="CBD5E1"/>
                </a:solidFill>
                <a:latin typeface="Inter"/>
              </a:rPr>
              <a:t> to the </a:t>
            </a:r>
            <a:r>
              <a:rPr sz="1315" b="1">
                <a:solidFill>
                  <a:srgbClr val="3B82F6"/>
                </a:solidFill>
                <a:latin typeface="Inter"/>
              </a:rPr>
              <a:t>development, operation, and maintenance</a:t>
            </a:r>
            <a:r>
              <a:rPr sz="1315" b="0">
                <a:solidFill>
                  <a:srgbClr val="CBD5E1"/>
                </a:solidFill>
                <a:latin typeface="Inter"/>
              </a:rPr>
              <a:t> of software; that is, the application of engineering to software.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8483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6" y="5935877"/>
            <a:ext cx="209544" cy="1868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62020" y="5886450"/>
            <a:ext cx="1009624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Systematic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76438" y="58483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2160" y="5969858"/>
            <a:ext cx="209544" cy="11893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971725" y="5886450"/>
            <a:ext cx="110487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Quantifiable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1390" y="5848350"/>
            <a:ext cx="304792" cy="380999"/>
          </a:xfrm>
          <a:prstGeom prst="roundRect">
            <a:avLst>
              <a:gd name="adj" fmla="val 50000"/>
            </a:avLst>
          </a:prstGeom>
          <a:solidFill>
            <a:srgbClr val="9333E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29014" y="5947204"/>
            <a:ext cx="209544" cy="16424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90955" y="5753099"/>
            <a:ext cx="160968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Engineering Principles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7413" y="1257300"/>
            <a:ext cx="4324241" cy="51435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48363" y="1238249"/>
            <a:ext cx="4362340" cy="5181599"/>
          </a:xfrm>
          <a:prstGeom prst="rect">
            <a:avLst/>
          </a:prstGeom>
          <a:gradFill rotWithShape="1">
            <a:gsLst>
              <a:gs pos="50000">
                <a:srgbClr val="000000">
                  <a:alpha val="0"/>
                </a:srgbClr>
              </a:gs>
              <a:gs pos="100000">
                <a:srgbClr val="0F172A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76958" y="5734050"/>
            <a:ext cx="1809704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6B6D4"/>
                </a:solidFill>
                <a:latin typeface="Inter"/>
              </a:rPr>
              <a:t>IN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958" y="5924549"/>
            <a:ext cx="180970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FAFC"/>
                </a:solidFill>
                <a:latin typeface="Inter"/>
              </a:rPr>
              <a:t>Software Engineering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24921" y="573405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20169" y="5890177"/>
            <a:ext cx="266693" cy="144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810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161192"/>
            <a:ext cx="304792" cy="2491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0"/>
            <a:ext cx="5152896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8FAFC"/>
                </a:solidFill>
                <a:latin typeface="Space Grotesk"/>
              </a:rPr>
              <a:t>Software Engineering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885825"/>
            <a:ext cx="5733906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2080"/>
              </a:spcAft>
            </a:pPr>
            <a:r>
              <a:rPr sz="1196" b="0">
                <a:solidFill>
                  <a:srgbClr val="CBD5E1"/>
                </a:solidFill>
                <a:latin typeface="Inter"/>
              </a:rPr>
              <a:t> Software engineering is a </a:t>
            </a:r>
            <a:r>
              <a:rPr sz="1196" b="1">
                <a:solidFill>
                  <a:srgbClr val="06B6D4"/>
                </a:solidFill>
                <a:latin typeface="Inter"/>
              </a:rPr>
              <a:t>layered technology</a:t>
            </a:r>
            <a:r>
              <a:rPr sz="1196" b="0">
                <a:solidFill>
                  <a:srgbClr val="CBD5E1"/>
                </a:solidFill>
                <a:latin typeface="Inter"/>
              </a:rPr>
              <a:t> with three essential components: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510411"/>
            <a:ext cx="5733906" cy="1445936"/>
          </a:xfrm>
          <a:prstGeom prst="roundRect">
            <a:avLst>
              <a:gd name="adj" fmla="val 14883"/>
            </a:avLst>
          </a:prstGeom>
          <a:gradFill rotWithShape="1">
            <a:gsLst>
              <a:gs pos="0">
                <a:srgbClr val="06B6D4">
                  <a:alpha val="12000"/>
                </a:srgbClr>
              </a:gs>
              <a:gs pos="100000">
                <a:srgbClr val="06B6D4">
                  <a:alpha val="4000"/>
                </a:srgbClr>
              </a:gs>
            </a:gsLst>
            <a:lin ang="8100000" scaled="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852" y="2000250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>
                  <a:alpha val="25000"/>
                </a:srgbClr>
              </a:gs>
              <a:gs pos="100000">
                <a:srgbClr val="06B6D4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2187819"/>
            <a:ext cx="304792" cy="2344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55747" y="1486831"/>
            <a:ext cx="445758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8FAFC"/>
                </a:solidFill>
                <a:latin typeface="Inter"/>
              </a:rPr>
              <a:t>Process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747" y="1842506"/>
            <a:ext cx="4457588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94A3B8"/>
                </a:solidFill>
                <a:latin typeface="Inter"/>
              </a:rPr>
              <a:t> The </a:t>
            </a:r>
            <a:r>
              <a:rPr sz="1315" b="1" dirty="0">
                <a:solidFill>
                  <a:srgbClr val="06B6D4"/>
                </a:solidFill>
                <a:latin typeface="Inter"/>
              </a:rPr>
              <a:t>foundation</a:t>
            </a:r>
            <a:r>
              <a:rPr sz="1315" b="0" dirty="0">
                <a:solidFill>
                  <a:srgbClr val="94A3B8"/>
                </a:solidFill>
                <a:latin typeface="Inter"/>
              </a:rPr>
              <a:t> — the glue that holds technology layers together and enables rational and timely development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758" y="3090011"/>
            <a:ext cx="5733906" cy="1819307"/>
          </a:xfrm>
          <a:prstGeom prst="roundRect">
            <a:avLst>
              <a:gd name="adj" fmla="val 14883"/>
            </a:avLst>
          </a:prstGeom>
          <a:gradFill rotWithShape="1">
            <a:gsLst>
              <a:gs pos="0">
                <a:srgbClr val="3B82F6">
                  <a:alpha val="12000"/>
                </a:srgbClr>
              </a:gs>
              <a:gs pos="100000">
                <a:srgbClr val="3B82F6">
                  <a:alpha val="4000"/>
                </a:srgbClr>
              </a:gs>
            </a:gsLst>
            <a:lin ang="8100000" scaled="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3877" y="3618681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82F6">
                  <a:alpha val="25000"/>
                </a:srgbClr>
              </a:gs>
              <a:gs pos="100000">
                <a:srgbClr val="3B82F6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6273" y="3801855"/>
            <a:ext cx="304792" cy="2432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4772" y="3085283"/>
            <a:ext cx="445758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 dirty="0">
                <a:solidFill>
                  <a:srgbClr val="F8FAFC"/>
                </a:solidFill>
                <a:latin typeface="Inter"/>
              </a:rPr>
              <a:t>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5227" y="3383842"/>
            <a:ext cx="4457588" cy="185127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94A3B8"/>
                </a:solidFill>
                <a:latin typeface="Inter"/>
              </a:rPr>
              <a:t> Provide </a:t>
            </a:r>
            <a:r>
              <a:rPr sz="1315" b="1" dirty="0">
                <a:solidFill>
                  <a:srgbClr val="3B82F6"/>
                </a:solidFill>
                <a:latin typeface="Inter"/>
              </a:rPr>
              <a:t>technical how-</a:t>
            </a:r>
            <a:r>
              <a:rPr sz="1315" b="1" dirty="0" err="1">
                <a:solidFill>
                  <a:srgbClr val="3B82F6"/>
                </a:solidFill>
                <a:latin typeface="Inter"/>
              </a:rPr>
              <a:t>to's</a:t>
            </a:r>
            <a:r>
              <a:rPr sz="1315" b="0" dirty="0">
                <a:solidFill>
                  <a:srgbClr val="94A3B8"/>
                </a:solidFill>
                <a:latin typeface="Inter"/>
              </a:rPr>
              <a:t> — requirements analysis, design, construction, testing, and support </a:t>
            </a:r>
            <a:r>
              <a:rPr lang="en-US" sz="1315" b="0" dirty="0">
                <a:solidFill>
                  <a:srgbClr val="94A3B8"/>
                </a:solidFill>
                <a:latin typeface="Inter"/>
              </a:rPr>
              <a:t>Software engineering methods rely on a set of basic principles that govern each area of the technology and include modelling activities and other descriptive techniques.</a:t>
            </a:r>
          </a:p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endParaRPr sz="1315" b="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6732" y="5060807"/>
            <a:ext cx="6267467" cy="1636001"/>
          </a:xfrm>
          <a:prstGeom prst="roundRect">
            <a:avLst>
              <a:gd name="adj" fmla="val 14883"/>
            </a:avLst>
          </a:prstGeom>
          <a:gradFill rotWithShape="1">
            <a:gsLst>
              <a:gs pos="0">
                <a:srgbClr val="9333EA">
                  <a:alpha val="12000"/>
                </a:srgbClr>
              </a:gs>
              <a:gs pos="100000">
                <a:srgbClr val="9333EA">
                  <a:alpha val="4000"/>
                </a:srgbClr>
              </a:gs>
            </a:gsLst>
            <a:lin ang="8100000" scaled="0"/>
          </a:gradFill>
          <a:ln w="825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7593" y="5327568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333EA">
                  <a:alpha val="25000"/>
                </a:srgbClr>
              </a:gs>
              <a:gs pos="100000">
                <a:srgbClr val="9333EA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2500" y="5475756"/>
            <a:ext cx="304792" cy="2901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36722" y="4986557"/>
            <a:ext cx="445758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 dirty="0">
                <a:solidFill>
                  <a:srgbClr val="F8FAFC"/>
                </a:solidFill>
                <a:latin typeface="Inter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57" y="5436675"/>
            <a:ext cx="5606049" cy="155632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94A3B8"/>
                </a:solidFill>
                <a:latin typeface="Inter"/>
              </a:rPr>
              <a:t> Provide </a:t>
            </a:r>
            <a:r>
              <a:rPr sz="1315" b="1" dirty="0">
                <a:solidFill>
                  <a:srgbClr val="A78BFA"/>
                </a:solidFill>
                <a:latin typeface="Inter"/>
              </a:rPr>
              <a:t>automated support</a:t>
            </a:r>
            <a:r>
              <a:rPr sz="1315" b="0" dirty="0">
                <a:solidFill>
                  <a:srgbClr val="94A3B8"/>
                </a:solidFill>
                <a:latin typeface="Inter"/>
              </a:rPr>
              <a:t> — integrated tools form computer-aided software engineering </a:t>
            </a:r>
            <a:r>
              <a:rPr lang="en-US" sz="1315" b="0" dirty="0">
                <a:solidFill>
                  <a:srgbClr val="94A3B8"/>
                </a:solidFill>
                <a:latin typeface="Inter"/>
              </a:rPr>
              <a:t>When tools are integrated so that information created by one tool can be used by another, a system for the support of software development, called computer-aided software engineering, is established.</a:t>
            </a:r>
          </a:p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endParaRPr sz="1315" b="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71108" y="742949"/>
            <a:ext cx="4324241" cy="514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71108" y="6018668"/>
            <a:ext cx="1609684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 dirty="0">
                <a:solidFill>
                  <a:srgbClr val="06B6D4"/>
                </a:solidFill>
                <a:latin typeface="Inter"/>
              </a:rP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9260" y="5928327"/>
            <a:ext cx="16096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 dirty="0">
                <a:solidFill>
                  <a:srgbClr val="F8FAFC"/>
                </a:solidFill>
                <a:latin typeface="Inter"/>
              </a:rPr>
              <a:t>Engineering Layers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24921" y="6496049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220169" y="6611592"/>
            <a:ext cx="266693" cy="226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34F79-99B6-FAE9-4881-E3A11ADD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E321F4-123F-41EB-F9D7-5D383C198542}"/>
              </a:ext>
            </a:extLst>
          </p:cNvPr>
          <p:cNvSpPr/>
          <p:nvPr/>
        </p:nvSpPr>
        <p:spPr>
          <a:xfrm>
            <a:off x="0" y="0"/>
            <a:ext cx="12191695" cy="8096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The software process</a:t>
            </a:r>
            <a:endParaRPr sz="2800" dirty="0"/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694A2DA0-4F7D-56C7-E562-3F1AE022D3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282819"/>
            <a:ext cx="304792" cy="23446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D8B659C-09DB-05C6-1C8A-197201D70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77" y="1267780"/>
            <a:ext cx="7998645" cy="4322439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BDD7121-DC31-ED3E-9375-A25ABEF7A3EE}"/>
              </a:ext>
            </a:extLst>
          </p:cNvPr>
          <p:cNvSpPr txBox="1"/>
          <p:nvPr/>
        </p:nvSpPr>
        <p:spPr>
          <a:xfrm>
            <a:off x="1235869" y="5810935"/>
            <a:ext cx="95940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common process framework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 established by defining a small number of 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framework activities</a:t>
            </a:r>
            <a:r>
              <a:rPr lang="en-GB" sz="24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905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/>
            </a:gs>
            <a:gs pos="100000">
              <a:srgbClr val="1E293B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81025"/>
          </a:xfrm>
          <a:prstGeom prst="rect">
            <a:avLst/>
          </a:prstGeom>
          <a:solidFill>
            <a:srgbClr val="06B6D4">
              <a:alpha val="5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168519"/>
            <a:ext cx="304792" cy="234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21" y="0"/>
            <a:ext cx="390515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8FAFC"/>
                </a:solidFill>
                <a:latin typeface="Space Grotesk"/>
              </a:rPr>
              <a:t>The Software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885825"/>
            <a:ext cx="5733906" cy="171450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06B6D4">
                  <a:alpha val="12000"/>
                </a:srgbClr>
              </a:gs>
              <a:gs pos="100000">
                <a:srgbClr val="06B6D4">
                  <a:alpha val="4000"/>
                </a:srgbClr>
              </a:gs>
            </a:gsLst>
            <a:lin ang="8100000" scaled="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52" y="1123949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6B6D4">
                  <a:alpha val="25000"/>
                </a:srgbClr>
              </a:gs>
              <a:gs pos="100000">
                <a:srgbClr val="06B6D4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48" y="1334965"/>
            <a:ext cx="304792" cy="187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04932" y="1200150"/>
            <a:ext cx="445758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8FAFC"/>
                </a:solidFill>
                <a:latin typeface="Inter"/>
              </a:rPr>
              <a:t>Framework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4932" y="1676400"/>
            <a:ext cx="4457588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4A3B8"/>
                </a:solidFill>
                <a:latin typeface="Inter"/>
              </a:rPr>
              <a:t> Applicable to </a:t>
            </a:r>
            <a:r>
              <a:rPr sz="1315" b="1">
                <a:solidFill>
                  <a:srgbClr val="06B6D4"/>
                </a:solidFill>
                <a:latin typeface="Inter"/>
              </a:rPr>
              <a:t>all software projects</a:t>
            </a:r>
            <a:r>
              <a:rPr sz="1315" b="0">
                <a:solidFill>
                  <a:srgbClr val="94A3B8"/>
                </a:solidFill>
                <a:latin typeface="Inter"/>
              </a:rPr>
              <a:t> regardless of size or complexity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2781300"/>
            <a:ext cx="5733906" cy="2047874"/>
          </a:xfrm>
          <a:prstGeom prst="roundRect">
            <a:avLst>
              <a:gd name="adj" fmla="val 14883"/>
            </a:avLst>
          </a:prstGeom>
          <a:gradFill rotWithShape="1">
            <a:gsLst>
              <a:gs pos="0">
                <a:srgbClr val="3B82F6">
                  <a:alpha val="12000"/>
                </a:srgbClr>
              </a:gs>
              <a:gs pos="100000">
                <a:srgbClr val="3B82F6">
                  <a:alpha val="4000"/>
                </a:srgbClr>
              </a:gs>
            </a:gsLst>
            <a:lin ang="8100000" scaled="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4852" y="3028950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B82F6">
                  <a:alpha val="25000"/>
                </a:srgbClr>
              </a:gs>
              <a:gs pos="100000">
                <a:srgbClr val="3B82F6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7248" y="3232638"/>
            <a:ext cx="304792" cy="2022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04932" y="3105149"/>
            <a:ext cx="445758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>
                <a:solidFill>
                  <a:srgbClr val="F8FAFC"/>
                </a:solidFill>
                <a:latin typeface="Inter"/>
              </a:rPr>
              <a:t>Task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4932" y="3581400"/>
            <a:ext cx="4457588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94A3B8"/>
                </a:solidFill>
                <a:latin typeface="Inter"/>
              </a:rPr>
              <a:t> Enable </a:t>
            </a:r>
            <a:r>
              <a:rPr sz="1315" b="1">
                <a:solidFill>
                  <a:srgbClr val="3B82F6"/>
                </a:solidFill>
                <a:latin typeface="Inter"/>
              </a:rPr>
              <a:t>adaptation</a:t>
            </a:r>
            <a:r>
              <a:rPr sz="1315" b="0">
                <a:solidFill>
                  <a:srgbClr val="94A3B8"/>
                </a:solidFill>
                <a:latin typeface="Inter"/>
              </a:rPr>
              <a:t> to project characteristics through work tasks, milestones, and quality assurance points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208" y="4953414"/>
            <a:ext cx="5733906" cy="1380709"/>
          </a:xfrm>
          <a:prstGeom prst="roundRect">
            <a:avLst>
              <a:gd name="adj" fmla="val 14883"/>
            </a:avLst>
          </a:prstGeom>
          <a:gradFill rotWithShape="1">
            <a:gsLst>
              <a:gs pos="0">
                <a:srgbClr val="9333EA">
                  <a:alpha val="12000"/>
                </a:srgbClr>
              </a:gs>
              <a:gs pos="100000">
                <a:srgbClr val="9333EA">
                  <a:alpha val="4000"/>
                </a:srgbClr>
              </a:gs>
            </a:gsLst>
            <a:lin ang="8100000" scaled="0"/>
          </a:gradFill>
          <a:ln w="825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4852" y="5267324"/>
            <a:ext cx="609584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333EA">
                  <a:alpha val="25000"/>
                </a:srgbClr>
              </a:gs>
              <a:gs pos="100000">
                <a:srgbClr val="9333EA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248" y="5435844"/>
            <a:ext cx="304792" cy="2725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52545" y="5114924"/>
            <a:ext cx="4457588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sz="1674" b="1" dirty="0">
                <a:solidFill>
                  <a:srgbClr val="F8FAFC"/>
                </a:solidFill>
                <a:latin typeface="Inter"/>
              </a:rPr>
              <a:t>Umbrella Activities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8734" y="5372721"/>
            <a:ext cx="4457588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94A3B8"/>
                </a:solidFill>
                <a:latin typeface="Inter"/>
              </a:rPr>
              <a:t> </a:t>
            </a:r>
            <a:r>
              <a:rPr sz="1315" b="1" dirty="0">
                <a:solidFill>
                  <a:srgbClr val="A78BFA"/>
                </a:solidFill>
                <a:latin typeface="Inter"/>
              </a:rPr>
              <a:t>Overlay</a:t>
            </a:r>
            <a:r>
              <a:rPr sz="1315" b="0" dirty="0">
                <a:solidFill>
                  <a:srgbClr val="94A3B8"/>
                </a:solidFill>
                <a:latin typeface="Inter"/>
              </a:rPr>
              <a:t> the process model — quality assurance, configuration management, and measurement occur throughout the process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7208" y="6306378"/>
            <a:ext cx="314317" cy="380999"/>
          </a:xfrm>
          <a:prstGeom prst="roundRect">
            <a:avLst>
              <a:gd name="adj" fmla="val 48484"/>
            </a:avLst>
          </a:prstGeom>
          <a:solidFill>
            <a:srgbClr val="06B6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32" y="6403430"/>
            <a:ext cx="209544" cy="1868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5822" y="6211128"/>
            <a:ext cx="1362040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CBD5E1"/>
                </a:solidFill>
                <a:latin typeface="Inter"/>
              </a:rPr>
              <a:t>Quality Assurance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76457" y="6306378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62180" y="6406261"/>
            <a:ext cx="209544" cy="1812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171745" y="6354002"/>
            <a:ext cx="124774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CBD5E1"/>
                </a:solidFill>
                <a:latin typeface="Inter"/>
              </a:rPr>
              <a:t>Configuration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48083" y="6306378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9333E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33806" y="6414757"/>
            <a:ext cx="209544" cy="16424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43371" y="6354002"/>
            <a:ext cx="125726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CBD5E1"/>
                </a:solidFill>
                <a:latin typeface="Inter"/>
              </a:rPr>
              <a:t>Measurement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67413" y="1039052"/>
            <a:ext cx="4324241" cy="51435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76958" y="6286500"/>
            <a:ext cx="1552536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06B6D4"/>
                </a:solidFill>
                <a:latin typeface="Inter"/>
              </a:rPr>
              <a:t>PROCESS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958" y="6477000"/>
            <a:ext cx="155253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FAFC"/>
                </a:solidFill>
                <a:latin typeface="Inter"/>
              </a:rPr>
              <a:t>Software Lifecycle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24921" y="62865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220169" y="6390446"/>
            <a:ext cx="266693" cy="2493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554</Words>
  <Application>Microsoft Office PowerPoint</Application>
  <PresentationFormat>Widescreen</PresentationFormat>
  <Paragraphs>93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Inter</vt:lpstr>
      <vt:lpstr>Space Grotesk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Rami Bahaa</cp:lastModifiedBy>
  <cp:revision>4</cp:revision>
  <dcterms:created xsi:type="dcterms:W3CDTF">2013-01-27T09:14:16Z</dcterms:created>
  <dcterms:modified xsi:type="dcterms:W3CDTF">2026-02-14T11:24:28Z</dcterms:modified>
  <cp:category/>
</cp:coreProperties>
</file>