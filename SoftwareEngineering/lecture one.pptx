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9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18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49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235">
                  <a:alpha val="95000"/>
                </a:srgbClr>
              </a:gs>
              <a:gs pos="50000">
                <a:srgbClr val="162235">
                  <a:alpha val="90000"/>
                </a:srgbClr>
              </a:gs>
              <a:gs pos="100000">
                <a:srgbClr val="1A3A52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439139" y="736738"/>
            <a:ext cx="1142971" cy="58392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609584" y="5430239"/>
            <a:ext cx="952476" cy="5504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2480" y="1736870"/>
            <a:ext cx="666733" cy="5077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76438" y="2695575"/>
            <a:ext cx="7238819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15"/>
              </a:lnSpc>
              <a:spcBef>
                <a:spcPts val="0"/>
              </a:spcBef>
              <a:spcAft>
                <a:spcPts val="1560"/>
              </a:spcAft>
            </a:pPr>
            <a:r>
              <a:rPr sz="3887" b="1">
                <a:solidFill>
                  <a:srgbClr val="FFFFFF"/>
                </a:solidFill>
                <a:latin typeface="Source Code Pro"/>
              </a:rPr>
              <a:t>Software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2836" y="3695699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7DCF2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0599" y="3635188"/>
            <a:ext cx="190495" cy="14007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19689" y="3695699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7DCF2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76438" y="4105274"/>
            <a:ext cx="723881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FFFFFF"/>
                </a:solidFill>
                <a:latin typeface="Roboto Flex"/>
              </a:rPr>
              <a:t>Lecture One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6658" y="49787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48953" y="4909628"/>
            <a:ext cx="455510" cy="3153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b="0" dirty="0">
                <a:solidFill>
                  <a:srgbClr val="FFFFFF"/>
                </a:solidFill>
                <a:latin typeface="Roboto Flex"/>
              </a:rPr>
              <a:t>2026</a:t>
            </a:r>
            <a:endParaRPr sz="1076" b="0" dirty="0">
              <a:solidFill>
                <a:srgbClr val="FFFFFF"/>
              </a:solidFill>
              <a:latin typeface="Roboto Flex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7233" y="5048250"/>
            <a:ext cx="38099" cy="38100"/>
          </a:xfrm>
          <a:prstGeom prst="roundRect">
            <a:avLst>
              <a:gd name="adj" fmla="val 4999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0124" y="4970144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7956" y="4909628"/>
            <a:ext cx="954044" cy="3153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b="0" dirty="0">
                <a:solidFill>
                  <a:srgbClr val="FFFFFF"/>
                </a:solidFill>
                <a:latin typeface="Roboto Flex"/>
              </a:rPr>
              <a:t>Najwan abed</a:t>
            </a:r>
            <a:endParaRPr sz="1076" b="0" dirty="0">
              <a:solidFill>
                <a:srgbClr val="FFFFFF"/>
              </a:solidFill>
              <a:latin typeface="Roboto Flex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CE6DF-1113-55D7-FBB3-7A807521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FF9255-3C53-CC63-F7FA-0D818E68F10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F7A0E4-0DEE-CF7D-32C5-77A1EA1B291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235">
                  <a:alpha val="95000"/>
                </a:srgbClr>
              </a:gs>
              <a:gs pos="50000">
                <a:srgbClr val="162235">
                  <a:alpha val="90000"/>
                </a:srgbClr>
              </a:gs>
              <a:gs pos="100000">
                <a:srgbClr val="1A3A52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7C120A4B-8CC2-0A92-05B1-D7FD96AC99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439139" y="736738"/>
            <a:ext cx="1142971" cy="583923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30C6BA3F-FFC6-034F-7360-AD82A6B4B46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609584" y="5430239"/>
            <a:ext cx="952476" cy="550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299AD3-6D0B-3B3F-9C7A-B7CC0F0E2CBA}"/>
              </a:ext>
            </a:extLst>
          </p:cNvPr>
          <p:cNvSpPr txBox="1"/>
          <p:nvPr/>
        </p:nvSpPr>
        <p:spPr>
          <a:xfrm>
            <a:off x="1314164" y="224370"/>
            <a:ext cx="4610493" cy="6200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15"/>
              </a:lnSpc>
              <a:spcBef>
                <a:spcPts val="0"/>
              </a:spcBef>
              <a:spcAft>
                <a:spcPts val="1560"/>
              </a:spcAft>
            </a:pPr>
            <a:r>
              <a:rPr sz="2000" b="1" dirty="0">
                <a:solidFill>
                  <a:srgbClr val="FFFFFF"/>
                </a:solidFill>
                <a:latin typeface="Source Code Pro"/>
              </a:rPr>
              <a:t>Software Engineering</a:t>
            </a:r>
            <a:r>
              <a:rPr lang="en-US" sz="2000" b="1" dirty="0">
                <a:solidFill>
                  <a:srgbClr val="FFFFFF"/>
                </a:solidFill>
                <a:latin typeface="Source Code Pro"/>
              </a:rPr>
              <a:t> syllabus</a:t>
            </a:r>
            <a:endParaRPr sz="2000" b="1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A30C8-46B4-5F98-5340-1F7518D4CDA6}"/>
              </a:ext>
            </a:extLst>
          </p:cNvPr>
          <p:cNvSpPr txBox="1"/>
          <p:nvPr/>
        </p:nvSpPr>
        <p:spPr>
          <a:xfrm>
            <a:off x="1494940" y="950337"/>
            <a:ext cx="4509933" cy="50263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‘software Crisis’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What is software 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Software Characteristics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Software Applications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Definitions of software engineering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Software engineering layers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software process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Software process models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linear sequential model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prototyping model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rad model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Evolutionary software process models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management spectrum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Testing</a:t>
            </a:r>
          </a:p>
          <a:p>
            <a:pPr>
              <a:buFont typeface="Wingdings" pitchFamily="2" charset="2"/>
              <a:buChar char="§"/>
            </a:pPr>
            <a:r>
              <a:rPr lang="en-GB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Control graph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endParaRPr sz="2000" b="0" dirty="0">
              <a:solidFill>
                <a:schemeClr val="bg1"/>
              </a:solidFill>
              <a:latin typeface="Roboto Flex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33C5C83-DD7B-CCBF-0538-99494FA83F44}"/>
              </a:ext>
            </a:extLst>
          </p:cNvPr>
          <p:cNvSpPr/>
          <p:nvPr/>
        </p:nvSpPr>
        <p:spPr>
          <a:xfrm>
            <a:off x="5667233" y="5048250"/>
            <a:ext cx="38099" cy="38100"/>
          </a:xfrm>
          <a:prstGeom prst="roundRect">
            <a:avLst>
              <a:gd name="adj" fmla="val 49995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8965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61980" y="1359568"/>
            <a:ext cx="457188" cy="36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33466" y="1533525"/>
            <a:ext cx="761980" cy="19050"/>
          </a:xfrm>
          <a:prstGeom prst="rect">
            <a:avLst/>
          </a:prstGeom>
          <a:gradFill rotWithShape="1">
            <a:gsLst>
              <a:gs pos="0">
                <a:srgbClr val="37DCF2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1980" y="2000250"/>
            <a:ext cx="6095847" cy="1343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2080"/>
              </a:spcAft>
            </a:pPr>
            <a:r>
              <a:rPr sz="3827" b="1">
                <a:solidFill>
                  <a:srgbClr val="FFFFFF"/>
                </a:solidFill>
                <a:latin typeface="Source Code Pro"/>
              </a:rPr>
              <a:t> The Software</a:t>
            </a:r>
            <a:r>
              <a:rPr sz="1104"/>
              <a:t>
</a:t>
            </a:r>
            <a:r>
              <a:rPr sz="3827" b="1">
                <a:solidFill>
                  <a:srgbClr val="FFFFFF"/>
                </a:solidFill>
                <a:latin typeface="Source Code Pro"/>
              </a:rPr>
              <a:t>Crisis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3648074"/>
            <a:ext cx="6095847" cy="8667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FFFFF"/>
                </a:solidFill>
                <a:latin typeface="Roboto Flex"/>
              </a:rPr>
              <a:t> Software lags far behind</a:t>
            </a:r>
            <a:r>
              <a:rPr sz="1104"/>
              <a:t>
</a:t>
            </a:r>
            <a:r>
              <a:rPr sz="1674" b="0">
                <a:solidFill>
                  <a:srgbClr val="FFFFFF"/>
                </a:solidFill>
                <a:latin typeface="Roboto Flex"/>
              </a:rPr>
              <a:t>the hardware's potential! 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80" y="5029200"/>
            <a:ext cx="28574" cy="4572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7DCF2"/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2951" y="4972050"/>
            <a:ext cx="5914877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Many large projects fail in that they're late, over budget, don't work well, or are abandoned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8643" y="771614"/>
            <a:ext cx="1333466" cy="100947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10020049" y="5191248"/>
            <a:ext cx="952476" cy="7236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017" y="828675"/>
            <a:ext cx="4876678" cy="5200650"/>
          </a:xfrm>
          <a:prstGeom prst="roundRect">
            <a:avLst>
              <a:gd name="adj" fmla="val 3125"/>
            </a:avLst>
          </a:prstGeom>
          <a:solidFill>
            <a:srgbClr val="37DCF2">
              <a:alpha val="8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29334" y="1143000"/>
            <a:ext cx="4248043" cy="45720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480047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How Crisis Manifested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638299"/>
            <a:ext cx="5257668" cy="1162050"/>
          </a:xfrm>
          <a:prstGeom prst="roundRect">
            <a:avLst>
              <a:gd name="adj" fmla="val 1311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78089" y="2169794"/>
            <a:ext cx="11620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6753" y="1911681"/>
            <a:ext cx="400039" cy="3104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7288" y="1866899"/>
            <a:ext cx="41813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Over-budget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7288" y="2286000"/>
            <a:ext cx="418137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Projects running over-budget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1" y="1638299"/>
            <a:ext cx="5257668" cy="1162050"/>
          </a:xfrm>
          <a:prstGeom prst="roundRect">
            <a:avLst>
              <a:gd name="adj" fmla="val 1311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5792946" y="2169794"/>
            <a:ext cx="11620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610" y="1896754"/>
            <a:ext cx="400039" cy="3403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2145" y="1866899"/>
            <a:ext cx="41813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Over-time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2145" y="2286000"/>
            <a:ext cx="418137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Projects running over-time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105149"/>
            <a:ext cx="5257668" cy="1162050"/>
          </a:xfrm>
          <a:prstGeom prst="roundRect">
            <a:avLst>
              <a:gd name="adj" fmla="val 1311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78089" y="3636644"/>
            <a:ext cx="11620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53" y="3394951"/>
            <a:ext cx="400039" cy="27764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57288" y="3333749"/>
            <a:ext cx="41813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Inefficient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7288" y="3752849"/>
            <a:ext cx="418137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Software was very inefficient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1" y="3105149"/>
            <a:ext cx="5257668" cy="1162050"/>
          </a:xfrm>
          <a:prstGeom prst="roundRect">
            <a:avLst>
              <a:gd name="adj" fmla="val 13114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792946" y="3636644"/>
            <a:ext cx="11620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1610" y="3378531"/>
            <a:ext cx="400039" cy="31048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72145" y="3333749"/>
            <a:ext cx="41813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Low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2145" y="3752849"/>
            <a:ext cx="418137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Software was of low quality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572000"/>
            <a:ext cx="5257668" cy="1447800"/>
          </a:xfrm>
          <a:prstGeom prst="roundRect">
            <a:avLst>
              <a:gd name="adj" fmla="val 1052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64786" y="5246370"/>
            <a:ext cx="14478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753" y="4837918"/>
            <a:ext cx="400039" cy="32541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57288" y="4800600"/>
            <a:ext cx="41813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Unmet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7288" y="5219700"/>
            <a:ext cx="418137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Software often did not meet requirements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4441" y="4572000"/>
            <a:ext cx="5257668" cy="1447800"/>
          </a:xfrm>
          <a:prstGeom prst="roundRect">
            <a:avLst>
              <a:gd name="adj" fmla="val 1052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650071" y="5246370"/>
            <a:ext cx="14478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81610" y="4822990"/>
            <a:ext cx="400039" cy="3552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72145" y="4800600"/>
            <a:ext cx="41813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Unmanageable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2145" y="5219700"/>
            <a:ext cx="4181370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Projects were unmanageable and code difficult to maintain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29634" y="5681353"/>
            <a:ext cx="952476" cy="8102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0"/>
            <a:ext cx="548626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Famous Software Failures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62024"/>
            <a:ext cx="5333866" cy="2828925"/>
          </a:xfrm>
          <a:prstGeom prst="roundRect">
            <a:avLst>
              <a:gd name="adj" fmla="val 538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738838" y="2310446"/>
            <a:ext cx="2828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2476" y="1333828"/>
            <a:ext cx="342891" cy="266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763" y="1266824"/>
            <a:ext cx="140013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Therac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819275"/>
            <a:ext cx="4686182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52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Radiation therapy machine failure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2372285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19169" y="2305049"/>
            <a:ext cx="82865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6B6B"/>
                </a:solidFill>
                <a:latin typeface="Roboto Flex"/>
              </a:rPr>
              <a:t>Cost lives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4019549"/>
            <a:ext cx="5333866" cy="2828925"/>
          </a:xfrm>
          <a:prstGeom prst="roundRect">
            <a:avLst>
              <a:gd name="adj" fmla="val 538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738838" y="5367971"/>
            <a:ext cx="2828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4381007"/>
            <a:ext cx="342891" cy="2867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47763" y="4324349"/>
            <a:ext cx="140013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Arianne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4876800"/>
            <a:ext cx="4686182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52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Self-destructed 37 seconds after launch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476" y="5435413"/>
            <a:ext cx="190495" cy="1400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9169" y="5362575"/>
            <a:ext cx="164778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A500"/>
                </a:solidFill>
                <a:latin typeface="Roboto Flex"/>
              </a:rPr>
              <a:t>$370 million losses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243" y="962024"/>
            <a:ext cx="5333866" cy="1933574"/>
          </a:xfrm>
          <a:prstGeom prst="roundRect">
            <a:avLst>
              <a:gd name="adj" fmla="val 788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347496" y="1862771"/>
            <a:ext cx="19335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135" y="1320526"/>
            <a:ext cx="342891" cy="2926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86422" y="1266824"/>
            <a:ext cx="108582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Y2K 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1135" y="1819275"/>
            <a:ext cx="4686182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52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Millennium date rollover issue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1135" y="2366682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7828" y="2305049"/>
            <a:ext cx="138109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A500"/>
                </a:solidFill>
                <a:latin typeface="Roboto Flex"/>
              </a:rPr>
              <a:t>Expensive scare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243" y="3124200"/>
            <a:ext cx="5333866" cy="1933574"/>
          </a:xfrm>
          <a:prstGeom prst="roundRect">
            <a:avLst>
              <a:gd name="adj" fmla="val 788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347496" y="4024947"/>
            <a:ext cx="19335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91135" y="3496003"/>
            <a:ext cx="342891" cy="26604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86422" y="3429000"/>
            <a:ext cx="248596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Pentium FDIV 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1135" y="3981449"/>
            <a:ext cx="4686182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52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Floating point division error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91135" y="4534460"/>
            <a:ext cx="190495" cy="15127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7828" y="4467224"/>
            <a:ext cx="138109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A500"/>
                </a:solidFill>
                <a:latin typeface="Roboto Flex"/>
              </a:rPr>
              <a:t>Expensive scare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8243" y="5286375"/>
            <a:ext cx="5333866" cy="1562100"/>
          </a:xfrm>
          <a:prstGeom prst="roundRect">
            <a:avLst>
              <a:gd name="adj" fmla="val 9756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86362" y="5849948"/>
            <a:ext cx="266693" cy="3490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67353" y="5524499"/>
            <a:ext cx="4476638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London Ambulance Service (LAS) 1992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6362" y="6324599"/>
            <a:ext cx="485762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Thoroughly documented project failure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629634" y="5703000"/>
            <a:ext cx="952476" cy="766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662923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London Ambulance Service 1992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76350"/>
            <a:ext cx="4238519" cy="2438400"/>
          </a:xfrm>
          <a:prstGeom prst="roundRect">
            <a:avLst>
              <a:gd name="adj" fmla="val 625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57388" y="1663844"/>
            <a:ext cx="533386" cy="406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26" y="2286000"/>
            <a:ext cx="3590835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FFFFFF"/>
                </a:solidFill>
                <a:latin typeface="Source Code Pro"/>
              </a:rPr>
              <a:t>2,000-3,000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26" y="3047999"/>
            <a:ext cx="359083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</a:rPr>
              <a:t>Calls per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3943350"/>
            <a:ext cx="4238519" cy="1114425"/>
          </a:xfrm>
          <a:prstGeom prst="roundRect">
            <a:avLst>
              <a:gd name="adj" fmla="val 1367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101902" y="4451032"/>
            <a:ext cx="11144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53" y="4362778"/>
            <a:ext cx="342891" cy="2660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2040" y="4171950"/>
            <a:ext cx="187637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Source Code Pro"/>
              </a:rPr>
              <a:t>~66%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040" y="4533900"/>
            <a:ext cx="187637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Emergency (999)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5276850"/>
            <a:ext cx="4238519" cy="1114425"/>
          </a:xfrm>
          <a:prstGeom prst="roundRect">
            <a:avLst>
              <a:gd name="adj" fmla="val 1367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101902" y="5784532"/>
            <a:ext cx="11144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53" y="5747187"/>
            <a:ext cx="342891" cy="1832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62040" y="5505450"/>
            <a:ext cx="168588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Source Code Pro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040" y="5886450"/>
            <a:ext cx="168588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Staff (of 2,700 total)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9094" y="1276350"/>
            <a:ext cx="3086022" cy="1457325"/>
          </a:xfrm>
          <a:prstGeom prst="roundRect">
            <a:avLst>
              <a:gd name="adj" fmla="val 1045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549962" y="1955482"/>
            <a:ext cx="14573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6262" y="1528396"/>
            <a:ext cx="304792" cy="2579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05352" y="1504950"/>
            <a:ext cx="157158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Paper Tickets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262" y="1924049"/>
            <a:ext cx="2600259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Details written on paper tickets for each 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96087" y="1276350"/>
            <a:ext cx="3086022" cy="1457325"/>
          </a:xfrm>
          <a:prstGeom prst="roundRect">
            <a:avLst>
              <a:gd name="adj" fmla="val 1045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7816955" y="1955482"/>
            <a:ext cx="14573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53256" y="1540119"/>
            <a:ext cx="304792" cy="2344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72345" y="1504950"/>
            <a:ext cx="144776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Street Atlas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256" y="1924049"/>
            <a:ext cx="2600259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Map reference lookup in street atlas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29094" y="2914650"/>
            <a:ext cx="3086022" cy="1457325"/>
          </a:xfrm>
          <a:prstGeom prst="roundRect">
            <a:avLst>
              <a:gd name="adj" fmla="val 1045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4549962" y="3593782"/>
            <a:ext cx="14573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6262" y="3187944"/>
            <a:ext cx="304792" cy="23446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05352" y="3143250"/>
            <a:ext cx="157158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Conveyor Belt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262" y="3581400"/>
            <a:ext cx="260025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Tickets passed to central point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96087" y="2914650"/>
            <a:ext cx="3086022" cy="1457325"/>
          </a:xfrm>
          <a:prstGeom prst="roundRect">
            <a:avLst>
              <a:gd name="adj" fmla="val 1045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7816955" y="3593782"/>
            <a:ext cx="14573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753256" y="3157171"/>
            <a:ext cx="304792" cy="2960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72345" y="3143250"/>
            <a:ext cx="157158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Central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3256" y="3581400"/>
            <a:ext cx="2600259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Controller de-duplicates tickets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29094" y="4572000"/>
            <a:ext cx="6353016" cy="1314450"/>
          </a:xfrm>
          <a:prstGeom prst="roundRect">
            <a:avLst>
              <a:gd name="adj" fmla="val 11594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14837" y="5034098"/>
            <a:ext cx="419089" cy="37120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86322" y="4914900"/>
            <a:ext cx="278123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Average Response 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6322" y="5257800"/>
            <a:ext cx="278123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From call to dispatch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10564" y="4857750"/>
            <a:ext cx="885802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5070"/>
              </a:lnSpc>
              <a:spcBef>
                <a:spcPts val="0"/>
              </a:spcBef>
              <a:spcAft>
                <a:spcPts val="0"/>
              </a:spcAft>
            </a:pPr>
            <a:r>
              <a:rPr sz="3109" b="1">
                <a:solidFill>
                  <a:srgbClr val="37DCF2"/>
                </a:solidFill>
                <a:latin typeface="Source Code Pro"/>
              </a:rPr>
              <a:t>3</a:t>
            </a:r>
            <a:r>
              <a:rPr sz="1674" b="1">
                <a:solidFill>
                  <a:srgbClr val="37DCF2"/>
                </a:solidFill>
                <a:latin typeface="Source Code Pro"/>
              </a:rPr>
              <a:t> min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10625" y="5876306"/>
            <a:ext cx="952476" cy="6679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E8168-7470-3147-76EB-27392BF9C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9FD47B79-4962-BAB0-B60D-BBFF4EA98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631" y="1801376"/>
            <a:ext cx="8888738" cy="4895512"/>
          </a:xfrm>
          <a:prstGeom prst="rect">
            <a:avLst/>
          </a:prstGeom>
        </p:spPr>
      </p:pic>
      <p:sp>
        <p:nvSpPr>
          <p:cNvPr id="44" name="Title 2">
            <a:extLst>
              <a:ext uri="{FF2B5EF4-FFF2-40B4-BE49-F238E27FC236}">
                <a16:creationId xmlns:a16="http://schemas.microsoft.com/office/drawing/2014/main" id="{F4631A86-64EC-C5F9-C59E-364B3BE15C8E}"/>
              </a:ext>
            </a:extLst>
          </p:cNvPr>
          <p:cNvSpPr txBox="1">
            <a:spLocks/>
          </p:cNvSpPr>
          <p:nvPr/>
        </p:nvSpPr>
        <p:spPr>
          <a:xfrm>
            <a:off x="2163452" y="275899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manual dispatch system</a:t>
            </a:r>
          </a:p>
        </p:txBody>
      </p:sp>
    </p:spTree>
    <p:extLst>
      <p:ext uri="{BB962C8B-B14F-4D97-AF65-F5344CB8AC3E}">
        <p14:creationId xmlns:p14="http://schemas.microsoft.com/office/powerpoint/2010/main" val="425087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E3B9F-BEF9-8315-6075-A5F3F410F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B790DC0-ACDF-F0BE-37F2-B1D8251C1873}"/>
              </a:ext>
            </a:extLst>
          </p:cNvPr>
          <p:cNvSpPr txBox="1">
            <a:spLocks/>
          </p:cNvSpPr>
          <p:nvPr/>
        </p:nvSpPr>
        <p:spPr>
          <a:xfrm>
            <a:off x="1710965" y="18037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The manual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1DE914-5BE9-7801-B3D6-57C80ADE9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65" y="1124744"/>
            <a:ext cx="9144000" cy="573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693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411469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Automation Attempt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847849"/>
            <a:ext cx="3457488" cy="1638299"/>
          </a:xfrm>
          <a:prstGeom prst="roundRect">
            <a:avLst>
              <a:gd name="adj" fmla="val 9302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60035" y="2617468"/>
            <a:ext cx="1638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2141154"/>
            <a:ext cx="342891" cy="28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62040" y="2114550"/>
            <a:ext cx="172398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1980s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52" y="2609850"/>
            <a:ext cx="2895527" cy="609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Automation attempt failed load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714750"/>
            <a:ext cx="3457488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98136" y="4522470"/>
            <a:ext cx="17145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4006576"/>
            <a:ext cx="342891" cy="2926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2040" y="3981449"/>
            <a:ext cx="18573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Tender Process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4549588"/>
            <a:ext cx="190495" cy="1400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9644" y="4476750"/>
            <a:ext cx="187637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Feb 1991: Tender sent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4949638"/>
            <a:ext cx="190495" cy="1400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9644" y="4876800"/>
            <a:ext cx="162873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Jan 1992: Deadline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1865" y="1847849"/>
            <a:ext cx="3457488" cy="1647825"/>
          </a:xfrm>
          <a:prstGeom prst="roundRect">
            <a:avLst>
              <a:gd name="adj" fmla="val 9248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7608" y="2145424"/>
            <a:ext cx="342891" cy="3192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4797" y="2133599"/>
            <a:ext cx="132394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Awarded 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7608" y="2590799"/>
            <a:ext cx="288600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Systems Options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7608" y="2952750"/>
            <a:ext cx="288600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Consortium with Apricot &amp; Datatrak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1865" y="3724274"/>
            <a:ext cx="3457488" cy="1733550"/>
          </a:xfrm>
          <a:prstGeom prst="roundRect">
            <a:avLst>
              <a:gd name="adj" fmla="val 879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54620" y="4541519"/>
            <a:ext cx="17335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7133" y="4035669"/>
            <a:ext cx="304792" cy="2344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86222" y="3990974"/>
            <a:ext cx="181922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Market Interest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133" y="4419600"/>
            <a:ext cx="1028674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</a:rP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133" y="4933950"/>
            <a:ext cx="102867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Firms Looked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4401" y="4419600"/>
            <a:ext cx="723881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4401" y="4933950"/>
            <a:ext cx="72388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Proposed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4621" y="1847849"/>
            <a:ext cx="3457488" cy="1638299"/>
          </a:xfrm>
          <a:prstGeom prst="roundRect">
            <a:avLst>
              <a:gd name="adj" fmla="val 9302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7355002" y="2617468"/>
            <a:ext cx="1638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19889" y="2141154"/>
            <a:ext cx="342891" cy="28969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77078" y="2114550"/>
            <a:ext cx="18573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Timeline 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9889" y="2609850"/>
            <a:ext cx="2895527" cy="609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Most firms said timeline was unrealistic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4621" y="3714750"/>
            <a:ext cx="3457488" cy="2105024"/>
          </a:xfrm>
          <a:prstGeom prst="roundRect">
            <a:avLst>
              <a:gd name="adj" fmla="val 7239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10364" y="4050752"/>
            <a:ext cx="342891" cy="2423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867553" y="4000500"/>
            <a:ext cx="18573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Contract Price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0364" y="4495799"/>
            <a:ext cx="2886002" cy="742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070"/>
              </a:lnSpc>
              <a:spcBef>
                <a:spcPts val="0"/>
              </a:spcBef>
              <a:spcAft>
                <a:spcPts val="0"/>
              </a:spcAft>
            </a:pPr>
            <a:r>
              <a:rPr sz="3109" b="1">
                <a:solidFill>
                  <a:srgbClr val="37DCF2"/>
                </a:solidFill>
                <a:latin typeface="Source Code Pro"/>
              </a:rPr>
              <a:t>£937K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0364" y="5276850"/>
            <a:ext cx="288600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£700K cheaper than next bidder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629634" y="5724648"/>
            <a:ext cx="952476" cy="7236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65750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Project Failures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800225"/>
            <a:ext cx="3438439" cy="1133475"/>
          </a:xfrm>
          <a:prstGeom prst="roundRect">
            <a:avLst>
              <a:gd name="adj" fmla="val 1344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92377" y="2317432"/>
            <a:ext cx="11334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6753" y="2052271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5842" y="2028825"/>
            <a:ext cx="187637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Ignored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42" y="2419349"/>
            <a:ext cx="187637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On cost and timescale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8519" y="1800225"/>
            <a:ext cx="3438439" cy="1133475"/>
          </a:xfrm>
          <a:prstGeom prst="roundRect">
            <a:avLst>
              <a:gd name="adj" fmla="val 1344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721312" y="2317432"/>
            <a:ext cx="11334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687" y="2058132"/>
            <a:ext cx="304792" cy="246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14777" y="2028825"/>
            <a:ext cx="211449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No Systems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777" y="2419349"/>
            <a:ext cx="211449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Lack of holistic approach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124200"/>
            <a:ext cx="3438439" cy="1133475"/>
          </a:xfrm>
          <a:prstGeom prst="roundRect">
            <a:avLst>
              <a:gd name="adj" fmla="val 1344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92377" y="3641407"/>
            <a:ext cx="11334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53" y="3376246"/>
            <a:ext cx="304792" cy="2579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5842" y="3352800"/>
            <a:ext cx="206687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Inflexible 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5842" y="3743325"/>
            <a:ext cx="206687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Incomplete specification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8519" y="3124200"/>
            <a:ext cx="3438439" cy="1133475"/>
          </a:xfrm>
          <a:prstGeom prst="roundRect">
            <a:avLst>
              <a:gd name="adj" fmla="val 1344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721312" y="3641407"/>
            <a:ext cx="11334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5687" y="3411415"/>
            <a:ext cx="304792" cy="18756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14777" y="3352800"/>
            <a:ext cx="225736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Ignored Practices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4777" y="3743325"/>
            <a:ext cx="225736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Established work practices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448175"/>
            <a:ext cx="3438439" cy="1419225"/>
          </a:xfrm>
          <a:prstGeom prst="roundRect">
            <a:avLst>
              <a:gd name="adj" fmla="val 10738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50498" y="5108257"/>
            <a:ext cx="14192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753" y="4700221"/>
            <a:ext cx="304792" cy="2579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85842" y="4676775"/>
            <a:ext cx="241928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Unrealistic Timeline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5842" y="5067299"/>
            <a:ext cx="241928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Timescale was unrealistic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38519" y="4448175"/>
            <a:ext cx="3438439" cy="1419225"/>
          </a:xfrm>
          <a:prstGeom prst="roundRect">
            <a:avLst>
              <a:gd name="adj" fmla="val 10738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3578437" y="5108257"/>
            <a:ext cx="14192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95687" y="4685567"/>
            <a:ext cx="304792" cy="2872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14777" y="4676775"/>
            <a:ext cx="253358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Technical 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4777" y="5067299"/>
            <a:ext cx="253358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Change through technical system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8423" y="2057400"/>
            <a:ext cx="3533686" cy="2438400"/>
          </a:xfrm>
          <a:prstGeom prst="roundRect">
            <a:avLst>
              <a:gd name="adj" fmla="val 6250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5077" y="2047373"/>
            <a:ext cx="457188" cy="2105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72265" y="2381250"/>
            <a:ext cx="2886002" cy="781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>
                <a:solidFill>
                  <a:srgbClr val="FFFFFF"/>
                </a:solidFill>
                <a:latin typeface="Roboto Flex"/>
              </a:rPr>
              <a:t>"They made virtually every mistake in the book"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72265" y="3800060"/>
            <a:ext cx="266693" cy="1913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53256" y="3619499"/>
            <a:ext cx="153348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Paul Williams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3256" y="3905249"/>
            <a:ext cx="153348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LAS Inquiry Member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8423" y="4714875"/>
            <a:ext cx="3533686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38919" y="4905375"/>
            <a:ext cx="3152696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Common mistakes in</a:t>
            </a:r>
            <a:r>
              <a:rPr sz="1104"/>
              <a:t>
</a:t>
            </a:r>
            <a:r>
              <a:rPr sz="1076" b="0">
                <a:solidFill>
                  <a:srgbClr val="FFFFFF"/>
                </a:solidFill>
                <a:latin typeface="Roboto Flex"/>
              </a:rPr>
              <a:t>software project failures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29634" y="5681353"/>
            <a:ext cx="952476" cy="8102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0"/>
            <a:ext cx="502907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Understanding Software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62024"/>
            <a:ext cx="5295767" cy="1085850"/>
          </a:xfrm>
          <a:prstGeom prst="roundRect">
            <a:avLst>
              <a:gd name="adj" fmla="val 14035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26485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14417" y="1209674"/>
            <a:ext cx="3724181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Software Characteristics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2276474"/>
            <a:ext cx="5295767" cy="1181099"/>
          </a:xfrm>
          <a:prstGeom prst="roundRect">
            <a:avLst>
              <a:gd name="adj" fmla="val 12903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68565" y="2817493"/>
            <a:ext cx="11810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53" y="2572482"/>
            <a:ext cx="304792" cy="246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3941" y="2505074"/>
            <a:ext cx="283837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Intangible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3941" y="2924175"/>
            <a:ext cx="283837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Not physical, exists in digital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3648074"/>
            <a:ext cx="5295767" cy="1181099"/>
          </a:xfrm>
          <a:prstGeom prst="roundRect">
            <a:avLst>
              <a:gd name="adj" fmla="val 12903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68565" y="4189093"/>
            <a:ext cx="11810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53" y="3949944"/>
            <a:ext cx="304792" cy="2344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23941" y="3876674"/>
            <a:ext cx="353368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Logic-Based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3941" y="4295774"/>
            <a:ext cx="353368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Comprises algorithms and data 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5019675"/>
            <a:ext cx="5295767" cy="1181099"/>
          </a:xfrm>
          <a:prstGeom prst="roundRect">
            <a:avLst>
              <a:gd name="adj" fmla="val 12903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8565" y="5560694"/>
            <a:ext cx="11810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6753" y="5356713"/>
            <a:ext cx="304792" cy="1641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23941" y="5248275"/>
            <a:ext cx="353368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Developed Not Manufactured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3941" y="5667374"/>
            <a:ext cx="353368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Created by engineers, not mass-produced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6342" y="962024"/>
            <a:ext cx="5295767" cy="1085850"/>
          </a:xfrm>
          <a:prstGeom prst="roundRect">
            <a:avLst>
              <a:gd name="adj" fmla="val 14035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3986" y="1288502"/>
            <a:ext cx="342891" cy="24239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91175" y="1209674"/>
            <a:ext cx="325746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Software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342" y="2276474"/>
            <a:ext cx="2571685" cy="1343025"/>
          </a:xfrm>
          <a:prstGeom prst="roundRect">
            <a:avLst>
              <a:gd name="adj" fmla="val 1134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664360" y="2898456"/>
            <a:ext cx="13430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05412" y="2515842"/>
            <a:ext cx="266693" cy="2261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48303" y="2466975"/>
            <a:ext cx="181922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System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5412" y="2857500"/>
            <a:ext cx="216212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Operating systems, utilities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10424" y="2276474"/>
            <a:ext cx="2571685" cy="1343025"/>
          </a:xfrm>
          <a:prstGeom prst="roundRect">
            <a:avLst>
              <a:gd name="adj" fmla="val 1134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8388442" y="2898456"/>
            <a:ext cx="13430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29494" y="2676939"/>
            <a:ext cx="266693" cy="20872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72385" y="2466975"/>
            <a:ext cx="1819229" cy="628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Application Software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9494" y="3171825"/>
            <a:ext cx="216212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Business, productivity tools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6342" y="3771900"/>
            <a:ext cx="2571685" cy="1343025"/>
          </a:xfrm>
          <a:prstGeom prst="roundRect">
            <a:avLst>
              <a:gd name="adj" fmla="val 1134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664360" y="4393882"/>
            <a:ext cx="13430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05412" y="4172364"/>
            <a:ext cx="266693" cy="20872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48303" y="3962399"/>
            <a:ext cx="1819229" cy="628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Engineering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412" y="4667249"/>
            <a:ext cx="216212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CAD/CAM, simulation tools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10424" y="3771900"/>
            <a:ext cx="2571685" cy="1343025"/>
          </a:xfrm>
          <a:prstGeom prst="roundRect">
            <a:avLst>
              <a:gd name="adj" fmla="val 1134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8388442" y="4393882"/>
            <a:ext cx="13430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229494" y="4172364"/>
            <a:ext cx="266693" cy="20872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572385" y="3962399"/>
            <a:ext cx="1819229" cy="628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Embedded Software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9494" y="4667249"/>
            <a:ext cx="216212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Real-time control systems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86342" y="5267324"/>
            <a:ext cx="2571685" cy="1343025"/>
          </a:xfrm>
          <a:prstGeom prst="roundRect">
            <a:avLst>
              <a:gd name="adj" fmla="val 1134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664360" y="5889306"/>
            <a:ext cx="13430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05412" y="5511040"/>
            <a:ext cx="266693" cy="21741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48303" y="5457825"/>
            <a:ext cx="133346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AI Software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05412" y="5848350"/>
            <a:ext cx="2162120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Machine learning, neural networks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10424" y="5267324"/>
            <a:ext cx="2571685" cy="1343025"/>
          </a:xfrm>
          <a:prstGeom prst="roundRect">
            <a:avLst>
              <a:gd name="adj" fmla="val 11347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8388442" y="5889306"/>
            <a:ext cx="13430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229494" y="5659092"/>
            <a:ext cx="266693" cy="22611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572385" y="5457825"/>
            <a:ext cx="1819229" cy="628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Code Pro"/>
              </a:rPr>
              <a:t>Web-Based Software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9494" y="6162675"/>
            <a:ext cx="216212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Cloud services, web apps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378276" y="5938836"/>
            <a:ext cx="952476" cy="8102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0"/>
            <a:ext cx="45718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Software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743200"/>
            <a:ext cx="4238519" cy="2019299"/>
          </a:xfrm>
          <a:prstGeom prst="roundRect">
            <a:avLst>
              <a:gd name="adj" fmla="val 7547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6238" y="266399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26" y="3067050"/>
            <a:ext cx="3590835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26" y="3695699"/>
            <a:ext cx="3590835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</a:rPr>
              <a:t>The application of engineering principles to software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9094" y="962024"/>
            <a:ext cx="6353016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Software Engineering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29094" y="1590675"/>
            <a:ext cx="6353016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733160" y="2086609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787" y="1857703"/>
            <a:ext cx="342891" cy="2660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91075" y="1819275"/>
            <a:ext cx="246691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Quality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1075" y="2200275"/>
            <a:ext cx="246691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QA focus, testing,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9094" y="2867025"/>
            <a:ext cx="6353016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4733160" y="3362959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787" y="3103015"/>
            <a:ext cx="342891" cy="3281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91075" y="3095625"/>
            <a:ext cx="266693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Tools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1075" y="3476624"/>
            <a:ext cx="266693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Automated support, CASE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9094" y="4143375"/>
            <a:ext cx="6353016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4733160" y="4639309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5787" y="4391189"/>
            <a:ext cx="342891" cy="3044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91075" y="4371975"/>
            <a:ext cx="258121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Methods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1075" y="4752974"/>
            <a:ext cx="258121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How to do it better, techniques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29094" y="5419725"/>
            <a:ext cx="6353016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733160" y="5915659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5787" y="5698577"/>
            <a:ext cx="342891" cy="24239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91075" y="5648325"/>
            <a:ext cx="255263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Process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1075" y="6029325"/>
            <a:ext cx="255263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How to do it, workflow models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29634" y="5695269"/>
            <a:ext cx="952476" cy="7824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25766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Software Process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841" y="1257300"/>
            <a:ext cx="4744213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29094" y="1295399"/>
            <a:ext cx="6353016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4733160" y="1791333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787" y="1550604"/>
            <a:ext cx="342891" cy="289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91075" y="1523999"/>
            <a:ext cx="321936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Linear Sequential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1075" y="1904999"/>
            <a:ext cx="321936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Waterfall approach, sequential phases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9094" y="2609850"/>
            <a:ext cx="6353016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4733160" y="3105784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787" y="2863576"/>
            <a:ext cx="342891" cy="2926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91075" y="2838450"/>
            <a:ext cx="292410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Prototyping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1075" y="3219449"/>
            <a:ext cx="292410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Rapid iteration, user feedback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9094" y="3924299"/>
            <a:ext cx="6353016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733160" y="4420233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5787" y="4204630"/>
            <a:ext cx="342891" cy="239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91075" y="4152899"/>
            <a:ext cx="263835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RAD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1075" y="4533900"/>
            <a:ext cx="263835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Rapid Application Development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29094" y="5238749"/>
            <a:ext cx="6353016" cy="1123949"/>
          </a:xfrm>
          <a:prstGeom prst="roundRect">
            <a:avLst>
              <a:gd name="adj" fmla="val 13559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4733160" y="5734683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5787" y="5479174"/>
            <a:ext cx="342891" cy="3192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1075" y="5467349"/>
            <a:ext cx="260025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Evolutionary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1075" y="5848350"/>
            <a:ext cx="260025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Incremental, spiral approaches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29634" y="5724648"/>
            <a:ext cx="952476" cy="7236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525766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The Management Spectrum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190749"/>
            <a:ext cx="3086022" cy="1543050"/>
          </a:xfrm>
          <a:prstGeom prst="roundRect">
            <a:avLst>
              <a:gd name="adj" fmla="val 987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95901" y="2896234"/>
            <a:ext cx="1543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278" y="2618642"/>
            <a:ext cx="304792" cy="2872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367" y="2419349"/>
            <a:ext cx="2171645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Process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78" y="3219449"/>
            <a:ext cx="259073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Planning, scheduling,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102" y="2190749"/>
            <a:ext cx="3086022" cy="1543050"/>
          </a:xfrm>
          <a:prstGeom prst="roundRect">
            <a:avLst>
              <a:gd name="adj" fmla="val 987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180617" y="2896234"/>
            <a:ext cx="1543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796" y="2680188"/>
            <a:ext cx="304792" cy="1641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1885" y="2419349"/>
            <a:ext cx="2171645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People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2796" y="3219449"/>
            <a:ext cx="259073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Team coordination, motivation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924299"/>
            <a:ext cx="3086022" cy="1543050"/>
          </a:xfrm>
          <a:prstGeom prst="roundRect">
            <a:avLst>
              <a:gd name="adj" fmla="val 987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95901" y="4629784"/>
            <a:ext cx="1543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278" y="4374173"/>
            <a:ext cx="304792" cy="243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367" y="4152899"/>
            <a:ext cx="2171645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Technology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78" y="4952999"/>
            <a:ext cx="259073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Methods, tools, automation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102" y="3924299"/>
            <a:ext cx="3086022" cy="1543050"/>
          </a:xfrm>
          <a:prstGeom prst="roundRect">
            <a:avLst>
              <a:gd name="adj" fmla="val 9876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180617" y="4629784"/>
            <a:ext cx="1543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2796" y="4360984"/>
            <a:ext cx="304792" cy="2696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1885" y="4152899"/>
            <a:ext cx="2171645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</a:rPr>
              <a:t>Quality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2796" y="4952999"/>
            <a:ext cx="259073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Testing, QA, standards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3591" y="2000250"/>
            <a:ext cx="4238519" cy="3676649"/>
          </a:xfrm>
          <a:prstGeom prst="roundRect">
            <a:avLst>
              <a:gd name="adj" fmla="val 4145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9334" y="2343478"/>
            <a:ext cx="342891" cy="26604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86522" y="2286000"/>
            <a:ext cx="108582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9334" y="2876549"/>
            <a:ext cx="3667033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Ensuring software meets quality standards and requirements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9334" y="37909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9829" y="3676649"/>
            <a:ext cx="109534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Unit Testing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9334" y="42576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9829" y="4133849"/>
            <a:ext cx="172398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Integration Testing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9334" y="47243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19829" y="4610099"/>
            <a:ext cx="140013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System Testing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29334" y="51911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9829" y="5067299"/>
            <a:ext cx="181922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Acceptance Testing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29634" y="5724648"/>
            <a:ext cx="952476" cy="7236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2876" y="647699"/>
            <a:ext cx="761980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37DCF2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67253" y="499811"/>
            <a:ext cx="457188" cy="3338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6838" y="647699"/>
            <a:ext cx="761980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37DCF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754" y="1123949"/>
            <a:ext cx="853418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2080"/>
              </a:spcAft>
            </a:pPr>
            <a:r>
              <a:rPr sz="2392" b="1" dirty="0">
                <a:solidFill>
                  <a:srgbClr val="FFFFFF"/>
                </a:solidFill>
                <a:latin typeface="Source Code Pro"/>
              </a:rPr>
              <a:t>References &amp; Further 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754" y="2152650"/>
            <a:ext cx="8534186" cy="1990724"/>
          </a:xfrm>
          <a:prstGeom prst="roundRect">
            <a:avLst>
              <a:gd name="adj" fmla="val 7655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984" y="2527245"/>
            <a:ext cx="342891" cy="2985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05272" y="2476499"/>
            <a:ext cx="248596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Source Code Pro"/>
              </a:rPr>
              <a:t>Primary Textbook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2596" y="3028950"/>
            <a:ext cx="7886502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FFFFFF"/>
                </a:solidFill>
                <a:latin typeface="Roboto Flex"/>
              </a:rPr>
              <a:t>Software Engineering Ninth Edition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2596" y="3505199"/>
            <a:ext cx="788650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52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by Ian Sommerville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754" y="4600575"/>
            <a:ext cx="853418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1560"/>
              </a:spcAft>
            </a:pPr>
            <a:r>
              <a:rPr sz="1554" b="1">
                <a:solidFill>
                  <a:srgbClr val="FFFFFF"/>
                </a:solidFill>
                <a:latin typeface="Source Code Pro"/>
              </a:rPr>
              <a:t>Key Topics 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66893" y="5200650"/>
            <a:ext cx="1752556" cy="533399"/>
          </a:xfrm>
          <a:prstGeom prst="roundRect">
            <a:avLst>
              <a:gd name="adj" fmla="val 3571071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05012" y="5353049"/>
            <a:ext cx="127631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Software Crisis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1845" y="5200650"/>
            <a:ext cx="2543111" cy="533399"/>
          </a:xfrm>
          <a:prstGeom prst="roundRect">
            <a:avLst>
              <a:gd name="adj" fmla="val 3571071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9964" y="5353049"/>
            <a:ext cx="20668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Software Characteristics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7353" y="5200650"/>
            <a:ext cx="1819229" cy="533399"/>
          </a:xfrm>
          <a:prstGeom prst="roundRect">
            <a:avLst>
              <a:gd name="adj" fmla="val 3571071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05472" y="5353049"/>
            <a:ext cx="134299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Process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8979" y="5200650"/>
            <a:ext cx="1085822" cy="533399"/>
          </a:xfrm>
          <a:prstGeom prst="roundRect">
            <a:avLst>
              <a:gd name="adj" fmla="val 3571071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7098" y="5353049"/>
            <a:ext cx="60958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67193" y="5886450"/>
            <a:ext cx="1647783" cy="533399"/>
          </a:xfrm>
          <a:prstGeom prst="roundRect">
            <a:avLst>
              <a:gd name="adj" fmla="val 3571071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05312" y="6038849"/>
            <a:ext cx="117154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Control Graph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29634" y="5681353"/>
            <a:ext cx="952476" cy="8102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576</Words>
  <Application>Microsoft Office PowerPoint</Application>
  <PresentationFormat>Widescreen</PresentationFormat>
  <Paragraphs>174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Roboto Flex</vt:lpstr>
      <vt:lpstr>Source Code Pro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Rami Bahaa</cp:lastModifiedBy>
  <cp:revision>5</cp:revision>
  <dcterms:created xsi:type="dcterms:W3CDTF">2013-01-27T09:14:16Z</dcterms:created>
  <dcterms:modified xsi:type="dcterms:W3CDTF">2026-02-07T11:05:36Z</dcterms:modified>
  <cp:category/>
</cp:coreProperties>
</file>