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62" autoAdjust="0"/>
  </p:normalViewPr>
  <p:slideViewPr>
    <p:cSldViewPr>
      <p:cViewPr>
        <p:scale>
          <a:sx n="86" d="100"/>
          <a:sy n="86" d="100"/>
        </p:scale>
        <p:origin x="1354" y="-259"/>
      </p:cViewPr>
      <p:guideLst>
        <p:guide orient="horz" pos="2160"/>
        <p:guide pos="2880"/>
      </p:guideLst>
    </p:cSldViewPr>
  </p:slideViewPr>
  <p:outlineViewPr>
    <p:cViewPr>
      <p:scale>
        <a:sx n="33" d="100"/>
        <a:sy n="33" d="100"/>
      </p:scale>
      <p:origin x="36" y="151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97B6B6-D21B-4259-BA12-D06AFC67BA27}" type="datetimeFigureOut">
              <a:rPr lang="en-GB" smtClean="0"/>
              <a:t>07/03/2026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F74D88-7073-480F-AD38-5EA98CD8D721}" type="slidenum">
              <a:rPr lang="en-GB" smtClean="0"/>
              <a:t>‹#›</a:t>
            </a:fld>
            <a:endParaRPr lang="en-GB"/>
          </a:p>
        </p:txBody>
      </p:sp>
    </p:spTree>
    <p:extLst>
      <p:ext uri="{BB962C8B-B14F-4D97-AF65-F5344CB8AC3E}">
        <p14:creationId xmlns:p14="http://schemas.microsoft.com/office/powerpoint/2010/main" val="3029200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3F74D88-7073-480F-AD38-5EA98CD8D721}" type="slidenum">
              <a:rPr lang="en-GB" smtClean="0"/>
              <a:t>5</a:t>
            </a:fld>
            <a:endParaRPr lang="en-GB"/>
          </a:p>
        </p:txBody>
      </p:sp>
    </p:spTree>
    <p:extLst>
      <p:ext uri="{BB962C8B-B14F-4D97-AF65-F5344CB8AC3E}">
        <p14:creationId xmlns:p14="http://schemas.microsoft.com/office/powerpoint/2010/main" val="19559163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4F7590B8-B934-4372-9EF6-5F277F270CDE}" type="datetimeFigureOut">
              <a:rPr lang="en-GB" smtClean="0"/>
              <a:t>07/03/2026</a:t>
            </a:fld>
            <a:endParaRPr lang="en-GB"/>
          </a:p>
        </p:txBody>
      </p:sp>
      <p:sp>
        <p:nvSpPr>
          <p:cNvPr id="5" name="Footer Placeholder 4"/>
          <p:cNvSpPr>
            <a:spLocks noGrp="1"/>
          </p:cNvSpPr>
          <p:nvPr>
            <p:ph type="ftr" sz="quarter" idx="11"/>
          </p:nvPr>
        </p:nvSpPr>
        <p:spPr>
          <a:xfrm>
            <a:off x="1921934" y="5054602"/>
            <a:ext cx="4064860" cy="279400"/>
          </a:xfrm>
        </p:spPr>
        <p:txBody>
          <a:bodyPr/>
          <a:lstStyle/>
          <a:p>
            <a:endParaRPr lang="en-GB"/>
          </a:p>
        </p:txBody>
      </p:sp>
      <p:sp>
        <p:nvSpPr>
          <p:cNvPr id="6" name="Slide Number Placeholder 5"/>
          <p:cNvSpPr>
            <a:spLocks noGrp="1"/>
          </p:cNvSpPr>
          <p:nvPr>
            <p:ph type="sldNum" sz="quarter" idx="12"/>
          </p:nvPr>
        </p:nvSpPr>
        <p:spPr>
          <a:xfrm>
            <a:off x="6817317" y="5054602"/>
            <a:ext cx="413483" cy="279400"/>
          </a:xfrm>
        </p:spPr>
        <p:txBody>
          <a:bodyPr/>
          <a:lstStyle/>
          <a:p>
            <a:fld id="{C1DA7B81-8CF7-45BC-81A8-61EFD6ECB7C8}" type="slidenum">
              <a:rPr lang="en-GB" smtClean="0"/>
              <a:t>‹#›</a:t>
            </a:fld>
            <a:endParaRPr lang="en-GB"/>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9701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7590B8-B934-4372-9EF6-5F277F270CDE}" type="datetimeFigureOut">
              <a:rPr lang="en-GB" smtClean="0"/>
              <a:t>07/03/2026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666305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07/03/2026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5847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7590B8-B934-4372-9EF6-5F277F270CDE}" type="datetimeFigureOut">
              <a:rPr lang="en-GB" smtClean="0"/>
              <a:t>07/03/2026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3524597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7590B8-B934-4372-9EF6-5F277F270CDE}" type="datetimeFigureOut">
              <a:rPr lang="en-GB" smtClean="0"/>
              <a:t>07/03/2026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1DA7B81-8CF7-45BC-81A8-61EFD6ECB7C8}" type="slidenum">
              <a:rPr lang="en-GB" smtClean="0"/>
              <a:t>‹#›</a:t>
            </a:fld>
            <a:endParaRPr lang="en-GB"/>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6970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7590B8-B934-4372-9EF6-5F277F270CDE}" type="datetimeFigureOut">
              <a:rPr lang="en-GB" smtClean="0"/>
              <a:t>07/03/2026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1DA7B81-8CF7-45BC-81A8-61EFD6ECB7C8}" type="slidenum">
              <a:rPr lang="en-GB" smtClean="0"/>
              <a:t>‹#›</a:t>
            </a:fld>
            <a:endParaRPr lang="en-GB"/>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3234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7590B8-B934-4372-9EF6-5F277F270CDE}" type="datetimeFigureOut">
              <a:rPr lang="en-GB" smtClean="0"/>
              <a:t>07/03/2026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2922522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7590B8-B934-4372-9EF6-5F277F270CDE}" type="datetimeFigureOut">
              <a:rPr lang="en-GB" smtClean="0"/>
              <a:t>07/03/2026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DA7B81-8CF7-45BC-81A8-61EFD6ECB7C8}" type="slidenum">
              <a:rPr lang="en-GB" smtClean="0"/>
              <a:t>‹#›</a:t>
            </a:fld>
            <a:endParaRPr lang="en-GB"/>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0609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7590B8-B934-4372-9EF6-5F277F270CDE}" type="datetimeFigureOut">
              <a:rPr lang="en-GB" smtClean="0"/>
              <a:t>07/03/2026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3261277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7590B8-B934-4372-9EF6-5F277F270CDE}" type="datetimeFigureOut">
              <a:rPr lang="en-GB" smtClean="0"/>
              <a:t>07/03/2026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2406780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07/03/2026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57746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07/03/2026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096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07/03/2026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spTree>
    <p:extLst>
      <p:ext uri="{BB962C8B-B14F-4D97-AF65-F5344CB8AC3E}">
        <p14:creationId xmlns:p14="http://schemas.microsoft.com/office/powerpoint/2010/main" val="33143733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07/03/2026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8610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7590B8-B934-4372-9EF6-5F277F270CDE}" type="datetimeFigureOut">
              <a:rPr lang="en-GB" smtClean="0"/>
              <a:t>07/03/2026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9030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7590B8-B934-4372-9EF6-5F277F270CDE}" type="datetimeFigureOut">
              <a:rPr lang="en-GB" smtClean="0"/>
              <a:t>07/03/2026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4204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7590B8-B934-4372-9EF6-5F277F270CDE}" type="datetimeFigureOut">
              <a:rPr lang="en-GB" smtClean="0"/>
              <a:t>07/03/2026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1DA7B81-8CF7-45BC-81A8-61EFD6ECB7C8}" type="slidenum">
              <a:rPr lang="en-GB" smtClean="0"/>
              <a:t>‹#›</a:t>
            </a:fld>
            <a:endParaRPr lang="en-GB"/>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5606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F7590B8-B934-4372-9EF6-5F277F270CDE}" type="datetimeFigureOut">
              <a:rPr lang="en-GB" smtClean="0"/>
              <a:t>07/03/2026</a:t>
            </a:fld>
            <a:endParaRPr lang="en-GB"/>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DA7B81-8CF7-45BC-81A8-61EFD6ECB7C8}" type="slidenum">
              <a:rPr lang="en-GB" smtClean="0"/>
              <a:t>‹#›</a:t>
            </a:fld>
            <a:endParaRPr lang="en-GB"/>
          </a:p>
        </p:txBody>
      </p:sp>
    </p:spTree>
    <p:extLst>
      <p:ext uri="{BB962C8B-B14F-4D97-AF65-F5344CB8AC3E}">
        <p14:creationId xmlns:p14="http://schemas.microsoft.com/office/powerpoint/2010/main" val="387451397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GB" dirty="0"/>
              <a:t>Software Engineering</a:t>
            </a:r>
          </a:p>
        </p:txBody>
      </p:sp>
      <p:sp>
        <p:nvSpPr>
          <p:cNvPr id="3" name="Subtitle 2"/>
          <p:cNvSpPr>
            <a:spLocks noGrp="1"/>
          </p:cNvSpPr>
          <p:nvPr>
            <p:ph type="subTitle" idx="1"/>
          </p:nvPr>
        </p:nvSpPr>
        <p:spPr/>
        <p:txBody>
          <a:bodyPr/>
          <a:lstStyle/>
          <a:p>
            <a:r>
              <a:rPr lang="en-GB" dirty="0"/>
              <a:t>Lecture Five</a:t>
            </a:r>
          </a:p>
        </p:txBody>
      </p:sp>
    </p:spTree>
    <p:extLst>
      <p:ext uri="{BB962C8B-B14F-4D97-AF65-F5344CB8AC3E}">
        <p14:creationId xmlns:p14="http://schemas.microsoft.com/office/powerpoint/2010/main" val="1141196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a:t>SOFTWARE PROCESS MODELS</a:t>
            </a:r>
          </a:p>
        </p:txBody>
      </p:sp>
      <p:sp>
        <p:nvSpPr>
          <p:cNvPr id="2" name="Content Placeholder 1"/>
          <p:cNvSpPr>
            <a:spLocks noGrp="1"/>
          </p:cNvSpPr>
          <p:nvPr>
            <p:ph idx="1"/>
          </p:nvPr>
        </p:nvSpPr>
        <p:spPr/>
        <p:txBody>
          <a:bodyPr>
            <a:normAutofit lnSpcReduction="10000"/>
          </a:bodyPr>
          <a:lstStyle/>
          <a:p>
            <a:pPr marL="109728" indent="0" algn="just">
              <a:buNone/>
            </a:pPr>
            <a:r>
              <a:rPr lang="en-GB" dirty="0">
                <a:latin typeface="Times New Roman" pitchFamily="18" charset="0"/>
                <a:cs typeface="Times New Roman" pitchFamily="18" charset="0"/>
              </a:rPr>
              <a:t>To solve actual problems in an industry setting, a software engineer or a team of engineers must incorporate a development strategy that encompasses the process, methods, and tools layers and the generic phases  This strategy is often referred to as a process model or a software engineering paradigm. A process model for software engineering is chosen based on the nature of the project and application, the methods and tools to be used, and the controls and deliverables that are required.</a:t>
            </a:r>
          </a:p>
        </p:txBody>
      </p:sp>
    </p:spTree>
    <p:extLst>
      <p:ext uri="{BB962C8B-B14F-4D97-AF65-F5344CB8AC3E}">
        <p14:creationId xmlns:p14="http://schemas.microsoft.com/office/powerpoint/2010/main" val="2334323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19064" y="3068960"/>
            <a:ext cx="1800200" cy="2736304"/>
          </a:xfrm>
        </p:spPr>
        <p:txBody>
          <a:bodyPr>
            <a:noAutofit/>
          </a:bodyPr>
          <a:lstStyle/>
          <a:p>
            <a:r>
              <a:rPr lang="en-GB" sz="1600" dirty="0">
                <a:latin typeface="Times New Roman" pitchFamily="18" charset="0"/>
                <a:cs typeface="Times New Roman" pitchFamily="18" charset="0"/>
              </a:rPr>
              <a:t>(a) The phases</a:t>
            </a:r>
            <a:br>
              <a:rPr lang="en-GB" sz="1600" dirty="0">
                <a:latin typeface="Times New Roman" pitchFamily="18" charset="0"/>
                <a:cs typeface="Times New Roman" pitchFamily="18" charset="0"/>
              </a:rPr>
            </a:br>
            <a:r>
              <a:rPr lang="en-GB" sz="1600" dirty="0">
                <a:latin typeface="Times New Roman" pitchFamily="18" charset="0"/>
                <a:cs typeface="Times New Roman" pitchFamily="18" charset="0"/>
              </a:rPr>
              <a:t>of a problem</a:t>
            </a:r>
            <a:br>
              <a:rPr lang="en-GB" sz="1600" dirty="0">
                <a:latin typeface="Times New Roman" pitchFamily="18" charset="0"/>
                <a:cs typeface="Times New Roman" pitchFamily="18" charset="0"/>
              </a:rPr>
            </a:br>
            <a:r>
              <a:rPr lang="en-GB" sz="1600" dirty="0">
                <a:latin typeface="Times New Roman" pitchFamily="18" charset="0"/>
                <a:cs typeface="Times New Roman" pitchFamily="18" charset="0"/>
              </a:rPr>
              <a:t>solving loop</a:t>
            </a:r>
            <a:br>
              <a:rPr lang="en-GB" sz="1600" dirty="0">
                <a:latin typeface="Times New Roman" pitchFamily="18" charset="0"/>
                <a:cs typeface="Times New Roman" pitchFamily="18" charset="0"/>
              </a:rPr>
            </a:br>
            <a:br>
              <a:rPr lang="en-GB" sz="1600" dirty="0">
                <a:latin typeface="Times New Roman" pitchFamily="18" charset="0"/>
                <a:cs typeface="Times New Roman" pitchFamily="18" charset="0"/>
              </a:rPr>
            </a:br>
            <a:r>
              <a:rPr lang="en-GB" sz="1600" dirty="0">
                <a:latin typeface="Times New Roman" pitchFamily="18" charset="0"/>
                <a:cs typeface="Times New Roman" pitchFamily="18" charset="0"/>
              </a:rPr>
              <a:t>(b) The phases</a:t>
            </a:r>
            <a:br>
              <a:rPr lang="en-GB" sz="1600" dirty="0">
                <a:latin typeface="Times New Roman" pitchFamily="18" charset="0"/>
                <a:cs typeface="Times New Roman" pitchFamily="18" charset="0"/>
              </a:rPr>
            </a:br>
            <a:r>
              <a:rPr lang="en-GB" sz="1600" dirty="0">
                <a:latin typeface="Times New Roman" pitchFamily="18" charset="0"/>
                <a:cs typeface="Times New Roman" pitchFamily="18" charset="0"/>
              </a:rPr>
              <a:t>within phases</a:t>
            </a:r>
            <a:br>
              <a:rPr lang="en-GB" sz="1600" dirty="0">
                <a:latin typeface="Times New Roman" pitchFamily="18" charset="0"/>
                <a:cs typeface="Times New Roman" pitchFamily="18" charset="0"/>
              </a:rPr>
            </a:br>
            <a:r>
              <a:rPr lang="en-GB" sz="1600" dirty="0">
                <a:latin typeface="Times New Roman" pitchFamily="18" charset="0"/>
                <a:cs typeface="Times New Roman" pitchFamily="18" charset="0"/>
              </a:rPr>
              <a:t>of the problem</a:t>
            </a:r>
            <a:br>
              <a:rPr lang="en-GB" sz="1600" dirty="0">
                <a:latin typeface="Times New Roman" pitchFamily="18" charset="0"/>
                <a:cs typeface="Times New Roman" pitchFamily="18" charset="0"/>
              </a:rPr>
            </a:br>
            <a:r>
              <a:rPr lang="en-GB" sz="1600" dirty="0">
                <a:latin typeface="Times New Roman" pitchFamily="18" charset="0"/>
                <a:cs typeface="Times New Roman" pitchFamily="18" charset="0"/>
              </a:rPr>
              <a:t>solving loop</a:t>
            </a:r>
            <a:br>
              <a:rPr lang="en-GB" sz="1600" dirty="0">
                <a:latin typeface="Times New Roman" pitchFamily="18" charset="0"/>
                <a:cs typeface="Times New Roman" pitchFamily="18" charset="0"/>
              </a:rPr>
            </a:br>
            <a:endParaRPr lang="en-GB" sz="1600" dirty="0">
              <a:latin typeface="Times New Roman" pitchFamily="18" charset="0"/>
              <a:cs typeface="Times New Roman" pitchFamily="18" charset="0"/>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9264" y="692696"/>
            <a:ext cx="5905672"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3966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692696"/>
            <a:ext cx="7776864" cy="5688632"/>
          </a:xfrm>
        </p:spPr>
        <p:txBody>
          <a:bodyPr>
            <a:normAutofit lnSpcReduction="10000"/>
          </a:bodyPr>
          <a:lstStyle/>
          <a:p>
            <a:pPr marL="109728" indent="0" algn="just">
              <a:buNone/>
            </a:pPr>
            <a:r>
              <a:rPr lang="en-GB" dirty="0">
                <a:latin typeface="Times New Roman" pitchFamily="18" charset="0"/>
                <a:cs typeface="Times New Roman" pitchFamily="18" charset="0"/>
              </a:rPr>
              <a:t>All software development can be characterized as a problem solving loop (Figure a) in which four distinct stages are encountered: status quo, problem definition, technical development, and solution integration. Status quo “represents the current state of affairs” ; problem definition identifies the specific problem to be solved; technical development solves the problem through the application of some technology, and solution integration delivers the results (e.g., documents, programs, data, new business function, new product) to those who requested the solution in the first place.</a:t>
            </a:r>
          </a:p>
          <a:p>
            <a:pPr marL="109728" indent="0" algn="just">
              <a:buNone/>
            </a:pPr>
            <a:r>
              <a:rPr lang="en-GB" dirty="0">
                <a:latin typeface="Times New Roman" pitchFamily="18" charset="0"/>
                <a:cs typeface="Times New Roman" pitchFamily="18" charset="0"/>
              </a:rPr>
              <a:t>In Figure b, each stage in the problem solving loop contains an identical problem solving loop, which contains still another problem solving loop (this continues to some rational boundary; for software, a line of code).</a:t>
            </a:r>
          </a:p>
        </p:txBody>
      </p:sp>
    </p:spTree>
    <p:extLst>
      <p:ext uri="{BB962C8B-B14F-4D97-AF65-F5344CB8AC3E}">
        <p14:creationId xmlns:p14="http://schemas.microsoft.com/office/powerpoint/2010/main" val="400592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a:t>THE LINEAR SEQUENTIAL MODEL</a:t>
            </a:r>
          </a:p>
        </p:txBody>
      </p:sp>
      <p:sp>
        <p:nvSpPr>
          <p:cNvPr id="2" name="Content Placeholder 1"/>
          <p:cNvSpPr>
            <a:spLocks noGrp="1"/>
          </p:cNvSpPr>
          <p:nvPr>
            <p:ph idx="1"/>
          </p:nvPr>
        </p:nvSpPr>
        <p:spPr/>
        <p:txBody>
          <a:bodyPr>
            <a:normAutofit lnSpcReduction="10000"/>
          </a:bodyPr>
          <a:lstStyle/>
          <a:p>
            <a:pPr marL="109728" indent="0" algn="just">
              <a:buNone/>
            </a:pPr>
            <a:r>
              <a:rPr lang="en-GB" dirty="0">
                <a:latin typeface="Times New Roman" pitchFamily="18" charset="0"/>
                <a:cs typeface="Times New Roman" pitchFamily="18" charset="0"/>
              </a:rPr>
              <a:t>Sometimes called the </a:t>
            </a:r>
            <a:r>
              <a:rPr lang="en-GB" dirty="0">
                <a:solidFill>
                  <a:srgbClr val="FF0000"/>
                </a:solidFill>
                <a:latin typeface="Times New Roman" pitchFamily="18" charset="0"/>
                <a:cs typeface="Times New Roman" pitchFamily="18" charset="0"/>
              </a:rPr>
              <a:t>classic life cycle </a:t>
            </a:r>
            <a:r>
              <a:rPr lang="en-GB" dirty="0">
                <a:latin typeface="Times New Roman" pitchFamily="18" charset="0"/>
                <a:cs typeface="Times New Roman" pitchFamily="18" charset="0"/>
              </a:rPr>
              <a:t>or the </a:t>
            </a:r>
            <a:r>
              <a:rPr lang="en-GB" dirty="0">
                <a:solidFill>
                  <a:srgbClr val="FF0000"/>
                </a:solidFill>
                <a:latin typeface="Times New Roman" pitchFamily="18" charset="0"/>
                <a:cs typeface="Times New Roman" pitchFamily="18" charset="0"/>
              </a:rPr>
              <a:t>waterfall model</a:t>
            </a:r>
            <a:r>
              <a:rPr lang="en-GB" dirty="0">
                <a:latin typeface="Times New Roman" pitchFamily="18" charset="0"/>
                <a:cs typeface="Times New Roman" pitchFamily="18" charset="0"/>
              </a:rPr>
              <a:t>, the linear sequential model suggests a systematic, sequential approach to software development that begins at the system level and progresses through analysis, design, coding, testing, and support. Figure below illustrates the linear sequential model for software engineering. Modelled after a conventional engineering cycle, the linear sequential model encompasses the following activities:</a:t>
            </a:r>
          </a:p>
        </p:txBody>
      </p:sp>
    </p:spTree>
    <p:extLst>
      <p:ext uri="{BB962C8B-B14F-4D97-AF65-F5344CB8AC3E}">
        <p14:creationId xmlns:p14="http://schemas.microsoft.com/office/powerpoint/2010/main" val="4086980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1520" y="764704"/>
            <a:ext cx="8229600" cy="1143000"/>
          </a:xfrm>
        </p:spPr>
        <p:txBody>
          <a:bodyPr>
            <a:normAutofit/>
          </a:bodyPr>
          <a:lstStyle/>
          <a:p>
            <a:r>
              <a:rPr lang="en-GB" sz="3200" b="0" dirty="0">
                <a:latin typeface="LubalinGraph-Book"/>
              </a:rPr>
              <a:t>The linear sequential model</a:t>
            </a:r>
            <a:endParaRPr lang="en-GB" sz="3200"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5576" y="1844824"/>
            <a:ext cx="7725544" cy="4104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742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48680"/>
            <a:ext cx="8229600" cy="5832648"/>
          </a:xfrm>
        </p:spPr>
        <p:txBody>
          <a:bodyPr>
            <a:normAutofit/>
          </a:bodyPr>
          <a:lstStyle/>
          <a:p>
            <a:pPr algn="just"/>
            <a:r>
              <a:rPr lang="en-GB" b="1" dirty="0">
                <a:latin typeface="Times New Roman" pitchFamily="18" charset="0"/>
                <a:cs typeface="Times New Roman" pitchFamily="18" charset="0"/>
              </a:rPr>
              <a:t>System/information engineering and </a:t>
            </a:r>
            <a:r>
              <a:rPr lang="en-GB" b="1" dirty="0" err="1">
                <a:latin typeface="Times New Roman" pitchFamily="18" charset="0"/>
                <a:cs typeface="Times New Roman" pitchFamily="18" charset="0"/>
              </a:rPr>
              <a:t>modeling</a:t>
            </a:r>
            <a:r>
              <a:rPr lang="en-GB" dirty="0">
                <a:latin typeface="Times New Roman" pitchFamily="18" charset="0"/>
                <a:cs typeface="Times New Roman" pitchFamily="18" charset="0"/>
              </a:rPr>
              <a:t>. Because software is always part of a larger system (or business), work begins by establishing requirements for all system elements and then allocating some subset of these requirements to software. This system view is essential when software must interact with other elements such as hardware, people, and databases.</a:t>
            </a:r>
          </a:p>
          <a:p>
            <a:pPr algn="just"/>
            <a:r>
              <a:rPr lang="en-GB" b="1" dirty="0">
                <a:latin typeface="Times New Roman" pitchFamily="18" charset="0"/>
                <a:cs typeface="Times New Roman" pitchFamily="18" charset="0"/>
              </a:rPr>
              <a:t>Software requirements analysis</a:t>
            </a:r>
            <a:r>
              <a:rPr lang="en-GB" dirty="0">
                <a:latin typeface="Times New Roman" pitchFamily="18" charset="0"/>
                <a:cs typeface="Times New Roman" pitchFamily="18" charset="0"/>
              </a:rPr>
              <a:t>. The requirements gathering process is intensified and focused specifically on software. To understand the nature of the program(s) to be built, the software engineer must understand the information domain for the software, as well as required function, behaviour, performance, and interface. Requirements for both the system and the software are documented and reviewed with the customer.</a:t>
            </a:r>
          </a:p>
          <a:p>
            <a:pPr algn="just"/>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836689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620688"/>
            <a:ext cx="7776864" cy="6048672"/>
          </a:xfrm>
        </p:spPr>
        <p:txBody>
          <a:bodyPr>
            <a:normAutofit/>
          </a:bodyPr>
          <a:lstStyle/>
          <a:p>
            <a:pPr algn="just"/>
            <a:r>
              <a:rPr lang="en-GB" b="1" dirty="0">
                <a:latin typeface="Times New Roman" pitchFamily="18" charset="0"/>
                <a:cs typeface="Times New Roman" pitchFamily="18" charset="0"/>
              </a:rPr>
              <a:t>Design</a:t>
            </a:r>
            <a:r>
              <a:rPr lang="en-GB" dirty="0">
                <a:latin typeface="Times New Roman" pitchFamily="18" charset="0"/>
                <a:cs typeface="Times New Roman" pitchFamily="18" charset="0"/>
              </a:rPr>
              <a:t>. Software design is a multistep process that focuses on four distinct attributes of a program: data structure, software architecture, interface representations, and procedural (algorithmic) detail. The design process translates requirements into a representation of the software that can be assessed for quality before coding begins.</a:t>
            </a:r>
          </a:p>
          <a:p>
            <a:pPr algn="just"/>
            <a:r>
              <a:rPr lang="en-GB" b="1" dirty="0">
                <a:latin typeface="Times New Roman" pitchFamily="18" charset="0"/>
                <a:cs typeface="Times New Roman" pitchFamily="18" charset="0"/>
              </a:rPr>
              <a:t>Code generation</a:t>
            </a:r>
            <a:r>
              <a:rPr lang="en-GB" dirty="0">
                <a:latin typeface="Times New Roman" pitchFamily="18" charset="0"/>
                <a:cs typeface="Times New Roman" pitchFamily="18" charset="0"/>
              </a:rPr>
              <a:t>. The design must be translated into a machine-readable form. The code generation step performs this task.</a:t>
            </a:r>
          </a:p>
          <a:p>
            <a:pPr algn="just"/>
            <a:r>
              <a:rPr lang="en-GB" b="1" dirty="0">
                <a:latin typeface="Times New Roman" pitchFamily="18" charset="0"/>
                <a:cs typeface="Times New Roman" pitchFamily="18" charset="0"/>
              </a:rPr>
              <a:t>Testing</a:t>
            </a:r>
            <a:r>
              <a:rPr lang="en-GB" dirty="0">
                <a:latin typeface="Times New Roman" pitchFamily="18" charset="0"/>
                <a:cs typeface="Times New Roman" pitchFamily="18" charset="0"/>
              </a:rPr>
              <a:t>. Once code has been generated, program testing begins. The testing process focuses on the logical internals of the software, ensuring that all statements have been tested, and on the functional externals</a:t>
            </a:r>
          </a:p>
          <a:p>
            <a:pPr algn="just"/>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219872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6A2FD-C394-95AD-B2AF-B24886A52872}"/>
              </a:ext>
            </a:extLst>
          </p:cNvPr>
          <p:cNvSpPr>
            <a:spLocks noGrp="1"/>
          </p:cNvSpPr>
          <p:nvPr>
            <p:ph type="title"/>
          </p:nvPr>
        </p:nvSpPr>
        <p:spPr/>
        <p:txBody>
          <a:bodyPr>
            <a:normAutofit fontScale="90000"/>
          </a:bodyPr>
          <a:lstStyle/>
          <a:p>
            <a:r>
              <a:rPr lang="en-US" dirty="0"/>
              <a:t>Real-World Example: Online Food Delivery System Development</a:t>
            </a:r>
            <a:br>
              <a:rPr lang="en-US" dirty="0"/>
            </a:br>
            <a:endParaRPr lang="en-US" dirty="0"/>
          </a:p>
        </p:txBody>
      </p:sp>
      <p:sp>
        <p:nvSpPr>
          <p:cNvPr id="3" name="Content Placeholder 2">
            <a:extLst>
              <a:ext uri="{FF2B5EF4-FFF2-40B4-BE49-F238E27FC236}">
                <a16:creationId xmlns:a16="http://schemas.microsoft.com/office/drawing/2014/main" id="{A7FC851B-48EE-CEB8-B4F8-C487A6A4A8F4}"/>
              </a:ext>
            </a:extLst>
          </p:cNvPr>
          <p:cNvSpPr>
            <a:spLocks noGrp="1"/>
          </p:cNvSpPr>
          <p:nvPr>
            <p:ph idx="1"/>
          </p:nvPr>
        </p:nvSpPr>
        <p:spPr>
          <a:xfrm>
            <a:off x="539552" y="2348881"/>
            <a:ext cx="7992888" cy="4248472"/>
          </a:xfrm>
        </p:spPr>
        <p:txBody>
          <a:bodyPr>
            <a:noAutofit/>
          </a:bodyPr>
          <a:lstStyle/>
          <a:p>
            <a:pPr algn="just"/>
            <a:r>
              <a:rPr lang="en-US" sz="1900" b="1" dirty="0"/>
              <a:t>Requirements (Analysis): </a:t>
            </a:r>
            <a:r>
              <a:rPr lang="en-US" sz="1900" dirty="0"/>
              <a:t>The project team gathers all requirements, such as user registration, menu display, payment, and driver tracking. All requirements are documented, and no changes are allowed once this phase concludes.</a:t>
            </a:r>
          </a:p>
          <a:p>
            <a:pPr algn="just"/>
            <a:r>
              <a:rPr lang="en-US" sz="1900" b="1" dirty="0"/>
              <a:t>Design</a:t>
            </a:r>
            <a:r>
              <a:rPr lang="en-US" sz="1900" dirty="0"/>
              <a:t>: Architects create the system design based on requirements, deciding on technology, database structure, and user interface layout.</a:t>
            </a:r>
          </a:p>
          <a:p>
            <a:pPr algn="just"/>
            <a:r>
              <a:rPr lang="en-US" sz="1900" b="1" dirty="0"/>
              <a:t>Implementation (Coding): </a:t>
            </a:r>
            <a:r>
              <a:rPr lang="en-US" sz="1900" dirty="0"/>
              <a:t>Developers build the system module by module, creating the application, databases, and functionality exactly as designed.</a:t>
            </a:r>
          </a:p>
          <a:p>
            <a:pPr algn="just"/>
            <a:r>
              <a:rPr lang="en-US" sz="1900" b="1" dirty="0"/>
              <a:t>Testing:</a:t>
            </a:r>
            <a:r>
              <a:rPr lang="en-US" sz="1900" dirty="0"/>
              <a:t> The completed software is rigorously tested for bugs, security issues, and usability to ensure it meets the initial requirements.</a:t>
            </a:r>
          </a:p>
          <a:p>
            <a:pPr algn="just"/>
            <a:r>
              <a:rPr lang="en-US" sz="1900" b="1" dirty="0"/>
              <a:t>Deployment:</a:t>
            </a:r>
            <a:r>
              <a:rPr lang="en-US" sz="1900" dirty="0"/>
              <a:t> The fully tested application is deployed to the market for users.</a:t>
            </a:r>
          </a:p>
          <a:p>
            <a:pPr algn="just"/>
            <a:r>
              <a:rPr lang="en-US" sz="1900" b="1" dirty="0"/>
              <a:t>Maintenance:</a:t>
            </a:r>
            <a:r>
              <a:rPr lang="en-US" sz="1900" dirty="0"/>
              <a:t> The system is monitored, and updates are applied to fix bugs or improve performance as needed.</a:t>
            </a:r>
          </a:p>
        </p:txBody>
      </p:sp>
    </p:spTree>
    <p:extLst>
      <p:ext uri="{BB962C8B-B14F-4D97-AF65-F5344CB8AC3E}">
        <p14:creationId xmlns:p14="http://schemas.microsoft.com/office/powerpoint/2010/main" val="2489458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9552" y="1124744"/>
            <a:ext cx="8229600" cy="576064"/>
          </a:xfrm>
        </p:spPr>
        <p:txBody>
          <a:bodyPr>
            <a:normAutofit fontScale="90000"/>
          </a:bodyPr>
          <a:lstStyle/>
          <a:p>
            <a:r>
              <a:rPr lang="en-GB" dirty="0">
                <a:latin typeface="Times New Roman" pitchFamily="18" charset="0"/>
                <a:cs typeface="Times New Roman" pitchFamily="18" charset="0"/>
              </a:rPr>
              <a:t>problems of the linear sequential model </a:t>
            </a:r>
          </a:p>
        </p:txBody>
      </p:sp>
      <p:sp>
        <p:nvSpPr>
          <p:cNvPr id="5" name="Content Placeholder 4">
            <a:extLst>
              <a:ext uri="{FF2B5EF4-FFF2-40B4-BE49-F238E27FC236}">
                <a16:creationId xmlns:a16="http://schemas.microsoft.com/office/drawing/2014/main" id="{4D72C490-FE8E-65AC-674C-5CF364C8C191}"/>
              </a:ext>
            </a:extLst>
          </p:cNvPr>
          <p:cNvSpPr>
            <a:spLocks noGrp="1"/>
          </p:cNvSpPr>
          <p:nvPr>
            <p:ph idx="1"/>
          </p:nvPr>
        </p:nvSpPr>
        <p:spPr>
          <a:xfrm>
            <a:off x="704256" y="2492896"/>
            <a:ext cx="7684168" cy="3603161"/>
          </a:xfrm>
        </p:spPr>
        <p:txBody>
          <a:bodyPr>
            <a:noAutofit/>
          </a:bodyPr>
          <a:lstStyle/>
          <a:p>
            <a:r>
              <a:rPr lang="en-US" sz="2000" b="1" dirty="0"/>
              <a:t>Inflexibility to Change:</a:t>
            </a:r>
            <a:r>
              <a:rPr lang="en-US" sz="2000" dirty="0"/>
              <a:t> The linear, sequential nature makes it difficult to go back and change something in a previous phase (e.g., changing requirements after design has started).</a:t>
            </a:r>
          </a:p>
          <a:p>
            <a:r>
              <a:rPr lang="en-US" sz="2000" b="1" dirty="0"/>
              <a:t>High Risk and Uncertainty:</a:t>
            </a:r>
            <a:r>
              <a:rPr lang="en-US" sz="2000" dirty="0"/>
              <a:t> Because testing is only done at the end of the development cycle, bugs or design flaws are discovered very late, making them expensive and time-consuming to fix.</a:t>
            </a:r>
          </a:p>
          <a:p>
            <a:r>
              <a:rPr lang="en-US" sz="2000" b="1" dirty="0"/>
              <a:t>Poor Handling of Complex Projects:</a:t>
            </a:r>
            <a:r>
              <a:rPr lang="en-US" sz="2000" dirty="0"/>
              <a:t> It is not suitable for projects where requirements are not clearly defined or are likely to change, which is common in modern software development.</a:t>
            </a:r>
          </a:p>
        </p:txBody>
      </p:sp>
    </p:spTree>
    <p:extLst>
      <p:ext uri="{BB962C8B-B14F-4D97-AF65-F5344CB8AC3E}">
        <p14:creationId xmlns:p14="http://schemas.microsoft.com/office/powerpoint/2010/main" val="2066310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3F38-07F4-C169-E22F-BEF5465286A8}"/>
              </a:ext>
            </a:extLst>
          </p:cNvPr>
          <p:cNvSpPr>
            <a:spLocks noGrp="1"/>
          </p:cNvSpPr>
          <p:nvPr>
            <p:ph type="title"/>
          </p:nvPr>
        </p:nvSpPr>
        <p:spPr/>
        <p:txBody>
          <a:bodyPr>
            <a:normAutofit fontScale="90000"/>
          </a:bodyPr>
          <a:lstStyle/>
          <a:p>
            <a:r>
              <a:rPr lang="en-GB" dirty="0">
                <a:latin typeface="Times New Roman" pitchFamily="18" charset="0"/>
                <a:cs typeface="Times New Roman" pitchFamily="18" charset="0"/>
              </a:rPr>
              <a:t>problems of the linear sequential model </a:t>
            </a:r>
            <a:endParaRPr lang="en-US" dirty="0"/>
          </a:p>
        </p:txBody>
      </p:sp>
      <p:sp>
        <p:nvSpPr>
          <p:cNvPr id="3" name="Content Placeholder 2">
            <a:extLst>
              <a:ext uri="{FF2B5EF4-FFF2-40B4-BE49-F238E27FC236}">
                <a16:creationId xmlns:a16="http://schemas.microsoft.com/office/drawing/2014/main" id="{D2F5EAD0-A6E5-EF15-4D56-225C1C2C851A}"/>
              </a:ext>
            </a:extLst>
          </p:cNvPr>
          <p:cNvSpPr>
            <a:spLocks noGrp="1"/>
          </p:cNvSpPr>
          <p:nvPr>
            <p:ph idx="1"/>
          </p:nvPr>
        </p:nvSpPr>
        <p:spPr>
          <a:xfrm>
            <a:off x="683568" y="2490135"/>
            <a:ext cx="7704855" cy="3444997"/>
          </a:xfrm>
        </p:spPr>
        <p:txBody>
          <a:bodyPr>
            <a:normAutofit fontScale="92500" lnSpcReduction="20000"/>
          </a:bodyPr>
          <a:lstStyle/>
          <a:p>
            <a:pPr algn="just"/>
            <a:r>
              <a:rPr lang="en-US" b="1" dirty="0"/>
              <a:t>No Working Software Until Late:</a:t>
            </a:r>
            <a:r>
              <a:rPr lang="en-US" dirty="0"/>
              <a:t> A functioning product is only produced at the very end of the lifecycle, meaning stakeholders cannot provide feedback early, leading to potential misalignment with user needs.</a:t>
            </a:r>
          </a:p>
          <a:p>
            <a:pPr algn="just"/>
            <a:r>
              <a:rPr lang="en-US" b="1" dirty="0"/>
              <a:t>Limited Customer Involvement:</a:t>
            </a:r>
            <a:r>
              <a:rPr lang="en-US" dirty="0"/>
              <a:t> The model relies on heavy documentation rather than continuous customer collaboration, often resulting in a final product that does not meet user expectations.</a:t>
            </a:r>
          </a:p>
          <a:p>
            <a:pPr algn="just"/>
            <a:r>
              <a:rPr lang="en-US" b="1" dirty="0"/>
              <a:t>Long Development Time:</a:t>
            </a:r>
            <a:r>
              <a:rPr lang="en-US" dirty="0"/>
              <a:t> The sequential, step-by-step approach can lead to longer overall development times compared to iterative approaches. </a:t>
            </a:r>
          </a:p>
          <a:p>
            <a:pPr algn="just"/>
            <a:endParaRPr lang="en-US" dirty="0"/>
          </a:p>
        </p:txBody>
      </p:sp>
    </p:spTree>
    <p:extLst>
      <p:ext uri="{BB962C8B-B14F-4D97-AF65-F5344CB8AC3E}">
        <p14:creationId xmlns:p14="http://schemas.microsoft.com/office/powerpoint/2010/main" val="181750168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10175</TotalTime>
  <Words>946</Words>
  <Application>Microsoft Office PowerPoint</Application>
  <PresentationFormat>On-screen Show (4:3)</PresentationFormat>
  <Paragraphs>31</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Garamond</vt:lpstr>
      <vt:lpstr>LubalinGraph-Book</vt:lpstr>
      <vt:lpstr>Times New Roman</vt:lpstr>
      <vt:lpstr>Organic</vt:lpstr>
      <vt:lpstr>Software Engineering</vt:lpstr>
      <vt:lpstr>SOFTWARE PROCESS MODELS</vt:lpstr>
      <vt:lpstr>(a) The phases of a problem solving loop  (b) The phases within phases of the problem solving loop </vt:lpstr>
      <vt:lpstr>PowerPoint Presentation</vt:lpstr>
      <vt:lpstr>THE LINEAR SEQUENTIAL MODEL</vt:lpstr>
      <vt:lpstr>The linear sequential model</vt:lpstr>
      <vt:lpstr>PowerPoint Presentation</vt:lpstr>
      <vt:lpstr>PowerPoint Presentation</vt:lpstr>
      <vt:lpstr>Real-World Example: Online Food Delivery System Development </vt:lpstr>
      <vt:lpstr>problems of the linear sequential model </vt:lpstr>
      <vt:lpstr>problems of the linear sequential model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najtena2003@outlook.com</dc:creator>
  <cp:lastModifiedBy>Rami Bahaa</cp:lastModifiedBy>
  <cp:revision>15</cp:revision>
  <dcterms:created xsi:type="dcterms:W3CDTF">2017-10-16T20:17:48Z</dcterms:created>
  <dcterms:modified xsi:type="dcterms:W3CDTF">2026-03-07T08:28:41Z</dcterms:modified>
</cp:coreProperties>
</file>