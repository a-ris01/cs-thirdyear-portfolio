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7" r:id="rId2"/>
    <p:sldId id="258" r:id="rId3"/>
    <p:sldId id="259" r:id="rId4"/>
    <p:sldId id="260" r:id="rId5"/>
    <p:sldId id="261" r:id="rId6"/>
    <p:sldId id="262" r:id="rId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1" d="100"/>
          <a:sy n="81" d="100"/>
        </p:scale>
        <p:origin x="1498" y="53"/>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8" name="Group 17"/>
          <p:cNvGrpSpPr/>
          <p:nvPr/>
        </p:nvGrpSpPr>
        <p:grpSpPr>
          <a:xfrm>
            <a:off x="0" y="0"/>
            <a:ext cx="9144677" cy="6858000"/>
            <a:chOff x="0" y="0"/>
            <a:chExt cx="9144677" cy="6858000"/>
          </a:xfrm>
        </p:grpSpPr>
        <p:pic>
          <p:nvPicPr>
            <p:cNvPr id="8" name="Picture 7" descr="S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1" name="Rectangle 10"/>
            <p:cNvSpPr/>
            <p:nvPr/>
          </p:nvSpPr>
          <p:spPr>
            <a:xfrm>
              <a:off x="1515532" y="1520422"/>
              <a:ext cx="6112935" cy="3818468"/>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2" name="Picture 11"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0" y="3128434"/>
              <a:ext cx="1664208" cy="612648"/>
            </a:xfrm>
            <a:prstGeom prst="rect">
              <a:avLst/>
            </a:prstGeom>
          </p:spPr>
        </p:pic>
        <p:pic>
          <p:nvPicPr>
            <p:cNvPr id="13" name="Picture 12"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7480469" y="3128434"/>
              <a:ext cx="1664208" cy="612648"/>
            </a:xfrm>
            <a:prstGeom prst="rect">
              <a:avLst/>
            </a:prstGeom>
          </p:spPr>
        </p:pic>
      </p:grpSp>
      <p:sp>
        <p:nvSpPr>
          <p:cNvPr id="2" name="Title 1"/>
          <p:cNvSpPr>
            <a:spLocks noGrp="1"/>
          </p:cNvSpPr>
          <p:nvPr>
            <p:ph type="ctrTitle"/>
          </p:nvPr>
        </p:nvSpPr>
        <p:spPr>
          <a:xfrm>
            <a:off x="1921934" y="1811863"/>
            <a:ext cx="5308866" cy="1515533"/>
          </a:xfrm>
        </p:spPr>
        <p:txBody>
          <a:bodyPr anchor="b">
            <a:noAutofit/>
          </a:bodyPr>
          <a:lstStyle>
            <a:lvl1pPr algn="ct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1921934" y="3598327"/>
            <a:ext cx="5308866" cy="1377651"/>
          </a:xfrm>
        </p:spPr>
        <p:txBody>
          <a:bodyPr anchor="t">
            <a:normAutofit/>
          </a:bodyPr>
          <a:lstStyle>
            <a:lvl1pPr marL="0" indent="0" algn="ctr">
              <a:buNone/>
              <a:defRPr sz="20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6065417" y="5054602"/>
            <a:ext cx="673276" cy="279400"/>
          </a:xfrm>
        </p:spPr>
        <p:txBody>
          <a:bodyPr/>
          <a:lstStyle/>
          <a:p>
            <a:fld id="{22726787-A9B3-4162-AEE8-2BAF1785EE5A}" type="datetimeFigureOut">
              <a:rPr lang="en-GB" smtClean="0"/>
              <a:t>18/04/2026</a:t>
            </a:fld>
            <a:endParaRPr lang="en-GB"/>
          </a:p>
        </p:txBody>
      </p:sp>
      <p:sp>
        <p:nvSpPr>
          <p:cNvPr id="5" name="Footer Placeholder 4"/>
          <p:cNvSpPr>
            <a:spLocks noGrp="1"/>
          </p:cNvSpPr>
          <p:nvPr>
            <p:ph type="ftr" sz="quarter" idx="11"/>
          </p:nvPr>
        </p:nvSpPr>
        <p:spPr>
          <a:xfrm>
            <a:off x="1921934" y="5054602"/>
            <a:ext cx="4064860" cy="279400"/>
          </a:xfrm>
        </p:spPr>
        <p:txBody>
          <a:bodyPr/>
          <a:lstStyle/>
          <a:p>
            <a:endParaRPr lang="en-GB"/>
          </a:p>
        </p:txBody>
      </p:sp>
      <p:sp>
        <p:nvSpPr>
          <p:cNvPr id="6" name="Slide Number Placeholder 5"/>
          <p:cNvSpPr>
            <a:spLocks noGrp="1"/>
          </p:cNvSpPr>
          <p:nvPr>
            <p:ph type="sldNum" sz="quarter" idx="12"/>
          </p:nvPr>
        </p:nvSpPr>
        <p:spPr>
          <a:xfrm>
            <a:off x="6817317" y="5054602"/>
            <a:ext cx="413483" cy="279400"/>
          </a:xfrm>
        </p:spPr>
        <p:txBody>
          <a:bodyPr/>
          <a:lstStyle/>
          <a:p>
            <a:fld id="{461A691F-EB85-419C-8648-FA538BE05A6B}" type="slidenum">
              <a:rPr lang="en-GB" smtClean="0"/>
              <a:t>‹#›</a:t>
            </a:fld>
            <a:endParaRPr lang="en-GB"/>
          </a:p>
        </p:txBody>
      </p:sp>
      <p:cxnSp>
        <p:nvCxnSpPr>
          <p:cNvPr id="15" name="Straight Connector 14"/>
          <p:cNvCxnSpPr/>
          <p:nvPr/>
        </p:nvCxnSpPr>
        <p:spPr>
          <a:xfrm>
            <a:off x="2019825" y="3471329"/>
            <a:ext cx="5113083"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164617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278465" y="235626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2726787-A9B3-4162-AEE8-2BAF1785EE5A}" type="datetimeFigureOut">
              <a:rPr lang="en-GB" smtClean="0"/>
              <a:t>18/04/2026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61A691F-EB85-419C-8648-FA538BE05A6B}" type="slidenum">
              <a:rPr lang="en-GB" smtClean="0"/>
              <a:t>‹#›</a:t>
            </a:fld>
            <a:endParaRPr lang="en-GB"/>
          </a:p>
        </p:txBody>
      </p:sp>
    </p:spTree>
    <p:extLst>
      <p:ext uri="{BB962C8B-B14F-4D97-AF65-F5344CB8AC3E}">
        <p14:creationId xmlns:p14="http://schemas.microsoft.com/office/powerpoint/2010/main" val="24580793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78465" y="1641413"/>
            <a:ext cx="6595534" cy="1822514"/>
          </a:xfrm>
        </p:spPr>
        <p:txBody>
          <a:bodyPr anchor="b">
            <a:normAutofit/>
          </a:bodyPr>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78465" y="3734859"/>
            <a:ext cx="6595534" cy="1090015"/>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2726787-A9B3-4162-AEE8-2BAF1785EE5A}" type="datetimeFigureOut">
              <a:rPr lang="en-GB" smtClean="0"/>
              <a:t>18/04/2026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61A691F-EB85-419C-8648-FA538BE05A6B}" type="slidenum">
              <a:rPr lang="en-GB" smtClean="0"/>
              <a:t>‹#›</a:t>
            </a:fld>
            <a:endParaRPr lang="en-GB"/>
          </a:p>
        </p:txBody>
      </p:sp>
      <p:cxnSp>
        <p:nvCxnSpPr>
          <p:cNvPr id="31" name="Straight Connector 30"/>
          <p:cNvCxnSpPr/>
          <p:nvPr/>
        </p:nvCxnSpPr>
        <p:spPr>
          <a:xfrm>
            <a:off x="1278466" y="3599392"/>
            <a:ext cx="6595533"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004660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278465" y="235626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176866" y="915337"/>
            <a:ext cx="6798734" cy="130386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176866" y="2487168"/>
            <a:ext cx="3337560" cy="34472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5152" y="2487168"/>
            <a:ext cx="3337560" cy="34472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2726787-A9B3-4162-AEE8-2BAF1785EE5A}" type="datetimeFigureOut">
              <a:rPr lang="en-GB" smtClean="0"/>
              <a:t>18/04/2026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61A691F-EB85-419C-8648-FA538BE05A6B}" type="slidenum">
              <a:rPr lang="en-GB" smtClean="0"/>
              <a:t>‹#›</a:t>
            </a:fld>
            <a:endParaRPr lang="en-GB"/>
          </a:p>
        </p:txBody>
      </p:sp>
    </p:spTree>
    <p:extLst>
      <p:ext uri="{BB962C8B-B14F-4D97-AF65-F5344CB8AC3E}">
        <p14:creationId xmlns:p14="http://schemas.microsoft.com/office/powerpoint/2010/main" val="8076147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76868"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76868" y="3243263"/>
            <a:ext cx="3337560" cy="270662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1832"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1832" y="3243263"/>
            <a:ext cx="3337560" cy="270662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2726787-A9B3-4162-AEE8-2BAF1785EE5A}" type="datetimeFigureOut">
              <a:rPr lang="en-GB" smtClean="0"/>
              <a:t>18/04/2026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461A691F-EB85-419C-8648-FA538BE05A6B}" type="slidenum">
              <a:rPr lang="en-GB" smtClean="0"/>
              <a:t>‹#›</a:t>
            </a:fld>
            <a:endParaRPr lang="en-GB"/>
          </a:p>
        </p:txBody>
      </p:sp>
      <p:cxnSp>
        <p:nvCxnSpPr>
          <p:cNvPr id="41" name="Straight Connector 40"/>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572915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176865" y="915337"/>
            <a:ext cx="6798735" cy="1303867"/>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2726787-A9B3-4162-AEE8-2BAF1785EE5A}" type="datetimeFigureOut">
              <a:rPr lang="en-GB" smtClean="0"/>
              <a:t>18/04/2026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461A691F-EB85-419C-8648-FA538BE05A6B}" type="slidenum">
              <a:rPr lang="en-GB" smtClean="0"/>
              <a:t>‹#›</a:t>
            </a:fld>
            <a:endParaRPr lang="en-GB"/>
          </a:p>
        </p:txBody>
      </p:sp>
      <p:cxnSp>
        <p:nvCxnSpPr>
          <p:cNvPr id="14" name="Straight Connector 13"/>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682157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2726787-A9B3-4162-AEE8-2BAF1785EE5A}" type="datetimeFigureOut">
              <a:rPr lang="en-GB" smtClean="0"/>
              <a:t>18/04/2026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461A691F-EB85-419C-8648-FA538BE05A6B}" type="slidenum">
              <a:rPr lang="en-GB" smtClean="0"/>
              <a:t>‹#›</a:t>
            </a:fld>
            <a:endParaRPr lang="en-GB"/>
          </a:p>
        </p:txBody>
      </p:sp>
    </p:spTree>
    <p:extLst>
      <p:ext uri="{BB962C8B-B14F-4D97-AF65-F5344CB8AC3E}">
        <p14:creationId xmlns:p14="http://schemas.microsoft.com/office/powerpoint/2010/main" val="17449003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5" y="1388534"/>
            <a:ext cx="2536798"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120062" y="982132"/>
            <a:ext cx="3855539"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76865" y="3031065"/>
            <a:ext cx="2536798"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2726787-A9B3-4162-AEE8-2BAF1785EE5A}" type="datetimeFigureOut">
              <a:rPr lang="en-GB" smtClean="0"/>
              <a:t>18/04/2026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61A691F-EB85-419C-8648-FA538BE05A6B}" type="slidenum">
              <a:rPr lang="en-GB" smtClean="0"/>
              <a:t>‹#›</a:t>
            </a:fld>
            <a:endParaRPr lang="en-GB"/>
          </a:p>
        </p:txBody>
      </p:sp>
      <p:cxnSp>
        <p:nvCxnSpPr>
          <p:cNvPr id="16" name="Straight Connector 15"/>
          <p:cNvCxnSpPr/>
          <p:nvPr/>
        </p:nvCxnSpPr>
        <p:spPr>
          <a:xfrm>
            <a:off x="1278466" y="2912533"/>
            <a:ext cx="233359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0884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5" y="1883832"/>
            <a:ext cx="3632202" cy="1371600"/>
          </a:xfrm>
        </p:spPr>
        <p:txBody>
          <a:bodyPr anchor="b">
            <a:normAutofit/>
          </a:bodyPr>
          <a:lstStyle>
            <a:lvl1pPr algn="ctr">
              <a:defRPr sz="24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5183069" y="1032933"/>
            <a:ext cx="2929463" cy="4792136"/>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76865" y="3255432"/>
            <a:ext cx="3632201" cy="182880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2726787-A9B3-4162-AEE8-2BAF1785EE5A}" type="datetimeFigureOut">
              <a:rPr lang="en-GB" smtClean="0"/>
              <a:t>18/04/2026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61A691F-EB85-419C-8648-FA538BE05A6B}" type="slidenum">
              <a:rPr lang="en-GB" smtClean="0"/>
              <a:t>‹#›</a:t>
            </a:fld>
            <a:endParaRPr lang="en-GB"/>
          </a:p>
        </p:txBody>
      </p:sp>
    </p:spTree>
    <p:extLst>
      <p:ext uri="{BB962C8B-B14F-4D97-AF65-F5344CB8AC3E}">
        <p14:creationId xmlns:p14="http://schemas.microsoft.com/office/powerpoint/2010/main" val="37974533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6" y="4815415"/>
            <a:ext cx="6798734"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26260" y="1032933"/>
            <a:ext cx="7091482" cy="3361269"/>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76866" y="5382153"/>
            <a:ext cx="6798734" cy="493712"/>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2726787-A9B3-4162-AEE8-2BAF1785EE5A}" type="datetimeFigureOut">
              <a:rPr lang="en-GB" smtClean="0"/>
              <a:t>18/04/2026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61A691F-EB85-419C-8648-FA538BE05A6B}" type="slidenum">
              <a:rPr lang="en-GB" smtClean="0"/>
              <a:t>‹#›</a:t>
            </a:fld>
            <a:endParaRPr lang="en-GB"/>
          </a:p>
        </p:txBody>
      </p:sp>
    </p:spTree>
    <p:extLst>
      <p:ext uri="{BB962C8B-B14F-4D97-AF65-F5344CB8AC3E}">
        <p14:creationId xmlns:p14="http://schemas.microsoft.com/office/powerpoint/2010/main" val="15380177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6" y="906873"/>
            <a:ext cx="6798734" cy="309786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76865" y="4275666"/>
            <a:ext cx="6798736" cy="1600202"/>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2726787-A9B3-4162-AEE8-2BAF1785EE5A}" type="datetimeFigureOut">
              <a:rPr lang="en-GB" smtClean="0"/>
              <a:t>18/04/2026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61A691F-EB85-419C-8648-FA538BE05A6B}" type="slidenum">
              <a:rPr lang="en-GB" smtClean="0"/>
              <a:t>‹#›</a:t>
            </a:fld>
            <a:endParaRPr lang="en-GB"/>
          </a:p>
        </p:txBody>
      </p:sp>
      <p:cxnSp>
        <p:nvCxnSpPr>
          <p:cNvPr id="15" name="Straight Connector 14"/>
          <p:cNvCxnSpPr/>
          <p:nvPr/>
        </p:nvCxnSpPr>
        <p:spPr>
          <a:xfrm>
            <a:off x="1278465" y="4140199"/>
            <a:ext cx="6606425"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99978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34333" y="982132"/>
            <a:ext cx="6400250"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00200" y="3352799"/>
            <a:ext cx="5892798" cy="651933"/>
          </a:xfrm>
        </p:spPr>
        <p:txBody>
          <a:bodyPr anchor="ctr">
            <a:normAutofit/>
          </a:bodyPr>
          <a:lstStyle>
            <a:lvl1pPr marL="0" indent="0" algn="r">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76863" y="4343400"/>
            <a:ext cx="6798738"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2726787-A9B3-4162-AEE8-2BAF1785EE5A}" type="datetimeFigureOut">
              <a:rPr lang="en-GB" smtClean="0"/>
              <a:t>18/04/2026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61A691F-EB85-419C-8648-FA538BE05A6B}" type="slidenum">
              <a:rPr lang="en-GB" smtClean="0"/>
              <a:t>‹#›</a:t>
            </a:fld>
            <a:endParaRPr lang="en-GB"/>
          </a:p>
        </p:txBody>
      </p:sp>
      <p:sp>
        <p:nvSpPr>
          <p:cNvPr id="14" name="TextBox 13"/>
          <p:cNvSpPr txBox="1"/>
          <p:nvPr/>
        </p:nvSpPr>
        <p:spPr>
          <a:xfrm>
            <a:off x="849969" y="905362"/>
            <a:ext cx="457319" cy="584776"/>
          </a:xfrm>
          <a:prstGeom prst="rect">
            <a:avLst/>
          </a:prstGeom>
        </p:spPr>
        <p:txBody>
          <a:bodyPr vert="horz" lIns="91440" tIns="45720" rIns="91440" bIns="45720" rtlCol="0" anchor="ctr">
            <a:noAutofit/>
          </a:bodyPr>
          <a:lstStyle/>
          <a:p>
            <a:pPr lvl="0"/>
            <a:r>
              <a:rPr lang="en-US" sz="7200" dirty="0">
                <a:solidFill>
                  <a:schemeClr val="tx1"/>
                </a:solidFill>
                <a:effectLst/>
              </a:rPr>
              <a:t>“</a:t>
            </a:r>
          </a:p>
        </p:txBody>
      </p:sp>
      <p:sp>
        <p:nvSpPr>
          <p:cNvPr id="15" name="TextBox 14"/>
          <p:cNvSpPr txBox="1"/>
          <p:nvPr/>
        </p:nvSpPr>
        <p:spPr>
          <a:xfrm>
            <a:off x="7633503" y="2827870"/>
            <a:ext cx="457319" cy="584776"/>
          </a:xfrm>
          <a:prstGeom prst="rect">
            <a:avLst/>
          </a:prstGeom>
        </p:spPr>
        <p:txBody>
          <a:bodyPr vert="horz" lIns="91440" tIns="45720" rIns="91440" bIns="45720" rtlCol="0" anchor="ctr">
            <a:noAutofit/>
          </a:bodyPr>
          <a:lstStyle/>
          <a:p>
            <a:pPr lvl="0" algn="r"/>
            <a:r>
              <a:rPr lang="en-US" sz="7200" dirty="0">
                <a:solidFill>
                  <a:schemeClr val="tx1"/>
                </a:solidFill>
                <a:effectLst/>
              </a:rPr>
              <a:t>”</a:t>
            </a:r>
          </a:p>
        </p:txBody>
      </p:sp>
      <p:cxnSp>
        <p:nvCxnSpPr>
          <p:cNvPr id="19" name="Straight Connector 18"/>
          <p:cNvCxnSpPr/>
          <p:nvPr/>
        </p:nvCxnSpPr>
        <p:spPr>
          <a:xfrm>
            <a:off x="1278466" y="4140199"/>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818481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76869" y="3308581"/>
            <a:ext cx="679872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76868" y="4777381"/>
            <a:ext cx="6798730" cy="8604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2726787-A9B3-4162-AEE8-2BAF1785EE5A}" type="datetimeFigureOut">
              <a:rPr lang="en-GB" smtClean="0"/>
              <a:t>18/04/2026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61A691F-EB85-419C-8648-FA538BE05A6B}" type="slidenum">
              <a:rPr lang="en-GB" smtClean="0"/>
              <a:t>‹#›</a:t>
            </a:fld>
            <a:endParaRPr lang="en-GB"/>
          </a:p>
        </p:txBody>
      </p:sp>
    </p:spTree>
    <p:extLst>
      <p:ext uri="{BB962C8B-B14F-4D97-AF65-F5344CB8AC3E}">
        <p14:creationId xmlns:p14="http://schemas.microsoft.com/office/powerpoint/2010/main" val="19234570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09416" y="982132"/>
            <a:ext cx="632516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8" name="Text Placeholder 2"/>
          <p:cNvSpPr>
            <a:spLocks noGrp="1"/>
          </p:cNvSpPr>
          <p:nvPr>
            <p:ph type="body" idx="13"/>
          </p:nvPr>
        </p:nvSpPr>
        <p:spPr>
          <a:xfrm>
            <a:off x="1176868" y="3639312"/>
            <a:ext cx="6798730" cy="886968"/>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176865" y="4529667"/>
            <a:ext cx="6798736" cy="1346200"/>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2726787-A9B3-4162-AEE8-2BAF1785EE5A}" type="datetimeFigureOut">
              <a:rPr lang="en-GB" smtClean="0"/>
              <a:t>18/04/2026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61A691F-EB85-419C-8648-FA538BE05A6B}" type="slidenum">
              <a:rPr lang="en-GB" smtClean="0"/>
              <a:t>‹#›</a:t>
            </a:fld>
            <a:endParaRPr lang="en-GB"/>
          </a:p>
        </p:txBody>
      </p:sp>
      <p:sp>
        <p:nvSpPr>
          <p:cNvPr id="12" name="TextBox 11"/>
          <p:cNvSpPr txBox="1"/>
          <p:nvPr/>
        </p:nvSpPr>
        <p:spPr>
          <a:xfrm>
            <a:off x="878060" y="896895"/>
            <a:ext cx="457319"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7649796" y="2607728"/>
            <a:ext cx="457319"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278466" y="342900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251417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76865" y="982131"/>
            <a:ext cx="6798734" cy="2294467"/>
          </a:xfrm>
        </p:spPr>
        <p:txBody>
          <a:bodyPr vert="horz" lIns="91440" tIns="45720" rIns="91440" bIns="45720" rtlCol="0" anchor="ctr">
            <a:normAutofit/>
          </a:bodyPr>
          <a:lstStyle>
            <a:lvl1pPr>
              <a:defRPr lang="en-US" sz="3200" b="0" dirty="0"/>
            </a:lvl1pPr>
          </a:lstStyle>
          <a:p>
            <a:pPr marL="0" lvl="0"/>
            <a:r>
              <a:rPr lang="en-US"/>
              <a:t>Click to edit Master title style</a:t>
            </a:r>
            <a:endParaRPr lang="en-US" dirty="0"/>
          </a:p>
        </p:txBody>
      </p:sp>
      <p:sp>
        <p:nvSpPr>
          <p:cNvPr id="14" name="Text Placeholder 2"/>
          <p:cNvSpPr>
            <a:spLocks noGrp="1"/>
          </p:cNvSpPr>
          <p:nvPr>
            <p:ph type="body" idx="13"/>
          </p:nvPr>
        </p:nvSpPr>
        <p:spPr>
          <a:xfrm>
            <a:off x="1176868" y="3566160"/>
            <a:ext cx="6798730" cy="905256"/>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176866" y="4470400"/>
            <a:ext cx="6798734" cy="1405467"/>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2726787-A9B3-4162-AEE8-2BAF1785EE5A}" type="datetimeFigureOut">
              <a:rPr lang="en-GB" smtClean="0"/>
              <a:t>18/04/2026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61A691F-EB85-419C-8648-FA538BE05A6B}" type="slidenum">
              <a:rPr lang="en-GB" smtClean="0"/>
              <a:t>‹#›</a:t>
            </a:fld>
            <a:endParaRPr lang="en-GB"/>
          </a:p>
        </p:txBody>
      </p:sp>
      <p:cxnSp>
        <p:nvCxnSpPr>
          <p:cNvPr id="15" name="Straight Connector 14"/>
          <p:cNvCxnSpPr/>
          <p:nvPr/>
        </p:nvCxnSpPr>
        <p:spPr>
          <a:xfrm>
            <a:off x="1278469" y="3429000"/>
            <a:ext cx="6606421"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654324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176865" y="2490135"/>
            <a:ext cx="6798736" cy="338573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2726787-A9B3-4162-AEE8-2BAF1785EE5A}" type="datetimeFigureOut">
              <a:rPr lang="en-GB" smtClean="0"/>
              <a:t>18/04/2026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61A691F-EB85-419C-8648-FA538BE05A6B}" type="slidenum">
              <a:rPr lang="en-GB" smtClean="0"/>
              <a:t>‹#›</a:t>
            </a:fld>
            <a:endParaRPr lang="en-GB"/>
          </a:p>
        </p:txBody>
      </p:sp>
      <p:cxnSp>
        <p:nvCxnSpPr>
          <p:cNvPr id="14" name="Straight Connector 13"/>
          <p:cNvCxnSpPr/>
          <p:nvPr/>
        </p:nvCxnSpPr>
        <p:spPr>
          <a:xfrm>
            <a:off x="1278466" y="2354670"/>
            <a:ext cx="660642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889687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356667" y="906873"/>
            <a:ext cx="1618930" cy="496899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76867" y="906873"/>
            <a:ext cx="4915509" cy="496899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2726787-A9B3-4162-AEE8-2BAF1785EE5A}" type="datetimeFigureOut">
              <a:rPr lang="en-GB" smtClean="0"/>
              <a:t>18/04/2026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61A691F-EB85-419C-8648-FA538BE05A6B}" type="slidenum">
              <a:rPr lang="en-GB" smtClean="0"/>
              <a:t>‹#›</a:t>
            </a:fld>
            <a:endParaRPr lang="en-GB"/>
          </a:p>
        </p:txBody>
      </p:sp>
      <p:cxnSp>
        <p:nvCxnSpPr>
          <p:cNvPr id="14" name="Straight Connector 13"/>
          <p:cNvCxnSpPr/>
          <p:nvPr/>
        </p:nvCxnSpPr>
        <p:spPr>
          <a:xfrm>
            <a:off x="6245512" y="906873"/>
            <a:ext cx="0" cy="4968993"/>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587146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0" y="0"/>
            <a:ext cx="9152467" cy="6858000"/>
            <a:chOff x="0" y="0"/>
            <a:chExt cx="9152467" cy="6858000"/>
          </a:xfrm>
        </p:grpSpPr>
        <p:pic>
          <p:nvPicPr>
            <p:cNvPr id="8" name="Picture 7" descr="S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9" name="Rectangle 8"/>
            <p:cNvSpPr/>
            <p:nvPr/>
          </p:nvSpPr>
          <p:spPr>
            <a:xfrm>
              <a:off x="553888" y="542807"/>
              <a:ext cx="8039776" cy="5756392"/>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a:off x="0" y="3128434"/>
              <a:ext cx="68580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a:off x="8466667" y="3128434"/>
              <a:ext cx="685800" cy="606425"/>
            </a:xfrm>
            <a:prstGeom prst="rect">
              <a:avLst/>
            </a:prstGeom>
          </p:spPr>
        </p:pic>
      </p:grpSp>
      <p:sp>
        <p:nvSpPr>
          <p:cNvPr id="2" name="Title Placeholder 1"/>
          <p:cNvSpPr>
            <a:spLocks noGrp="1"/>
          </p:cNvSpPr>
          <p:nvPr>
            <p:ph type="title"/>
          </p:nvPr>
        </p:nvSpPr>
        <p:spPr>
          <a:xfrm>
            <a:off x="1176866" y="915337"/>
            <a:ext cx="6798734"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76865" y="2490135"/>
            <a:ext cx="6798736" cy="3444997"/>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356670" y="5960533"/>
            <a:ext cx="1148283"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22726787-A9B3-4162-AEE8-2BAF1785EE5A}" type="datetimeFigureOut">
              <a:rPr lang="en-GB" smtClean="0"/>
              <a:t>18/04/2026</a:t>
            </a:fld>
            <a:endParaRPr lang="en-GB"/>
          </a:p>
        </p:txBody>
      </p:sp>
      <p:sp>
        <p:nvSpPr>
          <p:cNvPr id="5" name="Footer Placeholder 4"/>
          <p:cNvSpPr>
            <a:spLocks noGrp="1"/>
          </p:cNvSpPr>
          <p:nvPr>
            <p:ph type="ftr" sz="quarter" idx="3"/>
          </p:nvPr>
        </p:nvSpPr>
        <p:spPr>
          <a:xfrm>
            <a:off x="1176865" y="5960533"/>
            <a:ext cx="5104667"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GB"/>
          </a:p>
        </p:txBody>
      </p:sp>
      <p:sp>
        <p:nvSpPr>
          <p:cNvPr id="6" name="Slide Number Placeholder 5"/>
          <p:cNvSpPr>
            <a:spLocks noGrp="1"/>
          </p:cNvSpPr>
          <p:nvPr>
            <p:ph type="sldNum" sz="quarter" idx="4"/>
          </p:nvPr>
        </p:nvSpPr>
        <p:spPr>
          <a:xfrm>
            <a:off x="7580091" y="5960533"/>
            <a:ext cx="39551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461A691F-EB85-419C-8648-FA538BE05A6B}" type="slidenum">
              <a:rPr lang="en-GB" smtClean="0"/>
              <a:t>‹#›</a:t>
            </a:fld>
            <a:endParaRPr lang="en-GB"/>
          </a:p>
        </p:txBody>
      </p:sp>
    </p:spTree>
    <p:extLst>
      <p:ext uri="{BB962C8B-B14F-4D97-AF65-F5344CB8AC3E}">
        <p14:creationId xmlns:p14="http://schemas.microsoft.com/office/powerpoint/2010/main" val="4104982354"/>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Lst>
  <p:txStyles>
    <p:titleStyle>
      <a:lvl1pPr algn="ctr" defTabSz="457200" rtl="0" eaLnBrk="1" latinLnBrk="0" hangingPunct="1">
        <a:spcBef>
          <a:spcPct val="0"/>
        </a:spcBef>
        <a:buNone/>
        <a:defRPr sz="40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ctr"/>
            <a:r>
              <a:rPr lang="en-GB" dirty="0"/>
              <a:t>Software Engineering</a:t>
            </a:r>
          </a:p>
        </p:txBody>
      </p:sp>
      <p:sp>
        <p:nvSpPr>
          <p:cNvPr id="3" name="Subtitle 2"/>
          <p:cNvSpPr>
            <a:spLocks noGrp="1"/>
          </p:cNvSpPr>
          <p:nvPr>
            <p:ph type="subTitle" idx="1"/>
          </p:nvPr>
        </p:nvSpPr>
        <p:spPr/>
        <p:txBody>
          <a:bodyPr/>
          <a:lstStyle/>
          <a:p>
            <a:r>
              <a:rPr lang="en-GB" dirty="0"/>
              <a:t>Lecture </a:t>
            </a:r>
            <a:r>
              <a:rPr lang="en-US" dirty="0"/>
              <a:t>nine</a:t>
            </a:r>
            <a:endParaRPr lang="en-GB" dirty="0"/>
          </a:p>
        </p:txBody>
      </p:sp>
    </p:spTree>
    <p:extLst>
      <p:ext uri="{BB962C8B-B14F-4D97-AF65-F5344CB8AC3E}">
        <p14:creationId xmlns:p14="http://schemas.microsoft.com/office/powerpoint/2010/main" val="13468676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79512" y="548679"/>
            <a:ext cx="8517632" cy="576064"/>
          </a:xfrm>
        </p:spPr>
        <p:txBody>
          <a:bodyPr>
            <a:noAutofit/>
          </a:bodyPr>
          <a:lstStyle/>
          <a:p>
            <a:r>
              <a:rPr lang="en-GB" sz="3600" b="1" dirty="0">
                <a:solidFill>
                  <a:schemeClr val="tx1"/>
                </a:solidFill>
                <a:effectLst/>
                <a:latin typeface="Times New Roman" pitchFamily="18" charset="0"/>
                <a:cs typeface="Times New Roman" pitchFamily="18" charset="0"/>
              </a:rPr>
              <a:t>b) Control structure testing</a:t>
            </a:r>
          </a:p>
        </p:txBody>
      </p:sp>
      <p:sp>
        <p:nvSpPr>
          <p:cNvPr id="2" name="Content Placeholder 1"/>
          <p:cNvSpPr>
            <a:spLocks noGrp="1"/>
          </p:cNvSpPr>
          <p:nvPr>
            <p:ph idx="1"/>
          </p:nvPr>
        </p:nvSpPr>
        <p:spPr>
          <a:xfrm>
            <a:off x="611560" y="1124743"/>
            <a:ext cx="7920880" cy="4968553"/>
          </a:xfrm>
        </p:spPr>
        <p:txBody>
          <a:bodyPr>
            <a:noAutofit/>
          </a:bodyPr>
          <a:lstStyle/>
          <a:p>
            <a:pPr marL="109728" indent="0" algn="just">
              <a:buNone/>
            </a:pPr>
            <a:r>
              <a:rPr lang="en-GB" dirty="0">
                <a:latin typeface="Times New Roman" pitchFamily="18" charset="0"/>
                <a:cs typeface="Times New Roman" pitchFamily="18" charset="0"/>
              </a:rPr>
              <a:t>Control structure testing test the control statements in a program. </a:t>
            </a:r>
          </a:p>
          <a:p>
            <a:pPr marL="109728" indent="0" algn="just">
              <a:buNone/>
            </a:pPr>
            <a:r>
              <a:rPr lang="en-GB" dirty="0">
                <a:latin typeface="Times New Roman" pitchFamily="18" charset="0"/>
                <a:cs typeface="Times New Roman" pitchFamily="18" charset="0"/>
              </a:rPr>
              <a:t>-</a:t>
            </a:r>
            <a:r>
              <a:rPr lang="en-GB" b="1" dirty="0">
                <a:latin typeface="Times New Roman" pitchFamily="18" charset="0"/>
                <a:cs typeface="Times New Roman" pitchFamily="18" charset="0"/>
              </a:rPr>
              <a:t>condition testing </a:t>
            </a:r>
            <a:r>
              <a:rPr lang="en-GB" dirty="0">
                <a:latin typeface="Times New Roman" pitchFamily="18" charset="0"/>
                <a:cs typeface="Times New Roman" pitchFamily="18" charset="0"/>
              </a:rPr>
              <a:t>it is a method of testing design that on the logical conditions of a module. A condition can be: simple, composed, Boolean, or relational. The condition testing strategies include:</a:t>
            </a:r>
          </a:p>
          <a:p>
            <a:pPr marL="109728" indent="0" algn="just">
              <a:buNone/>
            </a:pPr>
            <a:r>
              <a:rPr lang="en-GB" b="1" dirty="0">
                <a:latin typeface="Times New Roman" pitchFamily="18" charset="0"/>
                <a:cs typeface="Times New Roman" pitchFamily="18" charset="0"/>
              </a:rPr>
              <a:t>a-Branch testing: </a:t>
            </a:r>
            <a:r>
              <a:rPr lang="en-GB" dirty="0">
                <a:latin typeface="Times New Roman" pitchFamily="18" charset="0"/>
                <a:cs typeface="Times New Roman" pitchFamily="18" charset="0"/>
              </a:rPr>
              <a:t>it is the strategy of the simplest condition tests. For a composed condition, it is necessary to test the True and the False for every branch at least once, for example:</a:t>
            </a:r>
          </a:p>
          <a:p>
            <a:pPr marL="109728" indent="0" algn="just">
              <a:lnSpc>
                <a:spcPts val="2160"/>
              </a:lnSpc>
              <a:buNone/>
            </a:pPr>
            <a:r>
              <a:rPr lang="en-GB" sz="1800" b="1" dirty="0">
                <a:latin typeface="Simplified Arabic Fixed" pitchFamily="49" charset="-78"/>
                <a:cs typeface="Simplified Arabic Fixed" pitchFamily="49" charset="-78"/>
              </a:rPr>
              <a:t>If </a:t>
            </a:r>
            <a:r>
              <a:rPr lang="en-GB" sz="1800" b="1" dirty="0">
                <a:latin typeface="Times New Roman" pitchFamily="18" charset="0"/>
                <a:cs typeface="Times New Roman" pitchFamily="18" charset="0"/>
              </a:rPr>
              <a:t>c=1</a:t>
            </a:r>
            <a:r>
              <a:rPr lang="en-GB" sz="1800" b="1" dirty="0">
                <a:latin typeface="Simplified Arabic Fixed" pitchFamily="49" charset="-78"/>
                <a:cs typeface="Simplified Arabic Fixed" pitchFamily="49" charset="-78"/>
              </a:rPr>
              <a:t> then</a:t>
            </a:r>
          </a:p>
          <a:p>
            <a:pPr marL="109728" indent="0" algn="just">
              <a:lnSpc>
                <a:spcPts val="2160"/>
              </a:lnSpc>
              <a:buNone/>
            </a:pPr>
            <a:r>
              <a:rPr lang="en-GB" sz="1800" b="1" dirty="0">
                <a:latin typeface="Simplified Arabic Fixed" pitchFamily="49" charset="-78"/>
                <a:cs typeface="Simplified Arabic Fixed" pitchFamily="49" charset="-78"/>
              </a:rPr>
              <a:t>	Statement 1</a:t>
            </a:r>
          </a:p>
          <a:p>
            <a:pPr marL="109728" indent="0" algn="just">
              <a:lnSpc>
                <a:spcPts val="2160"/>
              </a:lnSpc>
              <a:buNone/>
            </a:pPr>
            <a:r>
              <a:rPr lang="en-GB" sz="1800" b="1" dirty="0">
                <a:latin typeface="Simplified Arabic Fixed" pitchFamily="49" charset="-78"/>
                <a:cs typeface="Simplified Arabic Fixed" pitchFamily="49" charset="-78"/>
              </a:rPr>
              <a:t>Else</a:t>
            </a:r>
          </a:p>
          <a:p>
            <a:pPr marL="109728" indent="0" algn="just">
              <a:lnSpc>
                <a:spcPts val="2160"/>
              </a:lnSpc>
              <a:buNone/>
            </a:pPr>
            <a:r>
              <a:rPr lang="en-GB" sz="1800" b="1" dirty="0">
                <a:latin typeface="Simplified Arabic Fixed" pitchFamily="49" charset="-78"/>
                <a:cs typeface="Simplified Arabic Fixed" pitchFamily="49" charset="-78"/>
              </a:rPr>
              <a:t>	Statement 2</a:t>
            </a:r>
          </a:p>
          <a:p>
            <a:pPr marL="109728" indent="0" algn="just">
              <a:lnSpc>
                <a:spcPts val="2160"/>
              </a:lnSpc>
              <a:buNone/>
            </a:pPr>
            <a:r>
              <a:rPr lang="en-GB" sz="1800" b="1" dirty="0">
                <a:latin typeface="Simplified Arabic Fixed" pitchFamily="49" charset="-78"/>
                <a:cs typeface="Simplified Arabic Fixed" pitchFamily="49" charset="-78"/>
              </a:rPr>
              <a:t>End if </a:t>
            </a:r>
          </a:p>
        </p:txBody>
      </p:sp>
    </p:spTree>
    <p:extLst>
      <p:ext uri="{BB962C8B-B14F-4D97-AF65-F5344CB8AC3E}">
        <p14:creationId xmlns:p14="http://schemas.microsoft.com/office/powerpoint/2010/main" val="29387254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683568" y="620688"/>
            <a:ext cx="7704856" cy="5631904"/>
          </a:xfrm>
        </p:spPr>
        <p:txBody>
          <a:bodyPr>
            <a:normAutofit lnSpcReduction="10000"/>
          </a:bodyPr>
          <a:lstStyle/>
          <a:p>
            <a:pPr marL="0" indent="0" algn="just">
              <a:buNone/>
            </a:pPr>
            <a:r>
              <a:rPr lang="en-GB" b="1" dirty="0">
                <a:latin typeface="Times New Roman" pitchFamily="18" charset="0"/>
                <a:cs typeface="Times New Roman" pitchFamily="18" charset="0"/>
              </a:rPr>
              <a:t>b-domain testing </a:t>
            </a:r>
            <a:r>
              <a:rPr lang="en-GB" dirty="0">
                <a:latin typeface="Times New Roman" pitchFamily="18" charset="0"/>
                <a:cs typeface="Times New Roman" pitchFamily="18" charset="0"/>
              </a:rPr>
              <a:t>:this strategy requires three or four tests for very relational expression while testing all possible cases of the control structure(&lt;,&gt; or =) for example:</a:t>
            </a:r>
          </a:p>
          <a:p>
            <a:pPr marL="0" indent="0" algn="just">
              <a:buNone/>
            </a:pPr>
            <a:r>
              <a:rPr lang="en-GB" dirty="0">
                <a:latin typeface="Times New Roman" pitchFamily="18" charset="0"/>
                <a:cs typeface="Times New Roman" pitchFamily="18" charset="0"/>
              </a:rPr>
              <a:t>E1(rational operator)E2</a:t>
            </a:r>
          </a:p>
          <a:p>
            <a:pPr marL="0" indent="0" algn="just">
              <a:buNone/>
            </a:pPr>
            <a:r>
              <a:rPr lang="en-GB" dirty="0">
                <a:latin typeface="Times New Roman" pitchFamily="18" charset="0"/>
                <a:cs typeface="Times New Roman" pitchFamily="18" charset="0"/>
              </a:rPr>
              <a:t>Tests are:E1&gt;E2,E1=E2,E1&lt;E2</a:t>
            </a:r>
          </a:p>
          <a:p>
            <a:pPr marL="0" indent="0" algn="just">
              <a:buNone/>
            </a:pPr>
            <a:endParaRPr lang="en-GB" b="1" dirty="0">
              <a:latin typeface="Times New Roman" pitchFamily="18" charset="0"/>
              <a:cs typeface="Times New Roman" pitchFamily="18" charset="0"/>
            </a:endParaRPr>
          </a:p>
          <a:p>
            <a:pPr marL="0" indent="0" algn="just">
              <a:buNone/>
            </a:pPr>
            <a:r>
              <a:rPr lang="en-GB" b="1" dirty="0">
                <a:latin typeface="Times New Roman" pitchFamily="18" charset="0"/>
                <a:cs typeface="Times New Roman" pitchFamily="18" charset="0"/>
              </a:rPr>
              <a:t>c-Path testing:</a:t>
            </a:r>
          </a:p>
          <a:p>
            <a:pPr marL="0" indent="0" algn="just">
              <a:buNone/>
            </a:pPr>
            <a:r>
              <a:rPr lang="en-GB" dirty="0">
                <a:latin typeface="Times New Roman" pitchFamily="18" charset="0"/>
                <a:cs typeface="Times New Roman" pitchFamily="18" charset="0"/>
              </a:rPr>
              <a:t>In this the test case is executed in such a way that every path is executed at least once. All possible control paths taken, including all loop paths taken zero, once, and multiple (ideally, maximum) items in path testing technique, the test cases are prepared based on the logical complexity measure of a procedural design. In this type of testing every statement in the program is guaranteed to be executed at least one time. </a:t>
            </a:r>
          </a:p>
        </p:txBody>
      </p:sp>
    </p:spTree>
    <p:extLst>
      <p:ext uri="{BB962C8B-B14F-4D97-AF65-F5344CB8AC3E}">
        <p14:creationId xmlns:p14="http://schemas.microsoft.com/office/powerpoint/2010/main" val="32082792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11560" y="548680"/>
            <a:ext cx="8280920" cy="6309320"/>
          </a:xfrm>
        </p:spPr>
        <p:txBody>
          <a:bodyPr>
            <a:noAutofit/>
          </a:bodyPr>
          <a:lstStyle/>
          <a:p>
            <a:pPr marL="0" indent="0">
              <a:buNone/>
            </a:pPr>
            <a:r>
              <a:rPr lang="en-GB" sz="2000" b="1" dirty="0">
                <a:solidFill>
                  <a:srgbClr val="444444"/>
                </a:solidFill>
                <a:latin typeface="georgia"/>
              </a:rPr>
              <a:t>Example:</a:t>
            </a:r>
          </a:p>
          <a:p>
            <a:pPr marL="0" indent="0">
              <a:buNone/>
            </a:pPr>
            <a:r>
              <a:rPr lang="en-GB" sz="2000" dirty="0">
                <a:solidFill>
                  <a:srgbClr val="444444"/>
                </a:solidFill>
                <a:latin typeface="georgia"/>
              </a:rPr>
              <a:t>Read P </a:t>
            </a:r>
          </a:p>
          <a:p>
            <a:pPr marL="0" indent="0">
              <a:buNone/>
            </a:pPr>
            <a:r>
              <a:rPr lang="en-GB" sz="2000" dirty="0">
                <a:solidFill>
                  <a:srgbClr val="444444"/>
                </a:solidFill>
                <a:latin typeface="georgia"/>
              </a:rPr>
              <a:t>Read Q </a:t>
            </a:r>
          </a:p>
          <a:p>
            <a:pPr marL="0" indent="0">
              <a:buNone/>
            </a:pPr>
            <a:r>
              <a:rPr lang="en-GB" sz="2000" dirty="0">
                <a:solidFill>
                  <a:srgbClr val="444444"/>
                </a:solidFill>
                <a:latin typeface="georgia"/>
              </a:rPr>
              <a:t>IF P+Q &gt; 100 THEN </a:t>
            </a:r>
          </a:p>
          <a:p>
            <a:pPr marL="0" indent="0">
              <a:buNone/>
            </a:pPr>
            <a:r>
              <a:rPr lang="en-GB" sz="2000" dirty="0">
                <a:solidFill>
                  <a:srgbClr val="444444"/>
                </a:solidFill>
                <a:latin typeface="georgia"/>
              </a:rPr>
              <a:t>Print “Large” </a:t>
            </a:r>
          </a:p>
          <a:p>
            <a:pPr marL="0" indent="0">
              <a:buNone/>
            </a:pPr>
            <a:r>
              <a:rPr lang="en-GB" sz="2000" dirty="0">
                <a:solidFill>
                  <a:srgbClr val="444444"/>
                </a:solidFill>
                <a:latin typeface="georgia"/>
              </a:rPr>
              <a:t>ENDIF </a:t>
            </a:r>
          </a:p>
          <a:p>
            <a:pPr marL="0" indent="0">
              <a:buNone/>
            </a:pPr>
            <a:r>
              <a:rPr lang="en-GB" sz="2000" dirty="0">
                <a:solidFill>
                  <a:srgbClr val="444444"/>
                </a:solidFill>
                <a:latin typeface="georgia"/>
              </a:rPr>
              <a:t>If P &gt; 50 THEN </a:t>
            </a:r>
          </a:p>
          <a:p>
            <a:pPr marL="0" indent="0">
              <a:buNone/>
            </a:pPr>
            <a:r>
              <a:rPr lang="en-GB" sz="2000" dirty="0">
                <a:solidFill>
                  <a:srgbClr val="444444"/>
                </a:solidFill>
                <a:latin typeface="georgia"/>
              </a:rPr>
              <a:t>Print “P Large” </a:t>
            </a:r>
          </a:p>
          <a:p>
            <a:pPr marL="0" indent="0">
              <a:buNone/>
            </a:pPr>
            <a:r>
              <a:rPr lang="en-GB" sz="2000" dirty="0">
                <a:solidFill>
                  <a:srgbClr val="444444"/>
                </a:solidFill>
                <a:latin typeface="georgia"/>
              </a:rPr>
              <a:t>ENDIF</a:t>
            </a:r>
            <a:endParaRPr lang="en-GB" sz="2000" b="0" i="0" dirty="0">
              <a:solidFill>
                <a:srgbClr val="444444"/>
              </a:solidFill>
              <a:effectLst/>
              <a:latin typeface="georgia"/>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87824" y="0"/>
            <a:ext cx="5940152"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090426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p:cNvSpPr>
            <a:spLocks noChangeArrowheads="1"/>
          </p:cNvSpPr>
          <p:nvPr/>
        </p:nvSpPr>
        <p:spPr bwMode="auto">
          <a:xfrm>
            <a:off x="755576" y="-947530"/>
            <a:ext cx="7848872" cy="72635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dirty="0">
              <a:ln>
                <a:noFill/>
              </a:ln>
              <a:solidFill>
                <a:srgbClr val="444444"/>
              </a:solidFill>
              <a:effectLst/>
              <a:latin typeface="Times New Roman" pitchFamily="18" charset="0"/>
              <a:cs typeface="Times New Roman" pitchFamily="18" charset="0"/>
            </a:endParaRPr>
          </a:p>
          <a:p>
            <a:pPr marL="0" marR="0" lvl="0" indent="0" algn="just" defTabSz="914400" rtl="0" eaLnBrk="1" fontAlgn="base" latinLnBrk="0" hangingPunct="1">
              <a:lnSpc>
                <a:spcPct val="100000"/>
              </a:lnSpc>
              <a:spcBef>
                <a:spcPct val="0"/>
              </a:spcBef>
              <a:spcAft>
                <a:spcPct val="0"/>
              </a:spcAft>
              <a:buClrTx/>
              <a:buSzTx/>
              <a:buFontTx/>
              <a:buNone/>
              <a:tabLst/>
            </a:pPr>
            <a:endParaRPr lang="en-US" sz="2000" b="1" dirty="0">
              <a:solidFill>
                <a:srgbClr val="444444"/>
              </a:solidFill>
              <a:latin typeface="Times New Roman" pitchFamily="18" charset="0"/>
              <a:cs typeface="Times New Roman" pitchFamily="18" charset="0"/>
            </a:endParaRPr>
          </a:p>
          <a:p>
            <a:pPr marL="0" marR="0" lvl="0" indent="0" algn="just"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dirty="0">
              <a:ln>
                <a:noFill/>
              </a:ln>
              <a:solidFill>
                <a:srgbClr val="444444"/>
              </a:solidFill>
              <a:effectLst/>
              <a:latin typeface="Times New Roman" pitchFamily="18" charset="0"/>
              <a:cs typeface="Times New Roman" pitchFamily="18" charset="0"/>
            </a:endParaRPr>
          </a:p>
          <a:p>
            <a:pPr marL="0" marR="0" lvl="0" indent="0" algn="just"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dirty="0">
              <a:ln>
                <a:noFill/>
              </a:ln>
              <a:solidFill>
                <a:srgbClr val="444444"/>
              </a:solidFill>
              <a:effectLst/>
              <a:latin typeface="Times New Roman" pitchFamily="18" charset="0"/>
              <a:cs typeface="Times New Roman" pitchFamily="18" charset="0"/>
            </a:endParaRPr>
          </a:p>
          <a:p>
            <a:pPr marL="0" marR="0" lvl="0" indent="0" algn="just" defTabSz="914400" rtl="0" eaLnBrk="1" fontAlgn="base" latinLnBrk="0" hangingPunct="1">
              <a:lnSpc>
                <a:spcPct val="100000"/>
              </a:lnSpc>
              <a:spcBef>
                <a:spcPct val="0"/>
              </a:spcBef>
              <a:spcAft>
                <a:spcPct val="0"/>
              </a:spcAft>
              <a:buClrTx/>
              <a:buSzTx/>
              <a:buFontTx/>
              <a:buNone/>
              <a:tabLst/>
            </a:pPr>
            <a:endParaRPr lang="en-US" sz="2000" b="1" dirty="0">
              <a:solidFill>
                <a:srgbClr val="444444"/>
              </a:solidFill>
              <a:latin typeface="Times New Roman" pitchFamily="18" charset="0"/>
              <a:cs typeface="Times New Roman" pitchFamily="18" charset="0"/>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a:ln>
                  <a:noFill/>
                </a:ln>
                <a:solidFill>
                  <a:srgbClr val="444444"/>
                </a:solidFill>
                <a:effectLst/>
                <a:latin typeface="Times New Roman" pitchFamily="18" charset="0"/>
                <a:cs typeface="Times New Roman" pitchFamily="18" charset="0"/>
              </a:rPr>
              <a:t>Statement testin</a:t>
            </a:r>
            <a:r>
              <a:rPr lang="en-US" sz="2400" b="1" dirty="0">
                <a:solidFill>
                  <a:srgbClr val="444444"/>
                </a:solidFill>
                <a:latin typeface="Times New Roman" pitchFamily="18" charset="0"/>
                <a:cs typeface="Times New Roman" pitchFamily="18" charset="0"/>
              </a:rPr>
              <a:t>g</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100" b="0" i="0" u="none" strike="noStrike" cap="none" normalizeH="0" baseline="0" dirty="0">
                <a:ln>
                  <a:noFill/>
                </a:ln>
                <a:solidFill>
                  <a:srgbClr val="444444"/>
                </a:solidFill>
                <a:effectLst/>
                <a:latin typeface="Times New Roman" pitchFamily="18" charset="0"/>
                <a:cs typeface="Times New Roman" pitchFamily="18" charset="0"/>
              </a:rPr>
              <a:t>To calculate Statement  testing, find out the shortest number of paths following which all the nodes will be covered. Here by traversing through path 1A-2C-3D-E-4G-5H all the nodes are covered. So by traveling through only one path all the nodes 12345 are covered, so the Statement coverage in this case is 1.</a:t>
            </a:r>
            <a:endParaRPr kumimoji="0" lang="en-US" sz="21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dirty="0">
              <a:ln>
                <a:noFill/>
              </a:ln>
              <a:solidFill>
                <a:srgbClr val="444444"/>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dirty="0">
                <a:ln>
                  <a:noFill/>
                </a:ln>
                <a:solidFill>
                  <a:srgbClr val="444444"/>
                </a:solidFill>
                <a:effectLst/>
                <a:latin typeface="Times New Roman" pitchFamily="18" charset="0"/>
                <a:cs typeface="Times New Roman" pitchFamily="18" charset="0"/>
              </a:rPr>
              <a:t>domain testing</a:t>
            </a:r>
            <a:endParaRPr kumimoji="0" lang="en-US" sz="24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100" b="0" i="0" u="none" strike="noStrike" cap="none" normalizeH="0" baseline="0" dirty="0">
                <a:ln>
                  <a:noFill/>
                </a:ln>
                <a:solidFill>
                  <a:srgbClr val="444444"/>
                </a:solidFill>
                <a:effectLst/>
                <a:latin typeface="Times New Roman" pitchFamily="18" charset="0"/>
                <a:cs typeface="Times New Roman" pitchFamily="18" charset="0"/>
              </a:rPr>
              <a:t>To calculate domain  testing, find out the minimum number of paths which will ensure covering of all the edges. In this case there is no single path which will ensure coverage of  all the edges  at one go.  By following paths 1A-2C-3D-E-4G-5H, maximum  numbers of edges (A, C, D, E, G and H) are covered but edges B and F are left. To covers these edges we 3 can follow  1A-2B-E-4F. By the combining the above two paths we can ensure of traveling through all the paths. Hence Branch Coverage is 2. The aim is to cover all possible true/false decisions.</a:t>
            </a:r>
            <a:endParaRPr kumimoji="0" lang="en-US" sz="2100" b="0" i="0" u="none" strike="noStrike" cap="none" normalizeH="0" baseline="0" dirty="0">
              <a:ln>
                <a:noFill/>
              </a:ln>
              <a:solidFill>
                <a:schemeClr val="tx1"/>
              </a:solidFill>
              <a:effectLst/>
              <a:latin typeface="Times New Roman" pitchFamily="18" charset="0"/>
              <a:cs typeface="Times New Roman" pitchFamily="18" charset="0"/>
            </a:endParaRPr>
          </a:p>
        </p:txBody>
      </p:sp>
    </p:spTree>
    <p:extLst>
      <p:ext uri="{BB962C8B-B14F-4D97-AF65-F5344CB8AC3E}">
        <p14:creationId xmlns:p14="http://schemas.microsoft.com/office/powerpoint/2010/main" val="23465224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76865" y="1484784"/>
            <a:ext cx="6798736" cy="4680520"/>
          </a:xfrm>
        </p:spPr>
        <p:txBody>
          <a:bodyPr>
            <a:normAutofit/>
          </a:bodyPr>
          <a:lstStyle/>
          <a:p>
            <a:pPr marL="0" lvl="0" indent="0" algn="just" eaLnBrk="0" fontAlgn="base" hangingPunct="0">
              <a:spcBef>
                <a:spcPct val="0"/>
              </a:spcBef>
              <a:spcAft>
                <a:spcPct val="0"/>
              </a:spcAft>
              <a:buClrTx/>
              <a:buSzTx/>
              <a:buNone/>
            </a:pPr>
            <a:r>
              <a:rPr lang="en-US" sz="2800" b="1" dirty="0">
                <a:solidFill>
                  <a:srgbClr val="444444"/>
                </a:solidFill>
                <a:latin typeface="Times New Roman" pitchFamily="18" charset="0"/>
                <a:cs typeface="Times New Roman" pitchFamily="18" charset="0"/>
              </a:rPr>
              <a:t>Path testing</a:t>
            </a:r>
          </a:p>
          <a:p>
            <a:pPr marL="0" lvl="0" indent="0" algn="just" eaLnBrk="0" fontAlgn="base" hangingPunct="0">
              <a:spcBef>
                <a:spcPct val="0"/>
              </a:spcBef>
              <a:spcAft>
                <a:spcPct val="0"/>
              </a:spcAft>
              <a:buClrTx/>
              <a:buSzTx/>
              <a:buNone/>
            </a:pPr>
            <a:endParaRPr lang="en-US" sz="2800" b="1" dirty="0">
              <a:latin typeface="Times New Roman" pitchFamily="18" charset="0"/>
              <a:cs typeface="Times New Roman" pitchFamily="18" charset="0"/>
            </a:endParaRPr>
          </a:p>
          <a:p>
            <a:pPr marL="0" lvl="0" indent="0" algn="just" eaLnBrk="0" fontAlgn="base" hangingPunct="0">
              <a:spcBef>
                <a:spcPct val="0"/>
              </a:spcBef>
              <a:spcAft>
                <a:spcPct val="0"/>
              </a:spcAft>
              <a:buClrTx/>
              <a:buSzTx/>
              <a:buNone/>
            </a:pPr>
            <a:r>
              <a:rPr lang="en-US" sz="2800" dirty="0">
                <a:solidFill>
                  <a:srgbClr val="444444"/>
                </a:solidFill>
                <a:latin typeface="Times New Roman" pitchFamily="18" charset="0"/>
                <a:cs typeface="Times New Roman" pitchFamily="18" charset="0"/>
              </a:rPr>
              <a:t>Path testing ensures covering of all the paths from start to end.</a:t>
            </a:r>
            <a:endParaRPr lang="en-US" sz="2800" dirty="0">
              <a:latin typeface="Times New Roman" pitchFamily="18" charset="0"/>
              <a:cs typeface="Times New Roman" pitchFamily="18" charset="0"/>
            </a:endParaRPr>
          </a:p>
          <a:p>
            <a:pPr marL="0" lvl="0" indent="0" algn="just" eaLnBrk="0" fontAlgn="base" hangingPunct="0">
              <a:spcBef>
                <a:spcPct val="0"/>
              </a:spcBef>
              <a:spcAft>
                <a:spcPct val="0"/>
              </a:spcAft>
              <a:buClrTx/>
              <a:buSzTx/>
              <a:buNone/>
            </a:pPr>
            <a:r>
              <a:rPr lang="en-US" sz="2800" dirty="0">
                <a:solidFill>
                  <a:srgbClr val="444444"/>
                </a:solidFill>
                <a:latin typeface="Times New Roman" pitchFamily="18" charset="0"/>
                <a:cs typeface="Times New Roman" pitchFamily="18" charset="0"/>
              </a:rPr>
              <a:t>All possible paths are-</a:t>
            </a:r>
            <a:endParaRPr lang="en-US" sz="2800" dirty="0">
              <a:latin typeface="Times New Roman" pitchFamily="18" charset="0"/>
              <a:cs typeface="Times New Roman" pitchFamily="18" charset="0"/>
            </a:endParaRPr>
          </a:p>
          <a:p>
            <a:pPr marL="0" lvl="0" indent="0" algn="just" eaLnBrk="0" fontAlgn="base" hangingPunct="0">
              <a:spcBef>
                <a:spcPct val="0"/>
              </a:spcBef>
              <a:spcAft>
                <a:spcPct val="0"/>
              </a:spcAft>
              <a:buClrTx/>
              <a:buSzTx/>
              <a:buNone/>
            </a:pPr>
            <a:r>
              <a:rPr lang="en-US" sz="2800" dirty="0">
                <a:solidFill>
                  <a:srgbClr val="444444"/>
                </a:solidFill>
                <a:latin typeface="Times New Roman" pitchFamily="18" charset="0"/>
                <a:cs typeface="Times New Roman" pitchFamily="18" charset="0"/>
              </a:rPr>
              <a:t>1A-2B-E-4F</a:t>
            </a:r>
            <a:endParaRPr lang="en-US" sz="2800" dirty="0">
              <a:latin typeface="Times New Roman" pitchFamily="18" charset="0"/>
              <a:cs typeface="Times New Roman" pitchFamily="18" charset="0"/>
            </a:endParaRPr>
          </a:p>
          <a:p>
            <a:pPr marL="0" lvl="0" indent="0" algn="just" eaLnBrk="0" fontAlgn="base" hangingPunct="0">
              <a:spcBef>
                <a:spcPct val="0"/>
              </a:spcBef>
              <a:spcAft>
                <a:spcPct val="0"/>
              </a:spcAft>
              <a:buClrTx/>
              <a:buSzTx/>
              <a:buNone/>
            </a:pPr>
            <a:r>
              <a:rPr lang="en-US" sz="2800" dirty="0">
                <a:solidFill>
                  <a:srgbClr val="444444"/>
                </a:solidFill>
                <a:latin typeface="Times New Roman" pitchFamily="18" charset="0"/>
                <a:cs typeface="Times New Roman" pitchFamily="18" charset="0"/>
              </a:rPr>
              <a:t>1A-2B-E-4G-5H</a:t>
            </a:r>
            <a:endParaRPr lang="en-US" sz="2800" dirty="0">
              <a:latin typeface="Times New Roman" pitchFamily="18" charset="0"/>
              <a:cs typeface="Times New Roman" pitchFamily="18" charset="0"/>
            </a:endParaRPr>
          </a:p>
          <a:p>
            <a:pPr marL="0" lvl="0" indent="0" algn="just" eaLnBrk="0" fontAlgn="base" hangingPunct="0">
              <a:spcBef>
                <a:spcPct val="0"/>
              </a:spcBef>
              <a:spcAft>
                <a:spcPct val="0"/>
              </a:spcAft>
              <a:buClrTx/>
              <a:buSzTx/>
              <a:buNone/>
            </a:pPr>
            <a:r>
              <a:rPr lang="en-US" sz="2800" dirty="0">
                <a:solidFill>
                  <a:srgbClr val="444444"/>
                </a:solidFill>
                <a:latin typeface="Times New Roman" pitchFamily="18" charset="0"/>
                <a:cs typeface="Times New Roman" pitchFamily="18" charset="0"/>
              </a:rPr>
              <a:t>1A-2C-3D-E-4G-5H</a:t>
            </a:r>
            <a:endParaRPr lang="en-US" sz="2800" dirty="0">
              <a:latin typeface="Times New Roman" pitchFamily="18" charset="0"/>
              <a:cs typeface="Times New Roman" pitchFamily="18" charset="0"/>
            </a:endParaRPr>
          </a:p>
          <a:p>
            <a:pPr marL="0" lvl="0" indent="0" algn="just" eaLnBrk="0" fontAlgn="base" hangingPunct="0">
              <a:spcBef>
                <a:spcPct val="0"/>
              </a:spcBef>
              <a:spcAft>
                <a:spcPct val="0"/>
              </a:spcAft>
              <a:buClrTx/>
              <a:buSzTx/>
              <a:buNone/>
            </a:pPr>
            <a:r>
              <a:rPr lang="en-US" sz="2800" dirty="0">
                <a:solidFill>
                  <a:srgbClr val="444444"/>
                </a:solidFill>
                <a:latin typeface="Times New Roman" pitchFamily="18" charset="0"/>
                <a:cs typeface="Times New Roman" pitchFamily="18" charset="0"/>
              </a:rPr>
              <a:t>1A-2C-3D-E-4F</a:t>
            </a:r>
            <a:endParaRPr lang="en-US" sz="2800" dirty="0">
              <a:latin typeface="Times New Roman" pitchFamily="18" charset="0"/>
              <a:cs typeface="Times New Roman" pitchFamily="18" charset="0"/>
            </a:endParaRPr>
          </a:p>
          <a:p>
            <a:pPr marL="0" lvl="0" indent="0" algn="just" eaLnBrk="0" fontAlgn="base" hangingPunct="0">
              <a:spcBef>
                <a:spcPct val="0"/>
              </a:spcBef>
              <a:spcAft>
                <a:spcPct val="0"/>
              </a:spcAft>
              <a:buClrTx/>
              <a:buSzTx/>
              <a:buNone/>
            </a:pPr>
            <a:r>
              <a:rPr lang="en-US" sz="2800" dirty="0">
                <a:solidFill>
                  <a:srgbClr val="444444"/>
                </a:solidFill>
                <a:latin typeface="Times New Roman" pitchFamily="18" charset="0"/>
                <a:cs typeface="Times New Roman" pitchFamily="18" charset="0"/>
              </a:rPr>
              <a:t>So path coverage is 4.</a:t>
            </a:r>
            <a:endParaRPr lang="en-US" sz="2800" dirty="0">
              <a:latin typeface="Times New Roman" pitchFamily="18" charset="0"/>
              <a:cs typeface="Times New Roman" pitchFamily="18" charset="0"/>
            </a:endParaRPr>
          </a:p>
          <a:p>
            <a:endParaRPr lang="en-US" dirty="0"/>
          </a:p>
        </p:txBody>
      </p:sp>
    </p:spTree>
    <p:extLst>
      <p:ext uri="{BB962C8B-B14F-4D97-AF65-F5344CB8AC3E}">
        <p14:creationId xmlns:p14="http://schemas.microsoft.com/office/powerpoint/2010/main" val="3696438983"/>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rotWithShape="1">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6409</TotalTime>
  <Words>484</Words>
  <Application>Microsoft Office PowerPoint</Application>
  <PresentationFormat>On-screen Show (4:3)</PresentationFormat>
  <Paragraphs>45</Paragraphs>
  <Slides>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Arial</vt:lpstr>
      <vt:lpstr>Garamond</vt:lpstr>
      <vt:lpstr>Georgia</vt:lpstr>
      <vt:lpstr>Simplified Arabic Fixed</vt:lpstr>
      <vt:lpstr>Times New Roman</vt:lpstr>
      <vt:lpstr>Organic</vt:lpstr>
      <vt:lpstr>Software Engineering</vt:lpstr>
      <vt:lpstr>b) Control structure testing</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Engineering</dc:title>
  <dc:creator>najtena2003@outlook.com</dc:creator>
  <cp:lastModifiedBy>Rami Bahaa</cp:lastModifiedBy>
  <cp:revision>27</cp:revision>
  <dcterms:created xsi:type="dcterms:W3CDTF">2017-12-03T21:45:50Z</dcterms:created>
  <dcterms:modified xsi:type="dcterms:W3CDTF">2026-04-18T19:05:10Z</dcterms:modified>
</cp:coreProperties>
</file>