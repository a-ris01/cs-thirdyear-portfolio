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7" r:id="rId12"/>
    <p:sldId id="268" r:id="rId13"/>
    <p:sldId id="266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29BB039-9869-4010-BC9E-D9E753A621B0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AEB9EE9-7095-46E9-BE9B-74F65AB7E60C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247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B039-9869-4010-BC9E-D9E753A621B0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B9EE9-7095-46E9-BE9B-74F65AB7E6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4765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B039-9869-4010-BC9E-D9E753A621B0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B9EE9-7095-46E9-BE9B-74F65AB7E60C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722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B039-9869-4010-BC9E-D9E753A621B0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B9EE9-7095-46E9-BE9B-74F65AB7E6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9089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B039-9869-4010-BC9E-D9E753A621B0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B9EE9-7095-46E9-BE9B-74F65AB7E60C}" type="slidenum">
              <a:rPr lang="en-GB" smtClean="0"/>
              <a:t>‹#›</a:t>
            </a:fld>
            <a:endParaRPr lang="en-GB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751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B039-9869-4010-BC9E-D9E753A621B0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B9EE9-7095-46E9-BE9B-74F65AB7E60C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334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B039-9869-4010-BC9E-D9E753A621B0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B9EE9-7095-46E9-BE9B-74F65AB7E6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7479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B039-9869-4010-BC9E-D9E753A621B0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B9EE9-7095-46E9-BE9B-74F65AB7E60C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68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B039-9869-4010-BC9E-D9E753A621B0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B9EE9-7095-46E9-BE9B-74F65AB7E6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0997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B039-9869-4010-BC9E-D9E753A621B0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B9EE9-7095-46E9-BE9B-74F65AB7E6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4874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B039-9869-4010-BC9E-D9E753A621B0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B9EE9-7095-46E9-BE9B-74F65AB7E60C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15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B039-9869-4010-BC9E-D9E753A621B0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B9EE9-7095-46E9-BE9B-74F65AB7E60C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325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B039-9869-4010-BC9E-D9E753A621B0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B9EE9-7095-46E9-BE9B-74F65AB7E6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5880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B039-9869-4010-BC9E-D9E753A621B0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B9EE9-7095-46E9-BE9B-74F65AB7E60C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922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B039-9869-4010-BC9E-D9E753A621B0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B9EE9-7095-46E9-BE9B-74F65AB7E60C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0933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B039-9869-4010-BC9E-D9E753A621B0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B9EE9-7095-46E9-BE9B-74F65AB7E60C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177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B039-9869-4010-BC9E-D9E753A621B0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B9EE9-7095-46E9-BE9B-74F65AB7E60C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715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29BB039-9869-4010-BC9E-D9E753A621B0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AEB9EE9-7095-46E9-BE9B-74F65AB7E6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1530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Software Engineering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8767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067596" y="1136650"/>
            <a:ext cx="8153400" cy="70485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mtClean="0"/>
              <a:t>What is modeling?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004096" y="2653048"/>
            <a:ext cx="8255000" cy="3193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Modeling consists of building an abstraction of reality.</a:t>
            </a:r>
          </a:p>
          <a:p>
            <a:r>
              <a:rPr lang="en-US" smtClean="0"/>
              <a:t>Abstractions are simplifications because:</a:t>
            </a:r>
          </a:p>
          <a:p>
            <a:pPr lvl="1"/>
            <a:r>
              <a:rPr lang="en-US" smtClean="0"/>
              <a:t>They ignore irrelevant details and</a:t>
            </a:r>
          </a:p>
          <a:p>
            <a:pPr lvl="1"/>
            <a:r>
              <a:rPr lang="en-US" smtClean="0"/>
              <a:t>They only represent the relevant details.</a:t>
            </a:r>
          </a:p>
          <a:p>
            <a:r>
              <a:rPr lang="en-US" smtClean="0"/>
              <a:t>What is </a:t>
            </a:r>
            <a:r>
              <a:rPr lang="en-US" i="1" smtClean="0"/>
              <a:t>relevant</a:t>
            </a:r>
            <a:r>
              <a:rPr lang="en-US" smtClean="0"/>
              <a:t> or </a:t>
            </a:r>
            <a:r>
              <a:rPr lang="en-US" i="1" smtClean="0"/>
              <a:t>irrelevant</a:t>
            </a:r>
            <a:r>
              <a:rPr lang="en-US" smtClean="0"/>
              <a:t> depends on the purpose of the model.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27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03957" y="1381349"/>
            <a:ext cx="8153400" cy="704850"/>
          </a:xfrm>
        </p:spPr>
        <p:txBody>
          <a:bodyPr>
            <a:normAutofit fontScale="90000"/>
          </a:bodyPr>
          <a:lstStyle/>
          <a:p>
            <a:r>
              <a:rPr lang="en-US" dirty="0"/>
              <a:t>Why model software?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540457" y="2524259"/>
            <a:ext cx="9097492" cy="37477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Symbol" panose="05050102010706020507" pitchFamily="18" charset="2"/>
              <a:buNone/>
            </a:pPr>
            <a:r>
              <a:rPr lang="en-US" dirty="0" smtClean="0"/>
              <a:t>Why model software?</a:t>
            </a:r>
          </a:p>
          <a:p>
            <a:r>
              <a:rPr lang="en-US" dirty="0" smtClean="0"/>
              <a:t>Software is getting increasingly more complex</a:t>
            </a:r>
          </a:p>
          <a:p>
            <a:pPr lvl="1"/>
            <a:r>
              <a:rPr lang="en-US" dirty="0" smtClean="0"/>
              <a:t>Windows XP &gt; 40 </a:t>
            </a:r>
            <a:r>
              <a:rPr lang="en-US" dirty="0" err="1" smtClean="0"/>
              <a:t>mio</a:t>
            </a:r>
            <a:r>
              <a:rPr lang="en-US" dirty="0" smtClean="0"/>
              <a:t> lines of code</a:t>
            </a:r>
          </a:p>
          <a:p>
            <a:pPr lvl="1"/>
            <a:r>
              <a:rPr lang="en-US" dirty="0" smtClean="0"/>
              <a:t>A single programmer cannot manage this amount of code in its entirety. </a:t>
            </a:r>
          </a:p>
          <a:p>
            <a:r>
              <a:rPr lang="en-US" dirty="0" smtClean="0"/>
              <a:t>Code is not easily understandable by developers who did not write it</a:t>
            </a:r>
          </a:p>
          <a:p>
            <a:r>
              <a:rPr lang="en-US" dirty="0" smtClean="0"/>
              <a:t>We need simpler representations for complex systems</a:t>
            </a:r>
          </a:p>
          <a:p>
            <a:pPr lvl="1"/>
            <a:r>
              <a:rPr lang="en-US" dirty="0" smtClean="0"/>
              <a:t>Modeling is a mean for dealing with complexity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913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>
          <a:xfrm>
            <a:off x="1552441" y="1239681"/>
            <a:ext cx="8153400" cy="704850"/>
          </a:xfrm>
        </p:spPr>
        <p:txBody>
          <a:bodyPr>
            <a:normAutofit fontScale="90000"/>
          </a:bodyPr>
          <a:lstStyle/>
          <a:p>
            <a:r>
              <a:rPr lang="en-US"/>
              <a:t>Systems, Models and Views</a:t>
            </a:r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>
          <a:xfrm>
            <a:off x="1552441" y="2433481"/>
            <a:ext cx="9909756" cy="480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A </a:t>
            </a:r>
            <a:r>
              <a:rPr lang="en-US" b="1" i="1" dirty="0" smtClean="0"/>
              <a:t>model</a:t>
            </a:r>
            <a:r>
              <a:rPr lang="en-US" dirty="0" smtClean="0"/>
              <a:t> is an abstraction describing a subset of a system</a:t>
            </a:r>
          </a:p>
          <a:p>
            <a:r>
              <a:rPr lang="en-US" dirty="0" smtClean="0"/>
              <a:t>A </a:t>
            </a:r>
            <a:r>
              <a:rPr lang="en-US" b="1" i="1" dirty="0" smtClean="0"/>
              <a:t>view</a:t>
            </a:r>
            <a:r>
              <a:rPr lang="en-US" dirty="0" smtClean="0"/>
              <a:t> depicts selected aspects of a model</a:t>
            </a:r>
          </a:p>
          <a:p>
            <a:r>
              <a:rPr lang="en-US" dirty="0" smtClean="0"/>
              <a:t>A </a:t>
            </a:r>
            <a:r>
              <a:rPr lang="en-US" b="1" i="1" dirty="0" smtClean="0"/>
              <a:t>notation</a:t>
            </a:r>
            <a:r>
              <a:rPr lang="en-US" dirty="0" smtClean="0"/>
              <a:t> is a set of graphical or textual rules for depicting views</a:t>
            </a:r>
          </a:p>
          <a:p>
            <a:r>
              <a:rPr lang="en-US" dirty="0" smtClean="0"/>
              <a:t>Views and models of a single system may overlap each other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sz="2000" dirty="0" smtClean="0"/>
              <a:t>Examples:</a:t>
            </a:r>
          </a:p>
          <a:p>
            <a:r>
              <a:rPr lang="en-US" sz="2000" dirty="0" smtClean="0"/>
              <a:t>System: Aircraft</a:t>
            </a:r>
          </a:p>
          <a:p>
            <a:r>
              <a:rPr lang="en-US" sz="2000" dirty="0" smtClean="0"/>
              <a:t>Models: Flight simulator, scale model</a:t>
            </a:r>
          </a:p>
          <a:p>
            <a:r>
              <a:rPr lang="en-US" sz="2000" dirty="0" smtClean="0"/>
              <a:t>Views: All blueprints, electrical wiring, fuel system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5651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168" y="1380118"/>
            <a:ext cx="7267173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52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283" y="1057275"/>
            <a:ext cx="9556124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853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7139" y="1432864"/>
            <a:ext cx="8153400" cy="70485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UML?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65915" y="2228045"/>
            <a:ext cx="10470524" cy="51992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UML (Unified Modeling Language)</a:t>
            </a:r>
          </a:p>
          <a:p>
            <a:pPr lvl="1"/>
            <a:r>
              <a:rPr lang="en-US" dirty="0" smtClean="0"/>
              <a:t>An emerging standard for modeling object-oriented software.</a:t>
            </a:r>
          </a:p>
          <a:p>
            <a:pPr lvl="1"/>
            <a:r>
              <a:rPr lang="en-US" dirty="0" smtClean="0"/>
              <a:t>Resulted from the convergence of notations from three leading object-oriented methods:</a:t>
            </a:r>
          </a:p>
          <a:p>
            <a:pPr lvl="2"/>
            <a:r>
              <a:rPr lang="en-US" dirty="0" smtClean="0"/>
              <a:t>OMT  (James </a:t>
            </a:r>
            <a:r>
              <a:rPr lang="en-US" dirty="0" err="1" smtClean="0"/>
              <a:t>Rumbaugh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OOSE (</a:t>
            </a:r>
            <a:r>
              <a:rPr lang="en-US" dirty="0" err="1" smtClean="0"/>
              <a:t>Ivar</a:t>
            </a:r>
            <a:r>
              <a:rPr lang="en-US" dirty="0" smtClean="0"/>
              <a:t> Jacobson)</a:t>
            </a:r>
          </a:p>
          <a:p>
            <a:pPr lvl="2"/>
            <a:r>
              <a:rPr lang="en-US" dirty="0" err="1" smtClean="0"/>
              <a:t>Booch</a:t>
            </a:r>
            <a:r>
              <a:rPr lang="en-US" dirty="0" smtClean="0"/>
              <a:t> (Grady </a:t>
            </a:r>
            <a:r>
              <a:rPr lang="en-US" dirty="0" err="1" smtClean="0"/>
              <a:t>Booch</a:t>
            </a:r>
            <a:r>
              <a:rPr lang="en-US" dirty="0" smtClean="0"/>
              <a:t>)</a:t>
            </a:r>
          </a:p>
          <a:p>
            <a:r>
              <a:rPr lang="en-US" sz="2000" dirty="0" smtClean="0"/>
              <a:t>Reference: “The Unified Modeling Language User Guide”, Addison Wesley, 1999. </a:t>
            </a:r>
          </a:p>
          <a:p>
            <a:r>
              <a:rPr lang="en-US" sz="2000" dirty="0" smtClean="0"/>
              <a:t>Supported by several CASE tools </a:t>
            </a:r>
          </a:p>
          <a:p>
            <a:pPr lvl="1"/>
            <a:r>
              <a:rPr lang="en-US" dirty="0" smtClean="0"/>
              <a:t>Rational ROSE</a:t>
            </a:r>
          </a:p>
          <a:p>
            <a:pPr lvl="1"/>
            <a:r>
              <a:rPr lang="en-US" dirty="0" err="1" smtClean="0"/>
              <a:t>TogetherJ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71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</a:rPr>
              <a:t>Types of UML Diagrams: 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>
              <a:lnSpc>
                <a:spcPct val="80000"/>
              </a:lnSpc>
            </a:pPr>
            <a:r>
              <a:rPr lang="en-US" b="1" dirty="0"/>
              <a:t>Use case Diagrams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Describe the functional behavior of the system as seen by the user.</a:t>
            </a:r>
          </a:p>
          <a:p>
            <a:pPr>
              <a:lnSpc>
                <a:spcPct val="80000"/>
              </a:lnSpc>
            </a:pPr>
            <a:r>
              <a:rPr lang="en-US" b="1" dirty="0"/>
              <a:t>Class diagrams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Describe the static structure of the system: Objects, Attributes, Associations</a:t>
            </a:r>
          </a:p>
          <a:p>
            <a:pPr>
              <a:lnSpc>
                <a:spcPct val="80000"/>
              </a:lnSpc>
            </a:pPr>
            <a:r>
              <a:rPr lang="en-US" b="1" dirty="0"/>
              <a:t>Sequence diagrams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Describe the dynamic behavior between actors and the system and between objects of the system</a:t>
            </a:r>
          </a:p>
          <a:p>
            <a:pPr>
              <a:lnSpc>
                <a:spcPct val="80000"/>
              </a:lnSpc>
            </a:pPr>
            <a:r>
              <a:rPr lang="en-US" b="1" dirty="0" err="1"/>
              <a:t>Statechart</a:t>
            </a:r>
            <a:r>
              <a:rPr lang="en-US" b="1" dirty="0"/>
              <a:t> diagrams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Describe the dynamic behavior of an individual object  (essentially a finite state automaton)</a:t>
            </a:r>
          </a:p>
          <a:p>
            <a:pPr>
              <a:lnSpc>
                <a:spcPct val="80000"/>
              </a:lnSpc>
            </a:pPr>
            <a:r>
              <a:rPr lang="en-US" b="1" dirty="0"/>
              <a:t>Activity Diagrams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Model the dynamic behavior of a system, in particular the  workflow (essentially a flowchart)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083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707" y="1100428"/>
            <a:ext cx="9182637" cy="4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808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Use-Case Diagrams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Actors</a:t>
            </a:r>
            <a:r>
              <a:rPr lang="en-GB" dirty="0"/>
              <a:t>: A role that a user plays with respect to the system, including human </a:t>
            </a:r>
          </a:p>
          <a:p>
            <a:r>
              <a:rPr lang="en-GB" dirty="0"/>
              <a:t>users and other systems. e.g., inanimate physical objects (e.g. robot); an </a:t>
            </a:r>
          </a:p>
          <a:p>
            <a:r>
              <a:rPr lang="en-GB" dirty="0"/>
              <a:t>external system that needs some information from the current system. </a:t>
            </a:r>
          </a:p>
          <a:p>
            <a:r>
              <a:rPr lang="en-GB" dirty="0" smtClean="0"/>
              <a:t> </a:t>
            </a:r>
            <a:r>
              <a:rPr lang="en-GB" b="1" dirty="0"/>
              <a:t>Use case</a:t>
            </a:r>
            <a:r>
              <a:rPr lang="en-GB" dirty="0"/>
              <a:t>: A set of scenarios that describing an interaction between a user </a:t>
            </a:r>
          </a:p>
          <a:p>
            <a:r>
              <a:rPr lang="en-GB" dirty="0"/>
              <a:t>and a system, including alternatives. </a:t>
            </a:r>
          </a:p>
          <a:p>
            <a:r>
              <a:rPr lang="en-GB" dirty="0" smtClean="0"/>
              <a:t> </a:t>
            </a:r>
            <a:r>
              <a:rPr lang="en-GB" b="1" dirty="0" smtClean="0"/>
              <a:t>System boundary</a:t>
            </a:r>
            <a:r>
              <a:rPr lang="en-GB" dirty="0" smtClean="0"/>
              <a:t>: </a:t>
            </a:r>
            <a:r>
              <a:rPr lang="en-GB" dirty="0"/>
              <a:t>rectangle diagram representing the boundary between </a:t>
            </a:r>
          </a:p>
          <a:p>
            <a:r>
              <a:rPr lang="en-GB" dirty="0"/>
              <a:t>the actors and the system.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561" y="5394385"/>
            <a:ext cx="2980952" cy="87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673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797" y="1386143"/>
            <a:ext cx="9775065" cy="40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955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554" y="1004552"/>
            <a:ext cx="9427335" cy="494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355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024407" y="1703321"/>
            <a:ext cx="8153400" cy="70485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mtClean="0"/>
              <a:t>UML first pass: Class diagrams</a:t>
            </a:r>
            <a:endParaRPr lang="en-US" dirty="0"/>
          </a:p>
        </p:txBody>
      </p:sp>
      <p:sp>
        <p:nvSpPr>
          <p:cNvPr id="5" name="Text Box 41"/>
          <p:cNvSpPr txBox="1">
            <a:spLocks noChangeArrowheads="1"/>
          </p:cNvSpPr>
          <p:nvPr/>
        </p:nvSpPr>
        <p:spPr bwMode="auto">
          <a:xfrm>
            <a:off x="1537170" y="2395471"/>
            <a:ext cx="7334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Class diagrams represent the structure of the system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407" y="2852671"/>
            <a:ext cx="8104568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424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133" y="985837"/>
            <a:ext cx="9440214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78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785611"/>
            <a:ext cx="9601196" cy="502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212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34</TotalTime>
  <Words>433</Words>
  <Application>Microsoft Office PowerPoint</Application>
  <PresentationFormat>Widescreen</PresentationFormat>
  <Paragraphs>58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Garamond</vt:lpstr>
      <vt:lpstr>Symbol</vt:lpstr>
      <vt:lpstr>Organic</vt:lpstr>
      <vt:lpstr>Software Engineering</vt:lpstr>
      <vt:lpstr>PowerPoint Presentation</vt:lpstr>
      <vt:lpstr>Why model software?</vt:lpstr>
      <vt:lpstr>Systems, Models and Views</vt:lpstr>
      <vt:lpstr>PowerPoint Presentation</vt:lpstr>
      <vt:lpstr>PowerPoint Presentation</vt:lpstr>
      <vt:lpstr>What is UML?</vt:lpstr>
      <vt:lpstr>Types of UML Diagrams:  </vt:lpstr>
      <vt:lpstr>PowerPoint Presentation</vt:lpstr>
      <vt:lpstr>Use-Case Diagrams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nahrain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user15</dc:creator>
  <cp:lastModifiedBy>user15</cp:lastModifiedBy>
  <cp:revision>6</cp:revision>
  <dcterms:created xsi:type="dcterms:W3CDTF">2026-02-22T05:15:03Z</dcterms:created>
  <dcterms:modified xsi:type="dcterms:W3CDTF">2026-02-22T05:49:42Z</dcterms:modified>
</cp:coreProperties>
</file>