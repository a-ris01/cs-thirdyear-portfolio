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8" r:id="rId3"/>
    <p:sldId id="259" r:id="rId4"/>
    <p:sldId id="260" r:id="rId5"/>
    <p:sldId id="261" r:id="rId6"/>
    <p:sldId id="262" r:id="rId7"/>
    <p:sldId id="263" r:id="rId8"/>
    <p:sldId id="269" r:id="rId9"/>
    <p:sldId id="264" r:id="rId10"/>
    <p:sldId id="265" r:id="rId11"/>
    <p:sldId id="266" r:id="rId12"/>
    <p:sldId id="270" r:id="rId13"/>
    <p:sldId id="271" r:id="rId14"/>
    <p:sldId id="267"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96" autoAdjust="0"/>
  </p:normalViewPr>
  <p:slideViewPr>
    <p:cSldViewPr>
      <p:cViewPr varScale="1">
        <p:scale>
          <a:sx n="85" d="100"/>
          <a:sy n="85" d="100"/>
        </p:scale>
        <p:origin x="137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461A691F-EB85-419C-8648-FA538BE05A6B}" type="slidenum">
              <a:rPr lang="en-GB" smtClean="0"/>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7132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367339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968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726787-A9B3-4162-AEE8-2BAF1785EE5A}" type="datetimeFigureOut">
              <a:rPr lang="en-GB" smtClean="0"/>
              <a:t>11/04/2026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3638718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726787-A9B3-4162-AEE8-2BAF1785EE5A}" type="datetimeFigureOut">
              <a:rPr lang="en-GB" smtClean="0"/>
              <a:t>11/04/2026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61A691F-EB85-419C-8648-FA538BE05A6B}" type="slidenum">
              <a:rPr lang="en-GB" smtClean="0"/>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8970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726787-A9B3-4162-AEE8-2BAF1785EE5A}" type="datetimeFigureOut">
              <a:rPr lang="en-GB" smtClean="0"/>
              <a:t>11/04/2026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8398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726787-A9B3-4162-AEE8-2BAF1785EE5A}" type="datetimeFigureOut">
              <a:rPr lang="en-GB" smtClean="0"/>
              <a:t>11/04/2026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237480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946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213752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726787-A9B3-4162-AEE8-2BAF1785EE5A}" type="datetimeFigureOut">
              <a:rPr lang="en-GB" smtClean="0"/>
              <a:t>11/04/2026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132831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0755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4227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Tree>
    <p:extLst>
      <p:ext uri="{BB962C8B-B14F-4D97-AF65-F5344CB8AC3E}">
        <p14:creationId xmlns:p14="http://schemas.microsoft.com/office/powerpoint/2010/main" val="2524255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4435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5577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4688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26787-A9B3-4162-AEE8-2BAF1785EE5A}" type="datetimeFigureOut">
              <a:rPr lang="en-GB" smtClean="0"/>
              <a:t>11/04/2026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61A691F-EB85-419C-8648-FA538BE05A6B}" type="slidenum">
              <a:rPr lang="en-GB" smtClean="0"/>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4122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726787-A9B3-4162-AEE8-2BAF1785EE5A}" type="datetimeFigureOut">
              <a:rPr lang="en-GB" smtClean="0"/>
              <a:t>11/04/2026</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61A691F-EB85-419C-8648-FA538BE05A6B}" type="slidenum">
              <a:rPr lang="en-GB" smtClean="0"/>
              <a:t>‹#›</a:t>
            </a:fld>
            <a:endParaRPr lang="en-GB"/>
          </a:p>
        </p:txBody>
      </p:sp>
    </p:spTree>
    <p:extLst>
      <p:ext uri="{BB962C8B-B14F-4D97-AF65-F5344CB8AC3E}">
        <p14:creationId xmlns:p14="http://schemas.microsoft.com/office/powerpoint/2010/main" val="188556292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Software Engineering</a:t>
            </a:r>
          </a:p>
        </p:txBody>
      </p:sp>
      <p:sp>
        <p:nvSpPr>
          <p:cNvPr id="3" name="Subtitle 2"/>
          <p:cNvSpPr>
            <a:spLocks noGrp="1"/>
          </p:cNvSpPr>
          <p:nvPr>
            <p:ph type="subTitle" idx="1"/>
          </p:nvPr>
        </p:nvSpPr>
        <p:spPr/>
        <p:txBody>
          <a:bodyPr/>
          <a:lstStyle/>
          <a:p>
            <a:r>
              <a:rPr lang="en-GB" dirty="0"/>
              <a:t>Lecture Eight</a:t>
            </a:r>
          </a:p>
        </p:txBody>
      </p:sp>
    </p:spTree>
    <p:extLst>
      <p:ext uri="{BB962C8B-B14F-4D97-AF65-F5344CB8AC3E}">
        <p14:creationId xmlns:p14="http://schemas.microsoft.com/office/powerpoint/2010/main" val="1346867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7450"/>
            <a:ext cx="8517632" cy="576064"/>
          </a:xfrm>
        </p:spPr>
        <p:txBody>
          <a:bodyPr>
            <a:noAutofit/>
          </a:bodyPr>
          <a:lstStyle/>
          <a:p>
            <a:pPr algn="ctr"/>
            <a:r>
              <a:rPr lang="en-GB" sz="3600" dirty="0">
                <a:solidFill>
                  <a:schemeClr val="tx1"/>
                </a:solidFill>
                <a:effectLst/>
                <a:latin typeface="Times New Roman" pitchFamily="18" charset="0"/>
                <a:cs typeface="Times New Roman" pitchFamily="18" charset="0"/>
              </a:rPr>
              <a:t>Testing</a:t>
            </a:r>
          </a:p>
        </p:txBody>
      </p:sp>
      <p:sp>
        <p:nvSpPr>
          <p:cNvPr id="2" name="Content Placeholder 1"/>
          <p:cNvSpPr>
            <a:spLocks noGrp="1"/>
          </p:cNvSpPr>
          <p:nvPr>
            <p:ph idx="1"/>
          </p:nvPr>
        </p:nvSpPr>
        <p:spPr>
          <a:xfrm>
            <a:off x="611560" y="583515"/>
            <a:ext cx="7935708" cy="5653798"/>
          </a:xfrm>
        </p:spPr>
        <p:txBody>
          <a:bodyPr>
            <a:noAutofit/>
          </a:bodyPr>
          <a:lstStyle/>
          <a:p>
            <a:pPr marL="109728" indent="0" algn="just">
              <a:buNone/>
            </a:pPr>
            <a:r>
              <a:rPr lang="en-GB" sz="2600" dirty="0">
                <a:latin typeface="Times New Roman" pitchFamily="18" charset="0"/>
                <a:cs typeface="Times New Roman" pitchFamily="18" charset="0"/>
              </a:rPr>
              <a:t>Testing is the process of executing program in order to find errors. The test can not show the absence of defects, it can only show that the software defects are present.</a:t>
            </a:r>
          </a:p>
          <a:p>
            <a:pPr marL="109728" indent="0" algn="just">
              <a:buNone/>
            </a:pPr>
            <a:r>
              <a:rPr lang="en-GB" sz="2600" dirty="0">
                <a:latin typeface="Times New Roman" pitchFamily="18" charset="0"/>
                <a:cs typeface="Times New Roman" pitchFamily="18" charset="0"/>
              </a:rPr>
              <a:t>The test permit to ensure that what we programmed is correct, this mean if we provide the program with the required data, this one will give in the output the wanted results, in the required time. This process consumes the authorized resources and diagnoses an error and the resources of this error.</a:t>
            </a:r>
          </a:p>
          <a:p>
            <a:pPr marL="109728" indent="0" algn="just">
              <a:buNone/>
            </a:pPr>
            <a:r>
              <a:rPr lang="en-GB" sz="2600" dirty="0">
                <a:latin typeface="Times New Roman" pitchFamily="18" charset="0"/>
                <a:cs typeface="Times New Roman" pitchFamily="18" charset="0"/>
              </a:rPr>
              <a:t>The activity of test and the activity of programming constitute a form of each of the activities requires a certain effort, but what it is necessary to optimise in the sum.</a:t>
            </a:r>
          </a:p>
        </p:txBody>
      </p:sp>
    </p:spTree>
    <p:extLst>
      <p:ext uri="{BB962C8B-B14F-4D97-AF65-F5344CB8AC3E}">
        <p14:creationId xmlns:p14="http://schemas.microsoft.com/office/powerpoint/2010/main" val="2938725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16" y="1219420"/>
            <a:ext cx="9144000" cy="6858000"/>
          </a:xfrm>
        </p:spPr>
        <p:txBody>
          <a:bodyPr>
            <a:normAutofit/>
          </a:bodyPr>
          <a:lstStyle/>
          <a:p>
            <a:pPr marL="109728" indent="0" algn="just">
              <a:buNone/>
            </a:pPr>
            <a:r>
              <a:rPr lang="en-GB" sz="2800" dirty="0">
                <a:solidFill>
                  <a:srgbClr val="FF0000"/>
                </a:solidFill>
                <a:latin typeface="Times New Roman" pitchFamily="18" charset="0"/>
                <a:cs typeface="Times New Roman" pitchFamily="18" charset="0"/>
              </a:rPr>
              <a:t>     Ef(total)=Ef(programming)+Ef(Test)</a:t>
            </a:r>
          </a:p>
        </p:txBody>
      </p:sp>
      <p:sp>
        <p:nvSpPr>
          <p:cNvPr id="3" name="Oval 2"/>
          <p:cNvSpPr/>
          <p:nvPr/>
        </p:nvSpPr>
        <p:spPr>
          <a:xfrm>
            <a:off x="1691680" y="2344164"/>
            <a:ext cx="648072" cy="64807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cxnSp>
        <p:nvCxnSpPr>
          <p:cNvPr id="5" name="Straight Connector 4"/>
          <p:cNvCxnSpPr>
            <a:stCxn id="3" idx="6"/>
          </p:cNvCxnSpPr>
          <p:nvPr/>
        </p:nvCxnSpPr>
        <p:spPr>
          <a:xfrm>
            <a:off x="2339752" y="2668200"/>
            <a:ext cx="14401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915816" y="2668200"/>
            <a:ext cx="0" cy="2412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915816" y="5080468"/>
            <a:ext cx="50405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419872" y="4895802"/>
            <a:ext cx="1872208" cy="369332"/>
          </a:xfrm>
          <a:prstGeom prst="rect">
            <a:avLst/>
          </a:prstGeom>
          <a:noFill/>
          <a:ln>
            <a:solidFill>
              <a:srgbClr val="FF0000"/>
            </a:solidFill>
          </a:ln>
        </p:spPr>
        <p:txBody>
          <a:bodyPr wrap="square" rtlCol="0">
            <a:spAutoFit/>
          </a:bodyPr>
          <a:lstStyle/>
          <a:p>
            <a:pPr algn="ctr"/>
            <a:r>
              <a:rPr lang="en-GB" dirty="0">
                <a:solidFill>
                  <a:srgbClr val="FF0000"/>
                </a:solidFill>
              </a:rPr>
              <a:t>Test activity</a:t>
            </a:r>
          </a:p>
        </p:txBody>
      </p:sp>
      <p:cxnSp>
        <p:nvCxnSpPr>
          <p:cNvPr id="12" name="Straight Connector 11"/>
          <p:cNvCxnSpPr>
            <a:stCxn id="10" idx="3"/>
          </p:cNvCxnSpPr>
          <p:nvPr/>
        </p:nvCxnSpPr>
        <p:spPr>
          <a:xfrm>
            <a:off x="5292080" y="5080468"/>
            <a:ext cx="50405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5796136" y="4792436"/>
            <a:ext cx="504056" cy="57606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cxnSp>
        <p:nvCxnSpPr>
          <p:cNvPr id="15" name="Straight Arrow Connector 14"/>
          <p:cNvCxnSpPr/>
          <p:nvPr/>
        </p:nvCxnSpPr>
        <p:spPr>
          <a:xfrm flipV="1">
            <a:off x="6178916" y="4059000"/>
            <a:ext cx="1008112"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79912" y="2492896"/>
            <a:ext cx="1764196" cy="646331"/>
          </a:xfrm>
          <a:prstGeom prst="rect">
            <a:avLst/>
          </a:prstGeom>
          <a:noFill/>
          <a:ln>
            <a:solidFill>
              <a:srgbClr val="FF0000"/>
            </a:solidFill>
          </a:ln>
        </p:spPr>
        <p:txBody>
          <a:bodyPr wrap="square" rtlCol="0">
            <a:spAutoFit/>
          </a:bodyPr>
          <a:lstStyle/>
          <a:p>
            <a:pPr algn="ctr"/>
            <a:r>
              <a:rPr lang="en-GB" dirty="0">
                <a:solidFill>
                  <a:srgbClr val="FF0000"/>
                </a:solidFill>
              </a:rPr>
              <a:t>programming activity</a:t>
            </a:r>
          </a:p>
        </p:txBody>
      </p:sp>
      <p:cxnSp>
        <p:nvCxnSpPr>
          <p:cNvPr id="18" name="Straight Connector 17"/>
          <p:cNvCxnSpPr>
            <a:stCxn id="16" idx="3"/>
          </p:cNvCxnSpPr>
          <p:nvPr/>
        </p:nvCxnSpPr>
        <p:spPr>
          <a:xfrm flipV="1">
            <a:off x="5544108" y="2816061"/>
            <a:ext cx="324036" cy="1"/>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868144" y="2492896"/>
            <a:ext cx="432048" cy="646331"/>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cxnSp>
        <p:nvCxnSpPr>
          <p:cNvPr id="21" name="Straight Arrow Connector 20"/>
          <p:cNvCxnSpPr/>
          <p:nvPr/>
        </p:nvCxnSpPr>
        <p:spPr>
          <a:xfrm>
            <a:off x="6245725" y="2890322"/>
            <a:ext cx="1008112" cy="752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804248" y="3689668"/>
            <a:ext cx="1440160" cy="369332"/>
          </a:xfrm>
          <a:prstGeom prst="rect">
            <a:avLst/>
          </a:prstGeom>
          <a:noFill/>
          <a:ln>
            <a:solidFill>
              <a:srgbClr val="FF0000"/>
            </a:solidFill>
          </a:ln>
        </p:spPr>
        <p:txBody>
          <a:bodyPr wrap="square" rtlCol="0">
            <a:spAutoFit/>
          </a:bodyPr>
          <a:lstStyle/>
          <a:p>
            <a:r>
              <a:rPr lang="en-GB" dirty="0"/>
              <a:t>Execution</a:t>
            </a:r>
          </a:p>
        </p:txBody>
      </p:sp>
      <p:cxnSp>
        <p:nvCxnSpPr>
          <p:cNvPr id="25" name="Straight Arrow Connector 24"/>
          <p:cNvCxnSpPr>
            <a:endCxn id="10" idx="0"/>
          </p:cNvCxnSpPr>
          <p:nvPr/>
        </p:nvCxnSpPr>
        <p:spPr>
          <a:xfrm>
            <a:off x="4355976" y="3139227"/>
            <a:ext cx="0" cy="17565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779912" y="4017514"/>
            <a:ext cx="1926214" cy="369332"/>
          </a:xfrm>
          <a:prstGeom prst="rect">
            <a:avLst/>
          </a:prstGeom>
          <a:solidFill>
            <a:schemeClr val="bg1"/>
          </a:solidFill>
        </p:spPr>
        <p:txBody>
          <a:bodyPr wrap="square" rtlCol="0">
            <a:spAutoFit/>
          </a:bodyPr>
          <a:lstStyle/>
          <a:p>
            <a:r>
              <a:rPr lang="en-GB" dirty="0"/>
              <a:t>Documentation</a:t>
            </a:r>
          </a:p>
        </p:txBody>
      </p:sp>
      <p:sp>
        <p:nvSpPr>
          <p:cNvPr id="27" name="TextBox 26"/>
          <p:cNvSpPr txBox="1"/>
          <p:nvPr/>
        </p:nvSpPr>
        <p:spPr>
          <a:xfrm>
            <a:off x="6682972" y="5080468"/>
            <a:ext cx="2065492" cy="369332"/>
          </a:xfrm>
          <a:prstGeom prst="rect">
            <a:avLst/>
          </a:prstGeom>
          <a:noFill/>
        </p:spPr>
        <p:txBody>
          <a:bodyPr wrap="square" rtlCol="0">
            <a:spAutoFit/>
          </a:bodyPr>
          <a:lstStyle/>
          <a:p>
            <a:r>
              <a:rPr lang="en-GB" dirty="0"/>
              <a:t>Testing scenario</a:t>
            </a:r>
          </a:p>
        </p:txBody>
      </p:sp>
      <p:sp>
        <p:nvSpPr>
          <p:cNvPr id="28" name="TextBox 27"/>
          <p:cNvSpPr txBox="1"/>
          <p:nvPr/>
        </p:nvSpPr>
        <p:spPr>
          <a:xfrm>
            <a:off x="611560" y="3874334"/>
            <a:ext cx="201622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File of design</a:t>
            </a:r>
          </a:p>
        </p:txBody>
      </p:sp>
      <p:sp>
        <p:nvSpPr>
          <p:cNvPr id="30" name="TextBox 29"/>
          <p:cNvSpPr txBox="1"/>
          <p:nvPr/>
        </p:nvSpPr>
        <p:spPr>
          <a:xfrm>
            <a:off x="6804248" y="2631396"/>
            <a:ext cx="1656184" cy="36933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dirty="0"/>
              <a:t>program</a:t>
            </a:r>
          </a:p>
        </p:txBody>
      </p:sp>
    </p:spTree>
    <p:extLst>
      <p:ext uri="{BB962C8B-B14F-4D97-AF65-F5344CB8AC3E}">
        <p14:creationId xmlns:p14="http://schemas.microsoft.com/office/powerpoint/2010/main" val="3208279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548680"/>
            <a:ext cx="7992888" cy="5472608"/>
          </a:xfrm>
        </p:spPr>
        <p:txBody>
          <a:bodyPr>
            <a:noAutofit/>
          </a:bodyPr>
          <a:lstStyle/>
          <a:p>
            <a:pPr marL="109728" indent="0" algn="just">
              <a:buNone/>
            </a:pPr>
            <a:r>
              <a:rPr lang="en-GB" sz="2000" dirty="0">
                <a:latin typeface="Times New Roman" pitchFamily="18" charset="0"/>
                <a:cs typeface="Times New Roman" pitchFamily="18" charset="0"/>
              </a:rPr>
              <a:t>The test concerns program execution, but it is not the only way to correct a program numerous mistakes can be found, regardless of all execution, by means of design review code inspection, proofs, etc. the effort dedicated to discover errors is the sum that it is necessary to optimize:</a:t>
            </a:r>
          </a:p>
          <a:p>
            <a:pPr marL="109728" indent="0" algn="just">
              <a:buNone/>
            </a:pPr>
            <a:endParaRPr lang="en-GB" sz="2000" dirty="0">
              <a:latin typeface="Times New Roman" pitchFamily="18" charset="0"/>
              <a:cs typeface="Times New Roman" pitchFamily="18" charset="0"/>
            </a:endParaRPr>
          </a:p>
          <a:p>
            <a:pPr marL="109728" indent="0" algn="just">
              <a:buNone/>
            </a:pPr>
            <a:r>
              <a:rPr lang="en-GB" sz="2000" dirty="0" err="1">
                <a:solidFill>
                  <a:srgbClr val="FF0000"/>
                </a:solidFill>
                <a:latin typeface="Times New Roman" pitchFamily="18" charset="0"/>
                <a:cs typeface="Times New Roman" pitchFamily="18" charset="0"/>
              </a:rPr>
              <a:t>Ef</a:t>
            </a:r>
            <a:r>
              <a:rPr lang="en-GB" sz="2000" dirty="0">
                <a:solidFill>
                  <a:srgbClr val="FF0000"/>
                </a:solidFill>
                <a:latin typeface="Times New Roman" pitchFamily="18" charset="0"/>
                <a:cs typeface="Times New Roman" pitchFamily="18" charset="0"/>
              </a:rPr>
              <a:t>(error)=</a:t>
            </a:r>
            <a:r>
              <a:rPr lang="en-GB" sz="2000" dirty="0" err="1">
                <a:solidFill>
                  <a:srgbClr val="FF0000"/>
                </a:solidFill>
                <a:latin typeface="Times New Roman" pitchFamily="18" charset="0"/>
                <a:cs typeface="Times New Roman" pitchFamily="18" charset="0"/>
              </a:rPr>
              <a:t>Ef</a:t>
            </a:r>
            <a:r>
              <a:rPr lang="en-GB" sz="2000" dirty="0">
                <a:solidFill>
                  <a:srgbClr val="FF0000"/>
                </a:solidFill>
                <a:latin typeface="Times New Roman" pitchFamily="18" charset="0"/>
                <a:cs typeface="Times New Roman" pitchFamily="18" charset="0"/>
              </a:rPr>
              <a:t>(review)+</a:t>
            </a:r>
            <a:r>
              <a:rPr lang="en-GB" sz="2000" dirty="0" err="1">
                <a:solidFill>
                  <a:srgbClr val="FF0000"/>
                </a:solidFill>
                <a:latin typeface="Times New Roman" pitchFamily="18" charset="0"/>
                <a:cs typeface="Times New Roman" pitchFamily="18" charset="0"/>
              </a:rPr>
              <a:t>Ef</a:t>
            </a:r>
            <a:r>
              <a:rPr lang="en-GB" sz="2000" dirty="0">
                <a:solidFill>
                  <a:srgbClr val="FF0000"/>
                </a:solidFill>
                <a:latin typeface="Times New Roman" pitchFamily="18" charset="0"/>
                <a:cs typeface="Times New Roman" pitchFamily="18" charset="0"/>
              </a:rPr>
              <a:t>(Test)</a:t>
            </a:r>
          </a:p>
          <a:p>
            <a:pPr marL="109728" indent="0" algn="just">
              <a:buNone/>
            </a:pPr>
            <a:r>
              <a:rPr lang="en-GB" sz="2000" dirty="0">
                <a:latin typeface="Times New Roman" pitchFamily="18" charset="0"/>
                <a:cs typeface="Times New Roman" pitchFamily="18" charset="0"/>
              </a:rPr>
              <a:t>The main objectives of testing are:</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detect the deviations in relations to the specifications</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detect errors</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increase the confidence in the program </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determine the reliability level in the software</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evaluate  the performance</a:t>
            </a:r>
          </a:p>
          <a:p>
            <a:pPr marL="566928" indent="-457200" algn="just">
              <a:buClr>
                <a:schemeClr val="tx1">
                  <a:lumMod val="95000"/>
                  <a:lumOff val="5000"/>
                </a:schemeClr>
              </a:buClr>
              <a:buFont typeface="+mj-lt"/>
              <a:buAutoNum type="arabicPeriod"/>
            </a:pPr>
            <a:r>
              <a:rPr lang="en-GB" sz="2000" dirty="0">
                <a:latin typeface="Times New Roman" pitchFamily="18" charset="0"/>
                <a:cs typeface="Times New Roman" pitchFamily="18" charset="0"/>
              </a:rPr>
              <a:t> evaluate the </a:t>
            </a:r>
            <a:r>
              <a:rPr lang="en-GB" sz="2000" dirty="0" err="1">
                <a:latin typeface="Times New Roman" pitchFamily="18" charset="0"/>
                <a:cs typeface="Times New Roman" pitchFamily="18" charset="0"/>
              </a:rPr>
              <a:t>behavior</a:t>
            </a:r>
            <a:r>
              <a:rPr lang="en-GB" sz="2000" dirty="0">
                <a:latin typeface="Times New Roman" pitchFamily="18" charset="0"/>
                <a:cs typeface="Times New Roman" pitchFamily="18" charset="0"/>
              </a:rPr>
              <a:t> undercharge </a:t>
            </a:r>
          </a:p>
          <a:p>
            <a:pPr marL="566928" indent="-457200" algn="just">
              <a:buClr>
                <a:schemeClr val="tx1">
                  <a:lumMod val="95000"/>
                  <a:lumOff val="5000"/>
                </a:schemeClr>
              </a:buClr>
              <a:buFont typeface="+mj-lt"/>
              <a:buAutoNum type="arabicPeriod"/>
            </a:pPr>
            <a:endParaRPr lang="en-GB" sz="2000" dirty="0">
              <a:latin typeface="Times New Roman" pitchFamily="18" charset="0"/>
              <a:cs typeface="Times New Roman" pitchFamily="18" charset="0"/>
            </a:endParaRPr>
          </a:p>
        </p:txBody>
      </p:sp>
    </p:spTree>
    <p:extLst>
      <p:ext uri="{BB962C8B-B14F-4D97-AF65-F5344CB8AC3E}">
        <p14:creationId xmlns:p14="http://schemas.microsoft.com/office/powerpoint/2010/main" val="410904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363272" cy="5458611"/>
          </a:xfrm>
        </p:spPr>
        <p:txBody>
          <a:bodyPr/>
          <a:lstStyle/>
          <a:p>
            <a:pPr marL="109728" indent="0">
              <a:buNone/>
            </a:pPr>
            <a:r>
              <a:rPr lang="en-GB" b="1" dirty="0">
                <a:latin typeface="Times New Roman" pitchFamily="18" charset="0"/>
                <a:cs typeface="Times New Roman" pitchFamily="18" charset="0"/>
              </a:rPr>
              <a:t>Testing techniques</a:t>
            </a:r>
          </a:p>
          <a:p>
            <a:pPr marL="109728" indent="0">
              <a:buNone/>
            </a:pPr>
            <a:r>
              <a:rPr lang="en-GB" sz="2400" dirty="0">
                <a:latin typeface="Times New Roman" pitchFamily="18" charset="0"/>
                <a:cs typeface="Times New Roman" pitchFamily="18" charset="0"/>
              </a:rPr>
              <a:t>There are two different classes of testing techniques for testing software :</a:t>
            </a:r>
          </a:p>
          <a:p>
            <a:pPr marL="566928" indent="-457200">
              <a:buFont typeface="+mj-lt"/>
              <a:buAutoNum type="arabicPeriod"/>
            </a:pPr>
            <a:r>
              <a:rPr lang="en-GB" sz="2400" b="1" dirty="0">
                <a:latin typeface="Times New Roman" pitchFamily="18" charset="0"/>
                <a:cs typeface="Times New Roman" pitchFamily="18" charset="0"/>
              </a:rPr>
              <a:t>White box </a:t>
            </a:r>
            <a:r>
              <a:rPr lang="en-GB" sz="2400" dirty="0">
                <a:latin typeface="Times New Roman" pitchFamily="18" charset="0"/>
                <a:cs typeface="Times New Roman" pitchFamily="18" charset="0"/>
              </a:rPr>
              <a:t>test techniques: testing the internal program logic.</a:t>
            </a:r>
          </a:p>
          <a:p>
            <a:pPr marL="566928" indent="-457200">
              <a:buFont typeface="+mj-lt"/>
              <a:buAutoNum type="arabicPeriod"/>
            </a:pPr>
            <a:r>
              <a:rPr lang="en-GB" sz="2400" b="1" dirty="0">
                <a:latin typeface="Times New Roman" pitchFamily="18" charset="0"/>
                <a:cs typeface="Times New Roman" pitchFamily="18" charset="0"/>
              </a:rPr>
              <a:t>Black box </a:t>
            </a:r>
            <a:r>
              <a:rPr lang="en-GB" sz="2400" dirty="0">
                <a:latin typeface="Times New Roman" pitchFamily="18" charset="0"/>
                <a:cs typeface="Times New Roman" pitchFamily="18" charset="0"/>
              </a:rPr>
              <a:t>test techniques: testing of software requirements. </a:t>
            </a:r>
          </a:p>
          <a:p>
            <a:pPr marL="566928" indent="-457200">
              <a:buFont typeface="+mj-lt"/>
              <a:buAutoNum type="arabicPeriod"/>
            </a:pPr>
            <a:endParaRPr lang="en-GB" sz="2400" dirty="0">
              <a:latin typeface="Times New Roman" pitchFamily="18" charset="0"/>
              <a:cs typeface="Times New Roman" pitchFamily="18" charset="0"/>
            </a:endParaRPr>
          </a:p>
          <a:p>
            <a:pPr marL="109728" indent="0">
              <a:buNone/>
            </a:pPr>
            <a:endParaRPr lang="en-GB" sz="2400" dirty="0">
              <a:latin typeface="Times New Roman" pitchFamily="18" charset="0"/>
              <a:cs typeface="Times New Roman" pitchFamily="18" charset="0"/>
            </a:endParaRPr>
          </a:p>
        </p:txBody>
      </p:sp>
      <p:sp>
        <p:nvSpPr>
          <p:cNvPr id="4" name="TextBox 3"/>
          <p:cNvSpPr txBox="1"/>
          <p:nvPr/>
        </p:nvSpPr>
        <p:spPr>
          <a:xfrm>
            <a:off x="1115616" y="3206358"/>
            <a:ext cx="3456384" cy="369332"/>
          </a:xfrm>
          <a:prstGeom prst="rect">
            <a:avLst/>
          </a:prstGeom>
          <a:noFill/>
          <a:ln>
            <a:solidFill>
              <a:srgbClr val="FF0000"/>
            </a:solidFill>
          </a:ln>
        </p:spPr>
        <p:txBody>
          <a:bodyPr wrap="square" rtlCol="0">
            <a:spAutoFit/>
          </a:bodyPr>
          <a:lstStyle/>
          <a:p>
            <a:pPr algn="ctr"/>
            <a:r>
              <a:rPr lang="en-GB" dirty="0">
                <a:solidFill>
                  <a:srgbClr val="FF0000"/>
                </a:solidFill>
              </a:rPr>
              <a:t>Black box testing </a:t>
            </a:r>
          </a:p>
        </p:txBody>
      </p:sp>
      <p:sp>
        <p:nvSpPr>
          <p:cNvPr id="5" name="TextBox 4"/>
          <p:cNvSpPr txBox="1"/>
          <p:nvPr/>
        </p:nvSpPr>
        <p:spPr>
          <a:xfrm>
            <a:off x="4572000" y="3206358"/>
            <a:ext cx="3312368" cy="369332"/>
          </a:xfrm>
          <a:prstGeom prst="rect">
            <a:avLst/>
          </a:prstGeom>
          <a:noFill/>
          <a:ln>
            <a:solidFill>
              <a:srgbClr val="FF0000"/>
            </a:solidFill>
          </a:ln>
        </p:spPr>
        <p:txBody>
          <a:bodyPr wrap="square" rtlCol="0">
            <a:spAutoFit/>
          </a:bodyPr>
          <a:lstStyle/>
          <a:p>
            <a:pPr algn="ctr"/>
            <a:r>
              <a:rPr lang="en-GB" dirty="0">
                <a:solidFill>
                  <a:srgbClr val="FF0000"/>
                </a:solidFill>
              </a:rPr>
              <a:t>White box testing </a:t>
            </a:r>
          </a:p>
        </p:txBody>
      </p:sp>
      <p:cxnSp>
        <p:nvCxnSpPr>
          <p:cNvPr id="7" name="Straight Connector 6"/>
          <p:cNvCxnSpPr>
            <a:stCxn id="5" idx="1"/>
          </p:cNvCxnSpPr>
          <p:nvPr/>
        </p:nvCxnSpPr>
        <p:spPr>
          <a:xfrm>
            <a:off x="4572000" y="3391024"/>
            <a:ext cx="0" cy="104608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1115616" y="3947250"/>
            <a:ext cx="3456384" cy="667060"/>
            <a:chOff x="1115616" y="3947250"/>
            <a:chExt cx="3456384" cy="667060"/>
          </a:xfrm>
        </p:grpSpPr>
        <p:sp>
          <p:nvSpPr>
            <p:cNvPr id="8" name="Right Arrow 7"/>
            <p:cNvSpPr/>
            <p:nvPr/>
          </p:nvSpPr>
          <p:spPr>
            <a:xfrm>
              <a:off x="1115616" y="3947250"/>
              <a:ext cx="1152128" cy="66706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Y=5</a:t>
              </a:r>
            </a:p>
          </p:txBody>
        </p:sp>
        <p:sp>
          <p:nvSpPr>
            <p:cNvPr id="9" name="Rectangle 8"/>
            <p:cNvSpPr/>
            <p:nvPr/>
          </p:nvSpPr>
          <p:spPr>
            <a:xfrm>
              <a:off x="2339752" y="4014452"/>
              <a:ext cx="1008112" cy="532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13" name="Right Arrow 12"/>
            <p:cNvSpPr/>
            <p:nvPr/>
          </p:nvSpPr>
          <p:spPr>
            <a:xfrm>
              <a:off x="3419872" y="3947250"/>
              <a:ext cx="1152128" cy="66706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X=20</a:t>
              </a:r>
            </a:p>
          </p:txBody>
        </p:sp>
      </p:grpSp>
      <p:sp>
        <p:nvSpPr>
          <p:cNvPr id="17" name="Right Arrow 16"/>
          <p:cNvSpPr/>
          <p:nvPr/>
        </p:nvSpPr>
        <p:spPr>
          <a:xfrm>
            <a:off x="4796036" y="3881300"/>
            <a:ext cx="1152128" cy="66706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Y=5</a:t>
            </a:r>
          </a:p>
        </p:txBody>
      </p:sp>
      <p:sp>
        <p:nvSpPr>
          <p:cNvPr id="18" name="Rectangle 17"/>
          <p:cNvSpPr/>
          <p:nvPr/>
        </p:nvSpPr>
        <p:spPr>
          <a:xfrm>
            <a:off x="6020172" y="3948502"/>
            <a:ext cx="1008112" cy="532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X=4Y</a:t>
            </a:r>
          </a:p>
        </p:txBody>
      </p:sp>
      <p:sp>
        <p:nvSpPr>
          <p:cNvPr id="19" name="Right Arrow 18"/>
          <p:cNvSpPr/>
          <p:nvPr/>
        </p:nvSpPr>
        <p:spPr>
          <a:xfrm>
            <a:off x="7100292" y="3881300"/>
            <a:ext cx="1152128" cy="667060"/>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X=20</a:t>
            </a:r>
          </a:p>
        </p:txBody>
      </p:sp>
    </p:spTree>
    <p:extLst>
      <p:ext uri="{BB962C8B-B14F-4D97-AF65-F5344CB8AC3E}">
        <p14:creationId xmlns:p14="http://schemas.microsoft.com/office/powerpoint/2010/main" val="234652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lnSpcReduction="10000"/>
          </a:bodyPr>
          <a:lstStyle/>
          <a:p>
            <a:pPr marL="109728" indent="0" algn="just">
              <a:buNone/>
            </a:pPr>
            <a:r>
              <a:rPr lang="en-GB" b="1" dirty="0">
                <a:latin typeface="Times New Roman" pitchFamily="18" charset="0"/>
                <a:cs typeface="Times New Roman" pitchFamily="18" charset="0"/>
              </a:rPr>
              <a:t>White box testing techniques</a:t>
            </a:r>
          </a:p>
          <a:p>
            <a:pPr marL="109728" indent="0" algn="just">
              <a:buNone/>
            </a:pPr>
            <a:r>
              <a:rPr lang="en-GB" dirty="0">
                <a:latin typeface="Times New Roman" pitchFamily="18" charset="0"/>
                <a:cs typeface="Times New Roman" pitchFamily="18" charset="0"/>
              </a:rPr>
              <a:t>White box testing is a test case design that derives test cases using the control structure of the procedural design.</a:t>
            </a:r>
          </a:p>
          <a:p>
            <a:pPr marL="109728" indent="0" algn="just">
              <a:buNone/>
            </a:pPr>
            <a:r>
              <a:rPr lang="en-GB" dirty="0">
                <a:latin typeface="Times New Roman" pitchFamily="18" charset="0"/>
                <a:cs typeface="Times New Roman" pitchFamily="18" charset="0"/>
              </a:rPr>
              <a:t>Using White box testing methods, the software engineer can derive test cases that:</a:t>
            </a:r>
          </a:p>
          <a:p>
            <a:pPr marL="624078" indent="-514350" algn="just">
              <a:buFont typeface="+mj-lt"/>
              <a:buAutoNum type="arabicPeriod"/>
            </a:pPr>
            <a:r>
              <a:rPr lang="en-GB" dirty="0">
                <a:latin typeface="Times New Roman" pitchFamily="18" charset="0"/>
                <a:cs typeface="Times New Roman" pitchFamily="18" charset="0"/>
              </a:rPr>
              <a:t>Guarantee that all independent paths are exercised at least once.</a:t>
            </a:r>
          </a:p>
          <a:p>
            <a:pPr marL="624078" indent="-514350" algn="just">
              <a:buFont typeface="+mj-lt"/>
              <a:buAutoNum type="arabicPeriod"/>
            </a:pPr>
            <a:r>
              <a:rPr lang="en-GB" dirty="0">
                <a:latin typeface="Times New Roman" pitchFamily="18" charset="0"/>
                <a:cs typeface="Times New Roman" pitchFamily="18" charset="0"/>
              </a:rPr>
              <a:t>Test the possibilities (“true” and ”false”)of all logical decisions.</a:t>
            </a:r>
          </a:p>
          <a:p>
            <a:pPr marL="624078" indent="-514350" algn="just">
              <a:buFont typeface="+mj-lt"/>
              <a:buAutoNum type="arabicPeriod"/>
            </a:pPr>
            <a:r>
              <a:rPr lang="en-GB" dirty="0">
                <a:latin typeface="Times New Roman" pitchFamily="18" charset="0"/>
                <a:cs typeface="Times New Roman" pitchFamily="18" charset="0"/>
              </a:rPr>
              <a:t>Execute all loop with their different values (at their boundaries and within operational bounds)</a:t>
            </a:r>
          </a:p>
          <a:p>
            <a:pPr marL="624078" indent="-514350" algn="just">
              <a:buFont typeface="+mj-lt"/>
              <a:buAutoNum type="arabicPeriod"/>
            </a:pPr>
            <a:r>
              <a:rPr lang="en-GB" dirty="0">
                <a:latin typeface="Times New Roman" pitchFamily="18" charset="0"/>
                <a:cs typeface="Times New Roman" pitchFamily="18" charset="0"/>
              </a:rPr>
              <a:t>Test the internal data structures to ensure validity. </a:t>
            </a:r>
          </a:p>
          <a:p>
            <a:pPr marL="109728" indent="0" algn="just">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817952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620688"/>
            <a:ext cx="7848872" cy="6237312"/>
          </a:xfrm>
        </p:spPr>
        <p:txBody>
          <a:bodyPr>
            <a:normAutofit/>
          </a:bodyPr>
          <a:lstStyle/>
          <a:p>
            <a:pPr marL="109728" indent="0" algn="just">
              <a:buNone/>
            </a:pPr>
            <a:r>
              <a:rPr lang="en-GB" dirty="0">
                <a:latin typeface="Times New Roman" pitchFamily="18" charset="0"/>
                <a:cs typeface="Times New Roman" pitchFamily="18" charset="0"/>
              </a:rPr>
              <a:t>The white box testing permits to regroup errors in the following categories: </a:t>
            </a:r>
          </a:p>
          <a:p>
            <a:pPr marL="624078" indent="-514350" algn="just">
              <a:buClrTx/>
              <a:buFont typeface="+mj-lt"/>
              <a:buAutoNum type="alphaLcParenR"/>
            </a:pPr>
            <a:r>
              <a:rPr lang="en-GB" dirty="0">
                <a:latin typeface="Times New Roman" pitchFamily="18" charset="0"/>
                <a:cs typeface="Times New Roman" pitchFamily="18" charset="0"/>
              </a:rPr>
              <a:t>The logic errors and the incorrect specifications.</a:t>
            </a:r>
          </a:p>
          <a:p>
            <a:pPr marL="624078" indent="-514350" algn="just">
              <a:buClrTx/>
              <a:buFont typeface="+mj-lt"/>
              <a:buAutoNum type="alphaLcParenR"/>
            </a:pPr>
            <a:r>
              <a:rPr lang="en-GB" dirty="0">
                <a:latin typeface="Times New Roman" pitchFamily="18" charset="0"/>
                <a:cs typeface="Times New Roman" pitchFamily="18" charset="0"/>
              </a:rPr>
              <a:t>Boolean errors.</a:t>
            </a:r>
          </a:p>
          <a:p>
            <a:pPr marL="624078" indent="-514350" algn="just">
              <a:buClrTx/>
              <a:buFont typeface="+mj-lt"/>
              <a:buAutoNum type="alphaLcParenR"/>
            </a:pPr>
            <a:r>
              <a:rPr lang="en-GB" dirty="0">
                <a:latin typeface="Times New Roman" pitchFamily="18" charset="0"/>
                <a:cs typeface="Times New Roman" pitchFamily="18" charset="0"/>
              </a:rPr>
              <a:t>Errors of repetitive instructions.</a:t>
            </a:r>
          </a:p>
          <a:p>
            <a:pPr marL="624078" indent="-514350" algn="just">
              <a:buClrTx/>
              <a:buFont typeface="+mj-lt"/>
              <a:buAutoNum type="alphaLcParenR"/>
            </a:pPr>
            <a:r>
              <a:rPr lang="en-GB" dirty="0">
                <a:latin typeface="Times New Roman" pitchFamily="18" charset="0"/>
                <a:cs typeface="Times New Roman" pitchFamily="18" charset="0"/>
              </a:rPr>
              <a:t>Errors of data type.</a:t>
            </a:r>
          </a:p>
          <a:p>
            <a:pPr marL="624078" indent="-514350" algn="just">
              <a:buClrTx/>
              <a:buFont typeface="+mj-lt"/>
              <a:buAutoNum type="alphaLcParenR"/>
            </a:pPr>
            <a:r>
              <a:rPr lang="en-GB" dirty="0">
                <a:latin typeface="Times New Roman" pitchFamily="18" charset="0"/>
                <a:cs typeface="Times New Roman" pitchFamily="18" charset="0"/>
              </a:rPr>
              <a:t>Typographic (syntax) and random errors.</a:t>
            </a:r>
          </a:p>
          <a:p>
            <a:pPr marL="109728" indent="0" algn="just">
              <a:buClrTx/>
              <a:buNone/>
            </a:pPr>
            <a:r>
              <a:rPr lang="en-GB" dirty="0">
                <a:latin typeface="Times New Roman" pitchFamily="18" charset="0"/>
                <a:cs typeface="Times New Roman" pitchFamily="18" charset="0"/>
              </a:rPr>
              <a:t>The white box testing techniques are:</a:t>
            </a:r>
          </a:p>
        </p:txBody>
      </p:sp>
    </p:spTree>
    <p:extLst>
      <p:ext uri="{BB962C8B-B14F-4D97-AF65-F5344CB8AC3E}">
        <p14:creationId xmlns:p14="http://schemas.microsoft.com/office/powerpoint/2010/main" val="1142797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E5FB4-3E13-7052-5BD6-483D47B11567}"/>
              </a:ext>
            </a:extLst>
          </p:cNvPr>
          <p:cNvSpPr>
            <a:spLocks noGrp="1"/>
          </p:cNvSpPr>
          <p:nvPr>
            <p:ph type="title"/>
          </p:nvPr>
        </p:nvSpPr>
        <p:spPr/>
        <p:txBody>
          <a:bodyPr>
            <a:normAutofit fontScale="90000"/>
          </a:bodyPr>
          <a:lstStyle/>
          <a:p>
            <a:r>
              <a:rPr lang="en-GB" b="1" dirty="0">
                <a:latin typeface="Times New Roman" pitchFamily="18" charset="0"/>
                <a:cs typeface="Times New Roman" pitchFamily="18" charset="0"/>
              </a:rPr>
              <a:t>Basic path testing</a:t>
            </a:r>
            <a:br>
              <a:rPr lang="en-GB" b="1"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926CE05E-0293-E948-ABD4-A646831EA565}"/>
              </a:ext>
            </a:extLst>
          </p:cNvPr>
          <p:cNvSpPr>
            <a:spLocks noGrp="1"/>
          </p:cNvSpPr>
          <p:nvPr>
            <p:ph idx="1"/>
          </p:nvPr>
        </p:nvSpPr>
        <p:spPr/>
        <p:txBody>
          <a:bodyPr>
            <a:normAutofit/>
          </a:bodyPr>
          <a:lstStyle/>
          <a:p>
            <a:pPr marL="109728" indent="0" algn="just">
              <a:buClrTx/>
              <a:buNone/>
            </a:pPr>
            <a:r>
              <a:rPr lang="en-GB" dirty="0">
                <a:latin typeface="Times New Roman" pitchFamily="18" charset="0"/>
                <a:cs typeface="Times New Roman" pitchFamily="18" charset="0"/>
              </a:rPr>
              <a:t>this method enables the designer to derive measures of a procedural design and uses this measure as a guide to define a set of execution </a:t>
            </a:r>
            <a:r>
              <a:rPr lang="en-GB" b="1" dirty="0">
                <a:latin typeface="Times New Roman" pitchFamily="18" charset="0"/>
                <a:cs typeface="Times New Roman" pitchFamily="18" charset="0"/>
              </a:rPr>
              <a:t>paths</a:t>
            </a:r>
            <a:r>
              <a:rPr lang="en-GB" dirty="0">
                <a:latin typeface="Times New Roman" pitchFamily="18" charset="0"/>
                <a:cs typeface="Times New Roman" pitchFamily="18" charset="0"/>
              </a:rPr>
              <a:t>. The basis path method permits to execute every statement in the program at least once. This method can be applied to source code. The basis path test techniques transforms the program into </a:t>
            </a:r>
            <a:r>
              <a:rPr lang="en-GB" b="1" i="1" dirty="0">
                <a:latin typeface="Times New Roman" pitchFamily="18" charset="0"/>
                <a:cs typeface="Times New Roman" pitchFamily="18" charset="0"/>
              </a:rPr>
              <a:t>control graphs </a:t>
            </a:r>
            <a:r>
              <a:rPr lang="en-GB" dirty="0">
                <a:latin typeface="Times New Roman" pitchFamily="18" charset="0"/>
                <a:cs typeface="Times New Roman" pitchFamily="18" charset="0"/>
              </a:rPr>
              <a:t>in order to deduce the </a:t>
            </a:r>
            <a:r>
              <a:rPr lang="en-GB" b="1" i="1" dirty="0">
                <a:latin typeface="Times New Roman" pitchFamily="18" charset="0"/>
                <a:cs typeface="Times New Roman" pitchFamily="18" charset="0"/>
              </a:rPr>
              <a:t>measure of complexity</a:t>
            </a:r>
          </a:p>
          <a:p>
            <a:endParaRPr lang="en-US" dirty="0"/>
          </a:p>
        </p:txBody>
      </p:sp>
    </p:spTree>
    <p:extLst>
      <p:ext uri="{BB962C8B-B14F-4D97-AF65-F5344CB8AC3E}">
        <p14:creationId xmlns:p14="http://schemas.microsoft.com/office/powerpoint/2010/main" val="257642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76672"/>
            <a:ext cx="8229600" cy="576064"/>
          </a:xfrm>
        </p:spPr>
        <p:txBody>
          <a:bodyPr>
            <a:normAutofit fontScale="90000"/>
          </a:bodyPr>
          <a:lstStyle/>
          <a:p>
            <a:r>
              <a:rPr lang="en-GB" dirty="0">
                <a:latin typeface="Times New Roman" pitchFamily="18" charset="0"/>
                <a:cs typeface="Times New Roman" pitchFamily="18" charset="0"/>
              </a:rPr>
              <a:t>Control graph</a:t>
            </a:r>
          </a:p>
        </p:txBody>
      </p:sp>
      <p:sp>
        <p:nvSpPr>
          <p:cNvPr id="2" name="Content Placeholder 1"/>
          <p:cNvSpPr>
            <a:spLocks noGrp="1"/>
          </p:cNvSpPr>
          <p:nvPr>
            <p:ph idx="1"/>
          </p:nvPr>
        </p:nvSpPr>
        <p:spPr>
          <a:xfrm>
            <a:off x="457200" y="1124744"/>
            <a:ext cx="8229600" cy="4882547"/>
          </a:xfrm>
        </p:spPr>
        <p:txBody>
          <a:bodyPr/>
          <a:lstStyle/>
          <a:p>
            <a:pPr marL="109728" indent="0" algn="just">
              <a:buNone/>
            </a:pPr>
            <a:r>
              <a:rPr lang="en-GB" dirty="0">
                <a:latin typeface="Times New Roman" pitchFamily="18" charset="0"/>
                <a:cs typeface="Times New Roman" pitchFamily="18" charset="0"/>
              </a:rPr>
              <a:t>The control graph of a program is the graph that represents the set of paths corresponding to program execution. The instruction is represented as follows:</a:t>
            </a:r>
          </a:p>
          <a:p>
            <a:pPr marL="109728" indent="0" algn="just">
              <a:buNone/>
            </a:pPr>
            <a:endParaRPr lang="en-GB" dirty="0">
              <a:latin typeface="Times New Roman" pitchFamily="18" charset="0"/>
              <a:cs typeface="Times New Roman" pitchFamily="18" charset="0"/>
            </a:endParaRPr>
          </a:p>
          <a:p>
            <a:pPr marL="109728" indent="0" algn="just">
              <a:buNone/>
            </a:pPr>
            <a:endParaRPr lang="en-GB"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31E0FA2F-366C-0688-C7FC-5CA672960366}"/>
              </a:ext>
            </a:extLst>
          </p:cNvPr>
          <p:cNvPicPr/>
          <p:nvPr/>
        </p:nvPicPr>
        <p:blipFill>
          <a:blip r:embed="rId2"/>
          <a:stretch>
            <a:fillRect/>
          </a:stretch>
        </p:blipFill>
        <p:spPr>
          <a:xfrm>
            <a:off x="755576" y="2348880"/>
            <a:ext cx="7632848" cy="3730419"/>
          </a:xfrm>
          <a:prstGeom prst="rect">
            <a:avLst/>
          </a:prstGeom>
        </p:spPr>
      </p:pic>
    </p:spTree>
    <p:extLst>
      <p:ext uri="{BB962C8B-B14F-4D97-AF65-F5344CB8AC3E}">
        <p14:creationId xmlns:p14="http://schemas.microsoft.com/office/powerpoint/2010/main" val="195042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692696"/>
            <a:ext cx="7920880" cy="5832648"/>
          </a:xfrm>
        </p:spPr>
        <p:txBody>
          <a:bodyPr>
            <a:normAutofit/>
          </a:bodyPr>
          <a:lstStyle/>
          <a:p>
            <a:pPr marL="109728" indent="0" algn="just">
              <a:buNone/>
            </a:pPr>
            <a:r>
              <a:rPr lang="en-GB" dirty="0">
                <a:latin typeface="Times New Roman" pitchFamily="18" charset="0"/>
                <a:cs typeface="Times New Roman" pitchFamily="18" charset="0"/>
              </a:rPr>
              <a:t>According to the symbols each circle, called a control or flow graph </a:t>
            </a:r>
            <a:r>
              <a:rPr lang="en-GB" b="1" i="1" dirty="0">
                <a:solidFill>
                  <a:srgbClr val="FF0000"/>
                </a:solidFill>
                <a:latin typeface="Times New Roman" pitchFamily="18" charset="0"/>
                <a:cs typeface="Times New Roman" pitchFamily="18" charset="0"/>
              </a:rPr>
              <a:t>node</a:t>
            </a:r>
            <a:r>
              <a:rPr lang="en-GB" dirty="0">
                <a:latin typeface="Times New Roman" pitchFamily="18" charset="0"/>
                <a:cs typeface="Times New Roman" pitchFamily="18" charset="0"/>
              </a:rPr>
              <a:t>, represents one or more instructions. The arrows on the flow graph, called </a:t>
            </a:r>
            <a:r>
              <a:rPr lang="en-GB" b="1" i="1" dirty="0">
                <a:solidFill>
                  <a:srgbClr val="FF0000"/>
                </a:solidFill>
                <a:latin typeface="Times New Roman" pitchFamily="18" charset="0"/>
                <a:cs typeface="Times New Roman" pitchFamily="18" charset="0"/>
              </a:rPr>
              <a:t>edges</a:t>
            </a:r>
            <a:r>
              <a:rPr lang="en-GB" dirty="0">
                <a:latin typeface="Times New Roman" pitchFamily="18" charset="0"/>
                <a:cs typeface="Times New Roman" pitchFamily="18" charset="0"/>
              </a:rPr>
              <a:t>, represent flow of control. The zones limited by edges and nodes are called </a:t>
            </a:r>
            <a:r>
              <a:rPr lang="en-GB" b="1" i="1" dirty="0">
                <a:solidFill>
                  <a:srgbClr val="FF0000"/>
                </a:solidFill>
                <a:latin typeface="Times New Roman" pitchFamily="18" charset="0"/>
                <a:cs typeface="Times New Roman" pitchFamily="18" charset="0"/>
              </a:rPr>
              <a:t>regions</a:t>
            </a:r>
            <a:r>
              <a:rPr lang="en-GB" dirty="0">
                <a:latin typeface="Times New Roman" pitchFamily="18" charset="0"/>
                <a:cs typeface="Times New Roman" pitchFamily="18" charset="0"/>
              </a:rPr>
              <a:t>. When counting the number of regions we count the zone outside the graph as a region. The node that represent a condition is called </a:t>
            </a:r>
            <a:r>
              <a:rPr lang="en-GB" b="1" i="1" dirty="0">
                <a:solidFill>
                  <a:srgbClr val="FF0000"/>
                </a:solidFill>
                <a:latin typeface="Times New Roman" pitchFamily="18" charset="0"/>
                <a:cs typeface="Times New Roman" pitchFamily="18" charset="0"/>
              </a:rPr>
              <a:t>predicate node </a:t>
            </a:r>
            <a:r>
              <a:rPr lang="en-GB" dirty="0">
                <a:latin typeface="Times New Roman" pitchFamily="18" charset="0"/>
                <a:cs typeface="Times New Roman" pitchFamily="18" charset="0"/>
              </a:rPr>
              <a:t>and it has two or more edges emanating from it.</a:t>
            </a:r>
          </a:p>
          <a:p>
            <a:pPr marL="109728" indent="0" algn="just">
              <a:buNone/>
            </a:pPr>
            <a:r>
              <a:rPr lang="en-GB" b="1" dirty="0">
                <a:latin typeface="Times New Roman" pitchFamily="18" charset="0"/>
                <a:cs typeface="Times New Roman" pitchFamily="18" charset="0"/>
              </a:rPr>
              <a:t>Measure of complexity:  </a:t>
            </a:r>
          </a:p>
          <a:p>
            <a:pPr marL="109728" indent="0" algn="just">
              <a:buNone/>
            </a:pPr>
            <a:r>
              <a:rPr lang="en-GB" dirty="0">
                <a:latin typeface="Times New Roman" pitchFamily="18" charset="0"/>
                <a:cs typeface="Times New Roman" pitchFamily="18" charset="0"/>
              </a:rPr>
              <a:t>The measure is also called </a:t>
            </a:r>
            <a:r>
              <a:rPr lang="en-GB" dirty="0" err="1">
                <a:latin typeface="Times New Roman" pitchFamily="18" charset="0"/>
                <a:cs typeface="Times New Roman" pitchFamily="18" charset="0"/>
              </a:rPr>
              <a:t>cyclomatic</a:t>
            </a:r>
            <a:r>
              <a:rPr lang="en-GB" dirty="0">
                <a:latin typeface="Times New Roman" pitchFamily="18" charset="0"/>
                <a:cs typeface="Times New Roman" pitchFamily="18" charset="0"/>
              </a:rPr>
              <a:t> number or </a:t>
            </a:r>
            <a:r>
              <a:rPr lang="en-GB" dirty="0" err="1">
                <a:latin typeface="Times New Roman" pitchFamily="18" charset="0"/>
                <a:cs typeface="Times New Roman" pitchFamily="18" charset="0"/>
              </a:rPr>
              <a:t>cyclomatic</a:t>
            </a:r>
            <a:r>
              <a:rPr lang="en-GB" dirty="0">
                <a:latin typeface="Times New Roman" pitchFamily="18" charset="0"/>
                <a:cs typeface="Times New Roman" pitchFamily="18" charset="0"/>
              </a:rPr>
              <a:t> complexity. It gives the number of minimal paths. The </a:t>
            </a:r>
            <a:r>
              <a:rPr lang="en-GB" dirty="0" err="1">
                <a:latin typeface="Times New Roman" pitchFamily="18" charset="0"/>
                <a:cs typeface="Times New Roman" pitchFamily="18" charset="0"/>
              </a:rPr>
              <a:t>cyclomatic</a:t>
            </a:r>
            <a:r>
              <a:rPr lang="en-GB" dirty="0">
                <a:latin typeface="Times New Roman" pitchFamily="18" charset="0"/>
                <a:cs typeface="Times New Roman" pitchFamily="18" charset="0"/>
              </a:rPr>
              <a:t> number can be calculated by the following formulas:</a:t>
            </a:r>
          </a:p>
        </p:txBody>
      </p:sp>
    </p:spTree>
    <p:extLst>
      <p:ext uri="{BB962C8B-B14F-4D97-AF65-F5344CB8AC3E}">
        <p14:creationId xmlns:p14="http://schemas.microsoft.com/office/powerpoint/2010/main" val="875741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5576" y="764704"/>
            <a:ext cx="7848872" cy="5688632"/>
          </a:xfrm>
        </p:spPr>
        <p:txBody>
          <a:bodyPr>
            <a:normAutofit/>
          </a:bodyPr>
          <a:lstStyle/>
          <a:p>
            <a:pPr marL="109728" indent="0" algn="just">
              <a:buNone/>
            </a:pPr>
            <a:r>
              <a:rPr lang="en-GB" dirty="0">
                <a:latin typeface="Times New Roman" pitchFamily="18" charset="0"/>
                <a:cs typeface="Times New Roman" pitchFamily="18" charset="0"/>
              </a:rPr>
              <a:t>Cyclomatic number:</a:t>
            </a:r>
          </a:p>
          <a:p>
            <a:pPr marL="109728" indent="0" algn="just">
              <a:buNone/>
            </a:pPr>
            <a:r>
              <a:rPr lang="en-GB" dirty="0">
                <a:latin typeface="Times New Roman" pitchFamily="18" charset="0"/>
                <a:cs typeface="Times New Roman" pitchFamily="18" charset="0"/>
              </a:rPr>
              <a:t>No. of edges- No. of nodes +2</a:t>
            </a:r>
          </a:p>
          <a:p>
            <a:pPr marL="109728" indent="0" algn="just">
              <a:buNone/>
            </a:pPr>
            <a:endParaRPr lang="en-GB" dirty="0">
              <a:latin typeface="Times New Roman" pitchFamily="18" charset="0"/>
              <a:cs typeface="Times New Roman" pitchFamily="18" charset="0"/>
            </a:endParaRPr>
          </a:p>
          <a:p>
            <a:pPr marL="109728" indent="0" algn="just">
              <a:buNone/>
            </a:pPr>
            <a:r>
              <a:rPr lang="en-GB" dirty="0">
                <a:latin typeface="Times New Roman" pitchFamily="18" charset="0"/>
                <a:cs typeface="Times New Roman" pitchFamily="18" charset="0"/>
              </a:rPr>
              <a:t>No. Of regions</a:t>
            </a:r>
          </a:p>
          <a:p>
            <a:pPr marL="109728" indent="0" algn="just">
              <a:buNone/>
            </a:pPr>
            <a:endParaRPr lang="en-GB" dirty="0">
              <a:latin typeface="Times New Roman" pitchFamily="18" charset="0"/>
              <a:cs typeface="Times New Roman" pitchFamily="18" charset="0"/>
            </a:endParaRPr>
          </a:p>
          <a:p>
            <a:pPr marL="109728" indent="0" algn="just">
              <a:buNone/>
            </a:pPr>
            <a:r>
              <a:rPr lang="en-GB" dirty="0">
                <a:latin typeface="Times New Roman" pitchFamily="18" charset="0"/>
                <a:cs typeface="Times New Roman" pitchFamily="18" charset="0"/>
              </a:rPr>
              <a:t>No. Of conditions+1</a:t>
            </a:r>
          </a:p>
          <a:p>
            <a:pPr marL="109728" indent="0" algn="just">
              <a:buNone/>
            </a:pPr>
            <a:r>
              <a:rPr lang="en-GB" dirty="0">
                <a:latin typeface="Times New Roman" pitchFamily="18" charset="0"/>
                <a:cs typeface="Times New Roman" pitchFamily="18" charset="0"/>
              </a:rPr>
              <a:t>The resulting value of the cyclomatic number determines the number of independent paths and indicates the maximal number of tests which must be executed to ensure that all statement have been executed at least once. </a:t>
            </a:r>
          </a:p>
        </p:txBody>
      </p:sp>
      <p:sp>
        <p:nvSpPr>
          <p:cNvPr id="4" name="Rectangle 3"/>
          <p:cNvSpPr/>
          <p:nvPr/>
        </p:nvSpPr>
        <p:spPr>
          <a:xfrm>
            <a:off x="816472" y="1324798"/>
            <a:ext cx="453650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75" y="2331965"/>
            <a:ext cx="4597400"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268" y="3296337"/>
            <a:ext cx="4597400" cy="4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a:extLst>
              <a:ext uri="{FF2B5EF4-FFF2-40B4-BE49-F238E27FC236}">
                <a16:creationId xmlns:a16="http://schemas.microsoft.com/office/drawing/2014/main" id="{E6295D7D-D1D9-CD96-4E3E-60F0074C1B5E}"/>
              </a:ext>
            </a:extLst>
          </p:cNvPr>
          <p:cNvPicPr>
            <a:picLocks noChangeAspect="1"/>
          </p:cNvPicPr>
          <p:nvPr/>
        </p:nvPicPr>
        <p:blipFill>
          <a:blip r:embed="rId3"/>
          <a:stretch>
            <a:fillRect/>
          </a:stretch>
        </p:blipFill>
        <p:spPr>
          <a:xfrm>
            <a:off x="795349" y="1300009"/>
            <a:ext cx="4596782" cy="481626"/>
          </a:xfrm>
          <a:prstGeom prst="rect">
            <a:avLst/>
          </a:prstGeom>
        </p:spPr>
      </p:pic>
    </p:spTree>
    <p:extLst>
      <p:ext uri="{BB962C8B-B14F-4D97-AF65-F5344CB8AC3E}">
        <p14:creationId xmlns:p14="http://schemas.microsoft.com/office/powerpoint/2010/main" val="1728680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5881-BCBE-FD03-EA64-381332764CD2}"/>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CA2C4CD2-D460-E731-18D3-430D01DBF788}"/>
              </a:ext>
            </a:extLst>
          </p:cNvPr>
          <p:cNvSpPr>
            <a:spLocks noGrp="1"/>
          </p:cNvSpPr>
          <p:nvPr>
            <p:ph idx="1"/>
          </p:nvPr>
        </p:nvSpPr>
        <p:spPr/>
        <p:txBody>
          <a:bodyPr>
            <a:normAutofit lnSpcReduction="10000"/>
          </a:bodyPr>
          <a:lstStyle/>
          <a:p>
            <a:r>
              <a:rPr lang="en-US" dirty="0"/>
              <a:t>A = 10</a:t>
            </a:r>
            <a:br>
              <a:rPr lang="en-US" dirty="0"/>
            </a:br>
            <a:r>
              <a:rPr lang="en-US" dirty="0"/>
              <a:t>   IF B &gt; C THEN</a:t>
            </a:r>
            <a:br>
              <a:rPr lang="en-US" dirty="0"/>
            </a:br>
            <a:r>
              <a:rPr lang="en-US" dirty="0"/>
              <a:t>      A = B</a:t>
            </a:r>
            <a:br>
              <a:rPr lang="en-US" dirty="0"/>
            </a:br>
            <a:r>
              <a:rPr lang="en-US" dirty="0"/>
              <a:t>   ELSE</a:t>
            </a:r>
            <a:br>
              <a:rPr lang="en-US" dirty="0"/>
            </a:br>
            <a:r>
              <a:rPr lang="en-US" dirty="0"/>
              <a:t>      A = C</a:t>
            </a:r>
            <a:br>
              <a:rPr lang="en-US" dirty="0"/>
            </a:br>
            <a:r>
              <a:rPr lang="en-US" dirty="0"/>
              <a:t>   ENDIF</a:t>
            </a:r>
            <a:br>
              <a:rPr lang="en-US" dirty="0"/>
            </a:br>
            <a:r>
              <a:rPr lang="en-US" dirty="0"/>
              <a:t>Print A</a:t>
            </a:r>
            <a:br>
              <a:rPr lang="en-US" dirty="0"/>
            </a:br>
            <a:r>
              <a:rPr lang="en-US" dirty="0"/>
              <a:t>Print B</a:t>
            </a:r>
            <a:br>
              <a:rPr lang="en-US" dirty="0"/>
            </a:br>
            <a:r>
              <a:rPr lang="en-US" dirty="0"/>
              <a:t>Print C</a:t>
            </a:r>
          </a:p>
          <a:p>
            <a:endParaRPr lang="en-US" dirty="0"/>
          </a:p>
        </p:txBody>
      </p:sp>
    </p:spTree>
    <p:extLst>
      <p:ext uri="{BB962C8B-B14F-4D97-AF65-F5344CB8AC3E}">
        <p14:creationId xmlns:p14="http://schemas.microsoft.com/office/powerpoint/2010/main" val="468291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879F28-6F46-AC8E-EBD9-2F255A5DA8EF}"/>
              </a:ext>
            </a:extLst>
          </p:cNvPr>
          <p:cNvPicPr>
            <a:picLocks noChangeAspect="1"/>
          </p:cNvPicPr>
          <p:nvPr/>
        </p:nvPicPr>
        <p:blipFill>
          <a:blip r:embed="rId2"/>
          <a:stretch>
            <a:fillRect/>
          </a:stretch>
        </p:blipFill>
        <p:spPr>
          <a:xfrm>
            <a:off x="1972809" y="692696"/>
            <a:ext cx="5198382" cy="5544616"/>
          </a:xfrm>
          <a:prstGeom prst="rect">
            <a:avLst/>
          </a:prstGeom>
        </p:spPr>
      </p:pic>
    </p:spTree>
    <p:extLst>
      <p:ext uri="{BB962C8B-B14F-4D97-AF65-F5344CB8AC3E}">
        <p14:creationId xmlns:p14="http://schemas.microsoft.com/office/powerpoint/2010/main" val="50260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476672"/>
            <a:ext cx="8003232" cy="5976664"/>
          </a:xfrm>
        </p:spPr>
        <p:txBody>
          <a:bodyPr>
            <a:noAutofit/>
          </a:bodyPr>
          <a:lstStyle/>
          <a:p>
            <a:pPr marL="0" indent="0" algn="just">
              <a:lnSpc>
                <a:spcPct val="150000"/>
              </a:lnSpc>
              <a:spcAft>
                <a:spcPts val="1000"/>
              </a:spcAft>
              <a:buNone/>
            </a:pPr>
            <a:r>
              <a:rPr lang="en-GB" sz="1500" dirty="0">
                <a:latin typeface="Arial Black" pitchFamily="34" charset="0"/>
                <a:ea typeface="Calibri"/>
                <a:cs typeface="Arial"/>
              </a:rPr>
              <a:t>Draw the control graph and find the Cyclomatic number of the following program:</a:t>
            </a:r>
          </a:p>
          <a:p>
            <a:pPr marL="0" lvl="0" indent="0" algn="just">
              <a:lnSpc>
                <a:spcPct val="120000"/>
              </a:lnSpc>
              <a:spcAft>
                <a:spcPts val="0"/>
              </a:spcAft>
              <a:buNone/>
            </a:pPr>
            <a:r>
              <a:rPr lang="en-GB" sz="1500" dirty="0">
                <a:latin typeface="Arial Black" pitchFamily="34" charset="0"/>
                <a:ea typeface="Times New Roman"/>
                <a:cs typeface="Times New Roman"/>
              </a:rPr>
              <a:t>1)void </a:t>
            </a:r>
            <a:r>
              <a:rPr lang="en-GB" sz="1500" dirty="0" err="1">
                <a:latin typeface="Arial Black" pitchFamily="34" charset="0"/>
                <a:ea typeface="Times New Roman"/>
                <a:cs typeface="Times New Roman"/>
              </a:rPr>
              <a:t>selectionsort</a:t>
            </a:r>
            <a:r>
              <a:rPr lang="en-GB" sz="1500" dirty="0">
                <a:latin typeface="Arial Black" pitchFamily="34" charset="0"/>
                <a:ea typeface="Times New Roman"/>
                <a:cs typeface="Times New Roman"/>
              </a:rPr>
              <a:t>(</a:t>
            </a:r>
            <a:r>
              <a:rPr lang="en-GB" sz="1500" dirty="0" err="1">
                <a:latin typeface="Arial Black" pitchFamily="34" charset="0"/>
                <a:ea typeface="Times New Roman"/>
                <a:cs typeface="Times New Roman"/>
              </a:rPr>
              <a:t>int</a:t>
            </a:r>
            <a:r>
              <a:rPr lang="en-GB" sz="1500" dirty="0">
                <a:latin typeface="Arial Black" pitchFamily="34" charset="0"/>
                <a:ea typeface="Times New Roman"/>
                <a:cs typeface="Times New Roman"/>
              </a:rPr>
              <a:t>[] table) { </a:t>
            </a:r>
          </a:p>
          <a:p>
            <a:pPr marL="0" lvl="0" indent="0" algn="just">
              <a:lnSpc>
                <a:spcPct val="120000"/>
              </a:lnSpc>
              <a:spcAft>
                <a:spcPts val="0"/>
              </a:spcAft>
              <a:buNone/>
            </a:pPr>
            <a:r>
              <a:rPr lang="en-GB" sz="1500" dirty="0">
                <a:latin typeface="Arial Black" pitchFamily="34" charset="0"/>
                <a:ea typeface="Times New Roman"/>
                <a:cs typeface="Times New Roman"/>
              </a:rPr>
              <a:t>        </a:t>
            </a:r>
            <a:r>
              <a:rPr lang="en-GB" sz="1500" dirty="0" err="1">
                <a:latin typeface="Arial Black" pitchFamily="34" charset="0"/>
                <a:ea typeface="Times New Roman"/>
                <a:cs typeface="Times New Roman"/>
              </a:rPr>
              <a:t>int</a:t>
            </a:r>
            <a:r>
              <a:rPr lang="en-GB" sz="1500" dirty="0">
                <a:latin typeface="Arial Black" pitchFamily="34" charset="0"/>
                <a:ea typeface="Times New Roman"/>
                <a:cs typeface="Times New Roman"/>
              </a:rPr>
              <a:t>   min, </a:t>
            </a:r>
            <a:r>
              <a:rPr lang="en-GB" sz="1500" dirty="0" err="1">
                <a:latin typeface="Arial Black" pitchFamily="34" charset="0"/>
                <a:ea typeface="Times New Roman"/>
                <a:cs typeface="Times New Roman"/>
              </a:rPr>
              <a:t>pos</a:t>
            </a:r>
            <a:r>
              <a:rPr lang="en-GB" sz="1500" dirty="0">
                <a:latin typeface="Arial Black" pitchFamily="34" charset="0"/>
                <a:ea typeface="Times New Roman"/>
                <a:cs typeface="Times New Roman"/>
              </a:rPr>
              <a:t>, temp;</a:t>
            </a:r>
            <a:endParaRPr lang="en-GB" sz="1500" dirty="0">
              <a:latin typeface="Arial Black" pitchFamily="34" charset="0"/>
              <a:ea typeface="Times New Roman"/>
            </a:endParaRPr>
          </a:p>
          <a:p>
            <a:pPr marL="0" lvl="0" indent="0" algn="just">
              <a:lnSpc>
                <a:spcPct val="120000"/>
              </a:lnSpc>
              <a:spcAft>
                <a:spcPts val="0"/>
              </a:spcAft>
              <a:buNone/>
            </a:pPr>
            <a:r>
              <a:rPr lang="en-GB" sz="1500" dirty="0">
                <a:latin typeface="Arial Black" pitchFamily="34" charset="0"/>
                <a:ea typeface="Times New Roman"/>
                <a:cs typeface="Times New Roman"/>
              </a:rPr>
              <a:t> 2)   for (</a:t>
            </a:r>
            <a:r>
              <a:rPr lang="en-GB" sz="1500" dirty="0" err="1">
                <a:latin typeface="Arial Black" pitchFamily="34" charset="0"/>
                <a:ea typeface="Times New Roman"/>
                <a:cs typeface="Times New Roman"/>
              </a:rPr>
              <a:t>int</a:t>
            </a:r>
            <a:r>
              <a:rPr lang="en-GB" sz="1500" dirty="0">
                <a:latin typeface="Arial Black" pitchFamily="34" charset="0"/>
                <a:ea typeface="Times New Roman"/>
                <a:cs typeface="Times New Roman"/>
              </a:rPr>
              <a:t>  </a:t>
            </a:r>
            <a:r>
              <a:rPr lang="en-GB" sz="1500" dirty="0" err="1">
                <a:latin typeface="Arial Black" pitchFamily="34" charset="0"/>
                <a:ea typeface="Times New Roman"/>
                <a:cs typeface="Times New Roman"/>
              </a:rPr>
              <a:t>i</a:t>
            </a:r>
            <a:r>
              <a:rPr lang="en-GB" sz="1500" dirty="0">
                <a:latin typeface="Arial Black" pitchFamily="34" charset="0"/>
                <a:ea typeface="Times New Roman"/>
                <a:cs typeface="Times New Roman"/>
              </a:rPr>
              <a:t>=0;i&lt;table.length-1;i++)</a:t>
            </a:r>
            <a:endParaRPr lang="en-GB" sz="1500" dirty="0">
              <a:latin typeface="Arial Black" pitchFamily="34" charset="0"/>
              <a:ea typeface="Times New Roman"/>
            </a:endParaRPr>
          </a:p>
          <a:p>
            <a:pPr marL="182880" indent="0" algn="just">
              <a:lnSpc>
                <a:spcPct val="120000"/>
              </a:lnSpc>
              <a:spcAft>
                <a:spcPts val="1000"/>
              </a:spcAft>
              <a:buNone/>
            </a:pPr>
            <a:r>
              <a:rPr lang="en-GB" sz="1500" dirty="0">
                <a:latin typeface="Arial Black" pitchFamily="34" charset="0"/>
                <a:ea typeface="Calibri"/>
                <a:cs typeface="Arial"/>
              </a:rPr>
              <a:t>         { min=table[</a:t>
            </a:r>
            <a:r>
              <a:rPr lang="en-GB" sz="1500" dirty="0" err="1">
                <a:latin typeface="Arial Black" pitchFamily="34" charset="0"/>
                <a:ea typeface="Calibri"/>
                <a:cs typeface="Arial"/>
              </a:rPr>
              <a:t>i</a:t>
            </a:r>
            <a:r>
              <a:rPr lang="en-GB" sz="1500" dirty="0">
                <a:latin typeface="Arial Black" pitchFamily="34" charset="0"/>
                <a:ea typeface="Calibri"/>
                <a:cs typeface="Arial"/>
              </a:rPr>
              <a:t>];</a:t>
            </a:r>
          </a:p>
          <a:p>
            <a:pPr marL="0" lvl="0" indent="0" algn="just">
              <a:lnSpc>
                <a:spcPct val="120000"/>
              </a:lnSpc>
              <a:spcAft>
                <a:spcPts val="0"/>
              </a:spcAft>
              <a:buNone/>
            </a:pPr>
            <a:r>
              <a:rPr lang="en-GB" sz="1500" dirty="0">
                <a:latin typeface="Arial Black" pitchFamily="34" charset="0"/>
                <a:ea typeface="Times New Roman"/>
                <a:cs typeface="Times New Roman"/>
              </a:rPr>
              <a:t>3)           for (j=i+1 ;j&lt;</a:t>
            </a:r>
            <a:r>
              <a:rPr lang="en-GB" sz="1500" dirty="0" err="1">
                <a:latin typeface="Arial Black" pitchFamily="34" charset="0"/>
                <a:ea typeface="Times New Roman"/>
                <a:cs typeface="Times New Roman"/>
              </a:rPr>
              <a:t>table.length</a:t>
            </a:r>
            <a:r>
              <a:rPr lang="en-GB" sz="1500" dirty="0">
                <a:latin typeface="Arial Black" pitchFamily="34" charset="0"/>
                <a:ea typeface="Times New Roman"/>
                <a:cs typeface="Times New Roman"/>
              </a:rPr>
              <a:t> ;j++)</a:t>
            </a:r>
            <a:endParaRPr lang="en-GB" sz="1500" dirty="0">
              <a:latin typeface="Arial Black" pitchFamily="34" charset="0"/>
              <a:ea typeface="Times New Roman"/>
            </a:endParaRPr>
          </a:p>
          <a:p>
            <a:pPr marL="0" lvl="0" indent="0" algn="just">
              <a:lnSpc>
                <a:spcPct val="120000"/>
              </a:lnSpc>
              <a:spcAft>
                <a:spcPts val="0"/>
              </a:spcAft>
              <a:buNone/>
            </a:pPr>
            <a:r>
              <a:rPr lang="en-GB" sz="1500" dirty="0">
                <a:latin typeface="Arial Black" pitchFamily="34" charset="0"/>
                <a:ea typeface="Times New Roman"/>
                <a:cs typeface="Times New Roman"/>
              </a:rPr>
              <a:t>4)                 if (table[j]&lt;min)</a:t>
            </a:r>
            <a:endParaRPr lang="en-GB" sz="1500" dirty="0">
              <a:latin typeface="Arial Black" pitchFamily="34" charset="0"/>
              <a:ea typeface="Times New Roman"/>
            </a:endParaRPr>
          </a:p>
          <a:p>
            <a:pPr marL="0" lvl="0" indent="0" algn="just">
              <a:lnSpc>
                <a:spcPct val="120000"/>
              </a:lnSpc>
              <a:spcAft>
                <a:spcPts val="0"/>
              </a:spcAft>
              <a:buNone/>
            </a:pPr>
            <a:r>
              <a:rPr lang="en-GB" sz="1500" dirty="0">
                <a:latin typeface="Arial Black" pitchFamily="34" charset="0"/>
                <a:ea typeface="Times New Roman"/>
                <a:cs typeface="Times New Roman"/>
              </a:rPr>
              <a:t>5)                   { </a:t>
            </a:r>
            <a:endParaRPr lang="en-GB" sz="1500" dirty="0">
              <a:latin typeface="Arial Black" pitchFamily="34" charset="0"/>
              <a:ea typeface="Times New Roman"/>
            </a:endParaRPr>
          </a:p>
          <a:p>
            <a:pPr marL="0" indent="0" algn="just">
              <a:lnSpc>
                <a:spcPct val="120000"/>
              </a:lnSpc>
              <a:spcAft>
                <a:spcPts val="0"/>
              </a:spcAft>
              <a:buNone/>
            </a:pPr>
            <a:r>
              <a:rPr lang="en-GB" sz="1500" dirty="0">
                <a:latin typeface="Arial Black" pitchFamily="34" charset="0"/>
                <a:ea typeface="Calibri"/>
                <a:cs typeface="Arial"/>
              </a:rPr>
              <a:t>                     min=table[j];</a:t>
            </a:r>
          </a:p>
          <a:p>
            <a:pPr marL="0" indent="0" algn="just">
              <a:lnSpc>
                <a:spcPct val="120000"/>
              </a:lnSpc>
              <a:spcAft>
                <a:spcPts val="0"/>
              </a:spcAft>
              <a:buNone/>
            </a:pPr>
            <a:r>
              <a:rPr lang="en-GB" sz="1500" dirty="0">
                <a:latin typeface="Arial Black" pitchFamily="34" charset="0"/>
                <a:ea typeface="Calibri"/>
                <a:cs typeface="Arial"/>
              </a:rPr>
              <a:t>                       </a:t>
            </a:r>
            <a:r>
              <a:rPr lang="en-GB" sz="1500" dirty="0" err="1">
                <a:latin typeface="Arial Black" pitchFamily="34" charset="0"/>
                <a:ea typeface="Calibri"/>
                <a:cs typeface="Arial"/>
              </a:rPr>
              <a:t>pos</a:t>
            </a:r>
            <a:r>
              <a:rPr lang="en-GB" sz="1500" dirty="0">
                <a:latin typeface="Arial Black" pitchFamily="34" charset="0"/>
                <a:ea typeface="Calibri"/>
                <a:cs typeface="Arial"/>
              </a:rPr>
              <a:t>=j;</a:t>
            </a:r>
          </a:p>
          <a:p>
            <a:pPr marL="0" lvl="0" indent="0" algn="just">
              <a:lnSpc>
                <a:spcPct val="120000"/>
              </a:lnSpc>
              <a:spcAft>
                <a:spcPts val="0"/>
              </a:spcAft>
              <a:buNone/>
            </a:pPr>
            <a:r>
              <a:rPr lang="en-GB" sz="1500" dirty="0">
                <a:latin typeface="Arial Black" pitchFamily="34" charset="0"/>
                <a:ea typeface="Times New Roman"/>
                <a:cs typeface="Times New Roman"/>
              </a:rPr>
              <a:t>6)                {</a:t>
            </a:r>
            <a:endParaRPr lang="en-GB" sz="1500" dirty="0">
              <a:latin typeface="Arial Black" pitchFamily="34" charset="0"/>
              <a:ea typeface="Times New Roman"/>
            </a:endParaRPr>
          </a:p>
          <a:p>
            <a:pPr marL="0" lvl="0" indent="0" algn="just">
              <a:lnSpc>
                <a:spcPct val="120000"/>
              </a:lnSpc>
              <a:spcAft>
                <a:spcPts val="0"/>
              </a:spcAft>
              <a:buNone/>
            </a:pPr>
            <a:r>
              <a:rPr lang="en-GB" sz="1500" dirty="0">
                <a:latin typeface="Arial Black" pitchFamily="34" charset="0"/>
                <a:ea typeface="Times New Roman"/>
                <a:cs typeface="Times New Roman"/>
              </a:rPr>
              <a:t>7)               temp=table[</a:t>
            </a:r>
            <a:r>
              <a:rPr lang="en-GB" sz="1500" dirty="0" err="1">
                <a:latin typeface="Arial Black" pitchFamily="34" charset="0"/>
                <a:ea typeface="Times New Roman"/>
                <a:cs typeface="Times New Roman"/>
              </a:rPr>
              <a:t>i</a:t>
            </a:r>
            <a:r>
              <a:rPr lang="en-GB" sz="1500" dirty="0">
                <a:latin typeface="Arial Black" pitchFamily="34" charset="0"/>
                <a:ea typeface="Times New Roman"/>
                <a:cs typeface="Times New Roman"/>
              </a:rPr>
              <a:t>];</a:t>
            </a:r>
            <a:endParaRPr lang="en-GB" sz="1500" dirty="0">
              <a:latin typeface="Arial Black" pitchFamily="34" charset="0"/>
              <a:ea typeface="Times New Roman"/>
            </a:endParaRPr>
          </a:p>
          <a:p>
            <a:pPr marL="0" indent="0" algn="just">
              <a:lnSpc>
                <a:spcPct val="120000"/>
              </a:lnSpc>
              <a:spcAft>
                <a:spcPts val="0"/>
              </a:spcAft>
              <a:buNone/>
            </a:pPr>
            <a:r>
              <a:rPr lang="en-GB" sz="1500" dirty="0">
                <a:latin typeface="Arial Black" pitchFamily="34" charset="0"/>
                <a:ea typeface="Calibri"/>
                <a:cs typeface="Arial"/>
              </a:rPr>
              <a:t>                  table[</a:t>
            </a:r>
            <a:r>
              <a:rPr lang="en-GB" sz="1500" dirty="0" err="1">
                <a:latin typeface="Arial Black" pitchFamily="34" charset="0"/>
                <a:ea typeface="Calibri"/>
                <a:cs typeface="Arial"/>
              </a:rPr>
              <a:t>i</a:t>
            </a:r>
            <a:r>
              <a:rPr lang="en-GB" sz="1500" dirty="0">
                <a:latin typeface="Arial Black" pitchFamily="34" charset="0"/>
                <a:ea typeface="Calibri"/>
                <a:cs typeface="Arial"/>
              </a:rPr>
              <a:t>]=min;</a:t>
            </a:r>
          </a:p>
          <a:p>
            <a:pPr marL="0" indent="0" algn="just">
              <a:lnSpc>
                <a:spcPct val="120000"/>
              </a:lnSpc>
              <a:spcAft>
                <a:spcPts val="0"/>
              </a:spcAft>
              <a:buNone/>
            </a:pPr>
            <a:r>
              <a:rPr lang="en-GB" sz="1500" dirty="0">
                <a:latin typeface="Arial Black" pitchFamily="34" charset="0"/>
                <a:ea typeface="Calibri"/>
                <a:cs typeface="Arial"/>
              </a:rPr>
              <a:t>                  table[</a:t>
            </a:r>
            <a:r>
              <a:rPr lang="en-GB" sz="1500" dirty="0" err="1">
                <a:latin typeface="Arial Black" pitchFamily="34" charset="0"/>
                <a:ea typeface="Calibri"/>
                <a:cs typeface="Arial"/>
              </a:rPr>
              <a:t>pos</a:t>
            </a:r>
            <a:r>
              <a:rPr lang="en-GB" sz="1500" dirty="0">
                <a:latin typeface="Arial Black" pitchFamily="34" charset="0"/>
                <a:ea typeface="Calibri"/>
                <a:cs typeface="Arial"/>
              </a:rPr>
              <a:t>]=temp;</a:t>
            </a:r>
          </a:p>
          <a:p>
            <a:pPr marL="0" lvl="0" indent="0" algn="just">
              <a:lnSpc>
                <a:spcPct val="120000"/>
              </a:lnSpc>
              <a:spcAft>
                <a:spcPts val="0"/>
              </a:spcAft>
              <a:buNone/>
            </a:pPr>
            <a:r>
              <a:rPr lang="en-GB" sz="1500" dirty="0">
                <a:latin typeface="Arial Black" pitchFamily="34" charset="0"/>
                <a:ea typeface="Times New Roman"/>
                <a:cs typeface="Times New Roman"/>
              </a:rPr>
              <a:t>8)                }}//  end for</a:t>
            </a:r>
            <a:endParaRPr lang="en-GB" sz="1500" dirty="0">
              <a:latin typeface="Arial Black" pitchFamily="34" charset="0"/>
              <a:ea typeface="Times New Roman"/>
            </a:endParaRPr>
          </a:p>
          <a:p>
            <a:pPr marL="0" lvl="0" indent="0" algn="just">
              <a:lnSpc>
                <a:spcPct val="120000"/>
              </a:lnSpc>
              <a:spcAft>
                <a:spcPts val="0"/>
              </a:spcAft>
              <a:buNone/>
            </a:pPr>
            <a:r>
              <a:rPr lang="en-GB" sz="1500" dirty="0">
                <a:latin typeface="Arial Black" pitchFamily="34" charset="0"/>
                <a:ea typeface="Times New Roman"/>
                <a:cs typeface="Times New Roman"/>
              </a:rPr>
              <a:t>9)          }//end </a:t>
            </a:r>
            <a:r>
              <a:rPr lang="en-GB" sz="1500" dirty="0" err="1">
                <a:latin typeface="Arial Black" pitchFamily="34" charset="0"/>
                <a:ea typeface="Times New Roman"/>
                <a:cs typeface="Times New Roman"/>
              </a:rPr>
              <a:t>selectionsort</a:t>
            </a:r>
            <a:endParaRPr lang="en-GB" sz="1500" dirty="0">
              <a:latin typeface="Arial Black" pitchFamily="34" charset="0"/>
            </a:endParaRPr>
          </a:p>
        </p:txBody>
      </p:sp>
    </p:spTree>
    <p:extLst>
      <p:ext uri="{BB962C8B-B14F-4D97-AF65-F5344CB8AC3E}">
        <p14:creationId xmlns:p14="http://schemas.microsoft.com/office/powerpoint/2010/main" val="2332384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1560" y="692696"/>
            <a:ext cx="3096344" cy="1323439"/>
          </a:xfrm>
          <a:prstGeom prst="rect">
            <a:avLst/>
          </a:prstGeom>
        </p:spPr>
        <p:txBody>
          <a:bodyPr wrap="square">
            <a:spAutoFit/>
          </a:bodyPr>
          <a:lstStyle/>
          <a:p>
            <a:r>
              <a:rPr lang="en-GB" sz="1600" b="1" dirty="0">
                <a:latin typeface="Arial Black" pitchFamily="34" charset="0"/>
              </a:rPr>
              <a:t>Flow graph:</a:t>
            </a:r>
          </a:p>
          <a:p>
            <a:r>
              <a:rPr lang="en-GB" sz="1600" dirty="0">
                <a:latin typeface="Arial Black" pitchFamily="34" charset="0"/>
              </a:rPr>
              <a:t> (there are 4 regions :R1,R2,R3, and R4)</a:t>
            </a:r>
          </a:p>
          <a:p>
            <a:endParaRPr lang="en-GB" sz="1600" dirty="0">
              <a:latin typeface="Arial Black" pitchFamily="34" charset="0"/>
            </a:endParaRPr>
          </a:p>
          <a:p>
            <a:endParaRPr lang="en-GB" sz="1600" dirty="0">
              <a:latin typeface="Arial Black" pitchFamily="34" charset="0"/>
            </a:endParaRPr>
          </a:p>
        </p:txBody>
      </p:sp>
      <p:sp>
        <p:nvSpPr>
          <p:cNvPr id="4" name="Rectangle 3"/>
          <p:cNvSpPr/>
          <p:nvPr/>
        </p:nvSpPr>
        <p:spPr>
          <a:xfrm>
            <a:off x="539552" y="5229200"/>
            <a:ext cx="7488832" cy="1138773"/>
          </a:xfrm>
          <a:prstGeom prst="rect">
            <a:avLst/>
          </a:prstGeom>
        </p:spPr>
        <p:txBody>
          <a:bodyPr wrap="square">
            <a:spAutoFit/>
          </a:bodyPr>
          <a:lstStyle/>
          <a:p>
            <a:r>
              <a:rPr lang="en-GB" sz="2000" b="1" dirty="0"/>
              <a:t>Cyclomatic complexity</a:t>
            </a:r>
            <a:r>
              <a:rPr lang="en-GB" b="1" dirty="0"/>
              <a:t>:</a:t>
            </a:r>
          </a:p>
          <a:p>
            <a:r>
              <a:rPr lang="en-GB" sz="1600" dirty="0">
                <a:latin typeface="Arial Black" pitchFamily="34" charset="0"/>
              </a:rPr>
              <a:t>Cyclomatic complexity=number of regions in the flow graph =4</a:t>
            </a:r>
          </a:p>
          <a:p>
            <a:r>
              <a:rPr lang="en-GB" sz="1600" dirty="0">
                <a:latin typeface="Arial Black" pitchFamily="34" charset="0"/>
              </a:rPr>
              <a:t>Or: number of condition nodes+1=3+1=4</a:t>
            </a:r>
          </a:p>
          <a:p>
            <a:r>
              <a:rPr lang="en-GB" sz="1600" dirty="0">
                <a:latin typeface="Arial Black" pitchFamily="34" charset="0"/>
              </a:rPr>
              <a:t>Or: number of edges-number of nodes+2=11-9+2=4</a:t>
            </a:r>
          </a:p>
        </p:txBody>
      </p:sp>
      <p:pic>
        <p:nvPicPr>
          <p:cNvPr id="6" name="Picture 5">
            <a:extLst>
              <a:ext uri="{FF2B5EF4-FFF2-40B4-BE49-F238E27FC236}">
                <a16:creationId xmlns:a16="http://schemas.microsoft.com/office/drawing/2014/main" id="{63D393CF-3B22-3A5C-2D94-A8D58DB8A0C5}"/>
              </a:ext>
            </a:extLst>
          </p:cNvPr>
          <p:cNvPicPr>
            <a:picLocks noChangeAspect="1"/>
          </p:cNvPicPr>
          <p:nvPr/>
        </p:nvPicPr>
        <p:blipFill>
          <a:blip r:embed="rId2"/>
          <a:stretch>
            <a:fillRect/>
          </a:stretch>
        </p:blipFill>
        <p:spPr>
          <a:xfrm>
            <a:off x="3131840" y="620688"/>
            <a:ext cx="5083809" cy="4752528"/>
          </a:xfrm>
          <a:prstGeom prst="rect">
            <a:avLst/>
          </a:prstGeom>
        </p:spPr>
      </p:pic>
    </p:spTree>
    <p:extLst>
      <p:ext uri="{BB962C8B-B14F-4D97-AF65-F5344CB8AC3E}">
        <p14:creationId xmlns:p14="http://schemas.microsoft.com/office/powerpoint/2010/main" val="147387565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5178</TotalTime>
  <Words>967</Words>
  <Application>Microsoft Office PowerPoint</Application>
  <PresentationFormat>On-screen Show (4:3)</PresentationFormat>
  <Paragraphs>88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Garamond</vt:lpstr>
      <vt:lpstr>Times New Roman</vt:lpstr>
      <vt:lpstr>Organic</vt:lpstr>
      <vt:lpstr>Software Engineering</vt:lpstr>
      <vt:lpstr>Testing</vt:lpstr>
      <vt:lpstr>PowerPoint Presentation</vt:lpstr>
      <vt:lpstr>PowerPoint Presentation</vt:lpstr>
      <vt:lpstr>PowerPoint Presentation</vt:lpstr>
      <vt:lpstr>PowerPoint Presentation</vt:lpstr>
      <vt:lpstr>PowerPoint Presentation</vt:lpstr>
      <vt:lpstr>Basic path testing </vt:lpstr>
      <vt:lpstr>Control graph</vt:lpstr>
      <vt:lpstr>PowerPoint Presentation</vt:lpstr>
      <vt:lpstr>PowerPoint Presentation</vt:lpstr>
      <vt:lpstr>Examples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najtena2003@outlook.com</dc:creator>
  <cp:lastModifiedBy>Rami Bahaa</cp:lastModifiedBy>
  <cp:revision>21</cp:revision>
  <dcterms:created xsi:type="dcterms:W3CDTF">2017-12-03T21:45:50Z</dcterms:created>
  <dcterms:modified xsi:type="dcterms:W3CDTF">2026-04-11T10:48:02Z</dcterms:modified>
</cp:coreProperties>
</file>