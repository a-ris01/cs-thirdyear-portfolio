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6" r:id="rId2"/>
    <p:sldId id="264" r:id="rId3"/>
    <p:sldId id="265" r:id="rId4"/>
    <p:sldId id="266" r:id="rId5"/>
    <p:sldId id="270" r:id="rId6"/>
    <p:sldId id="269" r:id="rId7"/>
    <p:sldId id="272" r:id="rId8"/>
    <p:sldId id="273" r:id="rId9"/>
    <p:sldId id="27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62" autoAdjust="0"/>
  </p:normalViewPr>
  <p:slideViewPr>
    <p:cSldViewPr>
      <p:cViewPr varScale="1">
        <p:scale>
          <a:sx n="77" d="100"/>
          <a:sy n="77" d="100"/>
        </p:scale>
        <p:origin x="1618" y="58"/>
      </p:cViewPr>
      <p:guideLst>
        <p:guide orient="horz" pos="2160"/>
        <p:guide pos="2880"/>
      </p:guideLst>
    </p:cSldViewPr>
  </p:slideViewPr>
  <p:outlineViewPr>
    <p:cViewPr>
      <p:scale>
        <a:sx n="33" d="100"/>
        <a:sy n="33" d="100"/>
      </p:scale>
      <p:origin x="36" y="151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97B6B6-D21B-4259-BA12-D06AFC67BA27}" type="datetimeFigureOut">
              <a:rPr lang="en-GB" smtClean="0"/>
              <a:t>04/04/2026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F74D88-7073-480F-AD38-5EA98CD8D721}" type="slidenum">
              <a:rPr lang="en-GB" smtClean="0"/>
              <a:t>‹#›</a:t>
            </a:fld>
            <a:endParaRPr lang="en-GB"/>
          </a:p>
        </p:txBody>
      </p:sp>
    </p:spTree>
    <p:extLst>
      <p:ext uri="{BB962C8B-B14F-4D97-AF65-F5344CB8AC3E}">
        <p14:creationId xmlns:p14="http://schemas.microsoft.com/office/powerpoint/2010/main" val="3029200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a:xfrm>
            <a:off x="1921934" y="5054602"/>
            <a:ext cx="4064860" cy="279400"/>
          </a:xfrm>
        </p:spPr>
        <p:txBody>
          <a:bodyPr/>
          <a:lstStyle/>
          <a:p>
            <a:endParaRPr lang="en-GB"/>
          </a:p>
        </p:txBody>
      </p:sp>
      <p:sp>
        <p:nvSpPr>
          <p:cNvPr id="6" name="Slide Number Placeholder 5"/>
          <p:cNvSpPr>
            <a:spLocks noGrp="1"/>
          </p:cNvSpPr>
          <p:nvPr>
            <p:ph type="sldNum" sz="quarter" idx="12"/>
          </p:nvPr>
        </p:nvSpPr>
        <p:spPr>
          <a:xfrm>
            <a:off x="6817317" y="5054602"/>
            <a:ext cx="413483" cy="279400"/>
          </a:xfrm>
        </p:spPr>
        <p:txBody>
          <a:bodyPr/>
          <a:lstStyle/>
          <a:p>
            <a:fld id="{C1DA7B81-8CF7-45BC-81A8-61EFD6ECB7C8}" type="slidenum">
              <a:rPr lang="en-GB" smtClean="0"/>
              <a:t>‹#›</a:t>
            </a:fld>
            <a:endParaRPr lang="en-GB"/>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6403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491996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5563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7590B8-B934-4372-9EF6-5F277F270CDE}" type="datetimeFigureOut">
              <a:rPr lang="en-GB" smtClean="0"/>
              <a:t>04/04/2026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2769525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7590B8-B934-4372-9EF6-5F277F270CDE}" type="datetimeFigureOut">
              <a:rPr lang="en-GB" smtClean="0"/>
              <a:t>04/04/2026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1DA7B81-8CF7-45BC-81A8-61EFD6ECB7C8}" type="slidenum">
              <a:rPr lang="en-GB" smtClean="0"/>
              <a:t>‹#›</a:t>
            </a:fld>
            <a:endParaRPr lang="en-GB"/>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03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7590B8-B934-4372-9EF6-5F277F270CDE}" type="datetimeFigureOut">
              <a:rPr lang="en-GB" smtClean="0"/>
              <a:t>04/04/2026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4487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7590B8-B934-4372-9EF6-5F277F270CDE}" type="datetimeFigureOut">
              <a:rPr lang="en-GB" smtClean="0"/>
              <a:t>04/04/2026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3269254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04/04/2026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8140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04/04/2026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4087307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04/04/2026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769028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4391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9083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32201862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6707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4836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3808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04/04/2026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3648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7590B8-B934-4372-9EF6-5F277F270CDE}" type="datetimeFigureOut">
              <a:rPr lang="en-GB" smtClean="0"/>
              <a:t>04/04/2026</a:t>
            </a:fld>
            <a:endParaRPr lang="en-GB"/>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DA7B81-8CF7-45BC-81A8-61EFD6ECB7C8}" type="slidenum">
              <a:rPr lang="en-GB" smtClean="0"/>
              <a:t>‹#›</a:t>
            </a:fld>
            <a:endParaRPr lang="en-GB"/>
          </a:p>
        </p:txBody>
      </p:sp>
    </p:spTree>
    <p:extLst>
      <p:ext uri="{BB962C8B-B14F-4D97-AF65-F5344CB8AC3E}">
        <p14:creationId xmlns:p14="http://schemas.microsoft.com/office/powerpoint/2010/main" val="10763544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GB" dirty="0"/>
              <a:t>Software Engineering</a:t>
            </a:r>
          </a:p>
        </p:txBody>
      </p:sp>
      <p:sp>
        <p:nvSpPr>
          <p:cNvPr id="3" name="Subtitle 2"/>
          <p:cNvSpPr>
            <a:spLocks noGrp="1"/>
          </p:cNvSpPr>
          <p:nvPr>
            <p:ph type="subTitle" idx="1"/>
          </p:nvPr>
        </p:nvSpPr>
        <p:spPr/>
        <p:txBody>
          <a:bodyPr/>
          <a:lstStyle/>
          <a:p>
            <a:r>
              <a:rPr lang="en-GB" dirty="0"/>
              <a:t>Lecture seven</a:t>
            </a:r>
          </a:p>
        </p:txBody>
      </p:sp>
    </p:spTree>
    <p:extLst>
      <p:ext uri="{BB962C8B-B14F-4D97-AF65-F5344CB8AC3E}">
        <p14:creationId xmlns:p14="http://schemas.microsoft.com/office/powerpoint/2010/main" val="1141196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560" y="764704"/>
            <a:ext cx="8229600" cy="576064"/>
          </a:xfrm>
        </p:spPr>
        <p:txBody>
          <a:bodyPr>
            <a:noAutofit/>
          </a:bodyPr>
          <a:lstStyle/>
          <a:p>
            <a:pPr algn="ctr"/>
            <a:r>
              <a:rPr lang="en-GB" sz="2800" dirty="0">
                <a:latin typeface="Times New Roman" pitchFamily="18" charset="0"/>
                <a:cs typeface="Times New Roman" pitchFamily="18" charset="0"/>
              </a:rPr>
              <a:t>THE MANAGEMENT SPECTRUM</a:t>
            </a:r>
          </a:p>
        </p:txBody>
      </p:sp>
      <p:sp>
        <p:nvSpPr>
          <p:cNvPr id="2" name="Content Placeholder 1"/>
          <p:cNvSpPr>
            <a:spLocks noGrp="1"/>
          </p:cNvSpPr>
          <p:nvPr>
            <p:ph idx="1"/>
          </p:nvPr>
        </p:nvSpPr>
        <p:spPr>
          <a:xfrm>
            <a:off x="806896" y="1340768"/>
            <a:ext cx="7509520" cy="4896544"/>
          </a:xfrm>
        </p:spPr>
        <p:txBody>
          <a:bodyPr>
            <a:noAutofit/>
          </a:bodyPr>
          <a:lstStyle/>
          <a:p>
            <a:pPr marL="109728" indent="0" algn="just">
              <a:buNone/>
            </a:pPr>
            <a:r>
              <a:rPr lang="en-GB" sz="2400" dirty="0">
                <a:latin typeface="Times New Roman" pitchFamily="18" charset="0"/>
                <a:cs typeface="Times New Roman" pitchFamily="18" charset="0"/>
              </a:rPr>
              <a:t>Effective software project management focuses on the four P’s: people, product, process, and project.</a:t>
            </a:r>
          </a:p>
          <a:p>
            <a:pPr marL="109728" indent="0" algn="just">
              <a:buNone/>
            </a:pPr>
            <a:r>
              <a:rPr lang="en-GB" sz="2800" b="1" dirty="0">
                <a:solidFill>
                  <a:srgbClr val="FF0000"/>
                </a:solidFill>
                <a:latin typeface="Times New Roman" pitchFamily="18" charset="0"/>
                <a:cs typeface="Times New Roman" pitchFamily="18" charset="0"/>
              </a:rPr>
              <a:t>1 The People</a:t>
            </a:r>
          </a:p>
          <a:p>
            <a:pPr marL="109728" indent="0" algn="just">
              <a:buNone/>
            </a:pPr>
            <a:r>
              <a:rPr lang="en-GB" sz="2400" dirty="0">
                <a:latin typeface="Times New Roman" pitchFamily="18" charset="0"/>
                <a:cs typeface="Times New Roman" pitchFamily="18" charset="0"/>
              </a:rPr>
              <a:t>	the “people factor” is so important that the Software Engineering Institute has developed a people management capability maturity model (PM-CMM) to enhance the readiness of software organizations to undertake increasingly complex applications by helping to attract, grow, motivate, deploy, and retain the talent needed to improve their software development capability</a:t>
            </a:r>
          </a:p>
        </p:txBody>
      </p:sp>
    </p:spTree>
    <p:extLst>
      <p:ext uri="{BB962C8B-B14F-4D97-AF65-F5344CB8AC3E}">
        <p14:creationId xmlns:p14="http://schemas.microsoft.com/office/powerpoint/2010/main" val="2066310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620688"/>
            <a:ext cx="7704856" cy="5688632"/>
          </a:xfrm>
        </p:spPr>
        <p:txBody>
          <a:bodyPr>
            <a:normAutofit fontScale="92500" lnSpcReduction="10000"/>
          </a:bodyPr>
          <a:lstStyle/>
          <a:p>
            <a:pPr marL="109728" indent="0" algn="just">
              <a:buNone/>
            </a:pPr>
            <a:r>
              <a:rPr lang="en-GB" sz="2800" b="1" dirty="0">
                <a:latin typeface="Times New Roman" pitchFamily="18" charset="0"/>
                <a:cs typeface="Times New Roman" pitchFamily="18" charset="0"/>
              </a:rPr>
              <a:t>1-1 The Players</a:t>
            </a:r>
          </a:p>
          <a:p>
            <a:pPr marL="109728" indent="0" algn="just">
              <a:buNone/>
            </a:pPr>
            <a:r>
              <a:rPr lang="en-GB" sz="2800" dirty="0">
                <a:latin typeface="Times New Roman" pitchFamily="18" charset="0"/>
                <a:cs typeface="Times New Roman" pitchFamily="18" charset="0"/>
              </a:rPr>
              <a:t>The software process is populated by players who can be categorized into one of five constituencies:</a:t>
            </a:r>
          </a:p>
          <a:p>
            <a:pPr marL="624078" indent="-514350" algn="just">
              <a:buAutoNum type="arabicPeriod"/>
            </a:pPr>
            <a:r>
              <a:rPr lang="en-GB" b="1" dirty="0">
                <a:latin typeface="Times New Roman" pitchFamily="18" charset="0"/>
                <a:cs typeface="Times New Roman" pitchFamily="18" charset="0"/>
              </a:rPr>
              <a:t>Senior managers </a:t>
            </a:r>
            <a:r>
              <a:rPr lang="en-GB" dirty="0">
                <a:latin typeface="Times New Roman" pitchFamily="18" charset="0"/>
                <a:cs typeface="Times New Roman" pitchFamily="18" charset="0"/>
              </a:rPr>
              <a:t>who define the business issues that often have significant influence on the project.</a:t>
            </a:r>
          </a:p>
          <a:p>
            <a:pPr marL="624078" indent="-514350" algn="just">
              <a:buAutoNum type="arabicPeriod"/>
            </a:pPr>
            <a:r>
              <a:rPr lang="en-GB" dirty="0">
                <a:latin typeface="Times New Roman" pitchFamily="18" charset="0"/>
                <a:cs typeface="Times New Roman" pitchFamily="18" charset="0"/>
              </a:rPr>
              <a:t> </a:t>
            </a:r>
            <a:r>
              <a:rPr lang="en-GB" b="1" dirty="0">
                <a:latin typeface="Times New Roman" pitchFamily="18" charset="0"/>
                <a:cs typeface="Times New Roman" pitchFamily="18" charset="0"/>
              </a:rPr>
              <a:t>Project</a:t>
            </a:r>
            <a:r>
              <a:rPr lang="en-GB" dirty="0">
                <a:latin typeface="Times New Roman" pitchFamily="18" charset="0"/>
                <a:cs typeface="Times New Roman" pitchFamily="18" charset="0"/>
              </a:rPr>
              <a:t> (technical) managers who must plan, motivate, organize, and control the practitioners who do software work.</a:t>
            </a:r>
          </a:p>
          <a:p>
            <a:pPr marL="624078" indent="-514350" algn="just">
              <a:buAutoNum type="arabicPeriod"/>
            </a:pPr>
            <a:r>
              <a:rPr lang="en-GB" b="1" dirty="0">
                <a:latin typeface="Times New Roman" pitchFamily="18" charset="0"/>
                <a:cs typeface="Times New Roman" pitchFamily="18" charset="0"/>
              </a:rPr>
              <a:t>Practitioners</a:t>
            </a:r>
            <a:r>
              <a:rPr lang="en-GB" dirty="0">
                <a:latin typeface="Times New Roman" pitchFamily="18" charset="0"/>
                <a:cs typeface="Times New Roman" pitchFamily="18" charset="0"/>
              </a:rPr>
              <a:t> who deliver the technical skills that are necessary to engineer a product or application.</a:t>
            </a:r>
          </a:p>
          <a:p>
            <a:pPr marL="624078" indent="-514350" algn="just">
              <a:buAutoNum type="arabicPeriod"/>
            </a:pPr>
            <a:r>
              <a:rPr lang="en-GB" b="1" dirty="0">
                <a:latin typeface="Times New Roman" pitchFamily="18" charset="0"/>
                <a:cs typeface="Times New Roman" pitchFamily="18" charset="0"/>
              </a:rPr>
              <a:t>Customers</a:t>
            </a:r>
            <a:r>
              <a:rPr lang="en-GB" dirty="0">
                <a:latin typeface="Times New Roman" pitchFamily="18" charset="0"/>
                <a:cs typeface="Times New Roman" pitchFamily="18" charset="0"/>
              </a:rPr>
              <a:t> who specify the requirements for the software to be engineered and other stakeholders who have a peripheral interest in the outcome.</a:t>
            </a:r>
          </a:p>
          <a:p>
            <a:pPr marL="624078" indent="-514350" algn="just">
              <a:buAutoNum type="arabicPeriod"/>
            </a:pPr>
            <a:r>
              <a:rPr lang="en-GB" b="1" dirty="0">
                <a:latin typeface="Times New Roman" pitchFamily="18" charset="0"/>
                <a:cs typeface="Times New Roman" pitchFamily="18" charset="0"/>
              </a:rPr>
              <a:t>End-users</a:t>
            </a:r>
            <a:r>
              <a:rPr lang="en-GB" dirty="0">
                <a:latin typeface="Times New Roman" pitchFamily="18" charset="0"/>
                <a:cs typeface="Times New Roman" pitchFamily="18" charset="0"/>
              </a:rPr>
              <a:t> who interact with the software once it is released for production use.</a:t>
            </a:r>
          </a:p>
        </p:txBody>
      </p:sp>
    </p:spTree>
    <p:extLst>
      <p:ext uri="{BB962C8B-B14F-4D97-AF65-F5344CB8AC3E}">
        <p14:creationId xmlns:p14="http://schemas.microsoft.com/office/powerpoint/2010/main" val="2190336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620688"/>
            <a:ext cx="7848872" cy="5544616"/>
          </a:xfrm>
        </p:spPr>
        <p:txBody>
          <a:bodyPr>
            <a:noAutofit/>
          </a:bodyPr>
          <a:lstStyle/>
          <a:p>
            <a:pPr marL="109728" indent="0" algn="just">
              <a:buNone/>
            </a:pPr>
            <a:r>
              <a:rPr lang="en-GB" sz="2200" b="1" dirty="0">
                <a:latin typeface="Times New Roman" pitchFamily="18" charset="0"/>
                <a:cs typeface="Times New Roman" pitchFamily="18" charset="0"/>
              </a:rPr>
              <a:t>1.2 Team Leaders</a:t>
            </a:r>
          </a:p>
          <a:p>
            <a:pPr marL="109728" indent="0" algn="just">
              <a:buNone/>
            </a:pPr>
            <a:r>
              <a:rPr lang="en-GB" sz="2200" dirty="0">
                <a:latin typeface="Times New Roman" pitchFamily="18" charset="0"/>
                <a:cs typeface="Times New Roman" pitchFamily="18" charset="0"/>
              </a:rPr>
              <a:t>Project management is a people-intensive activity, and for this reason, competent practitioners often make poor team leaders.</a:t>
            </a:r>
          </a:p>
          <a:p>
            <a:pPr marL="109728" indent="0" algn="just">
              <a:buNone/>
            </a:pPr>
            <a:r>
              <a:rPr lang="en-GB" sz="2200" dirty="0">
                <a:latin typeface="Times New Roman" pitchFamily="18" charset="0"/>
                <a:cs typeface="Times New Roman" pitchFamily="18" charset="0"/>
              </a:rPr>
              <a:t>the characteristics that define an effective project manager emphasizes four key traits:</a:t>
            </a:r>
          </a:p>
          <a:p>
            <a:pPr marL="109728" indent="0" algn="just">
              <a:buNone/>
            </a:pPr>
            <a:r>
              <a:rPr lang="en-GB" sz="2200" b="1" dirty="0">
                <a:solidFill>
                  <a:srgbClr val="FF0000"/>
                </a:solidFill>
                <a:latin typeface="Times New Roman" pitchFamily="18" charset="0"/>
                <a:cs typeface="Times New Roman" pitchFamily="18" charset="0"/>
              </a:rPr>
              <a:t>Problem solving</a:t>
            </a:r>
            <a:r>
              <a:rPr lang="en-GB" sz="2200" dirty="0">
                <a:latin typeface="Times New Roman" pitchFamily="18" charset="0"/>
                <a:cs typeface="Times New Roman" pitchFamily="18" charset="0"/>
              </a:rPr>
              <a:t>. An effective software project manager can diagnose the technical and organizational issues that are most relevant, systematically structure a solution or properly motivate other practitioners to develop the solution, apply lessons learned from past projects to new situations, and remain flexible enough to change direction if initial attempts at problem solution are fruitless.</a:t>
            </a:r>
          </a:p>
          <a:p>
            <a:pPr marL="109728" indent="0" algn="just">
              <a:buNone/>
            </a:pPr>
            <a:r>
              <a:rPr lang="en-GB" sz="2200" b="1" dirty="0">
                <a:solidFill>
                  <a:srgbClr val="FF0000"/>
                </a:solidFill>
                <a:latin typeface="Times New Roman" pitchFamily="18" charset="0"/>
                <a:cs typeface="Times New Roman" pitchFamily="18" charset="0"/>
              </a:rPr>
              <a:t>Managerial identity</a:t>
            </a:r>
            <a:r>
              <a:rPr lang="en-GB" sz="2200" dirty="0">
                <a:solidFill>
                  <a:srgbClr val="FF0000"/>
                </a:solidFill>
                <a:latin typeface="Times New Roman" pitchFamily="18" charset="0"/>
                <a:cs typeface="Times New Roman" pitchFamily="18" charset="0"/>
              </a:rPr>
              <a:t>. </a:t>
            </a:r>
            <a:r>
              <a:rPr lang="en-GB" sz="2200" dirty="0">
                <a:latin typeface="Times New Roman" pitchFamily="18" charset="0"/>
                <a:cs typeface="Times New Roman" pitchFamily="18" charset="0"/>
              </a:rPr>
              <a:t>A good project manager must take charge of the project. She must have the confidence to assume control when necessary and the assurance to allow good technical people to follow their instincts.</a:t>
            </a:r>
          </a:p>
        </p:txBody>
      </p:sp>
    </p:spTree>
    <p:extLst>
      <p:ext uri="{BB962C8B-B14F-4D97-AF65-F5344CB8AC3E}">
        <p14:creationId xmlns:p14="http://schemas.microsoft.com/office/powerpoint/2010/main" val="1995847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404664"/>
            <a:ext cx="7776864" cy="6453336"/>
          </a:xfrm>
        </p:spPr>
        <p:txBody>
          <a:bodyPr>
            <a:normAutofit/>
          </a:bodyPr>
          <a:lstStyle/>
          <a:p>
            <a:pPr marL="109728" lvl="0" indent="0" algn="just">
              <a:buClr>
                <a:srgbClr val="2DA2BF"/>
              </a:buClr>
              <a:buNone/>
            </a:pPr>
            <a:r>
              <a:rPr lang="en-GB" sz="2400" b="1" dirty="0">
                <a:solidFill>
                  <a:srgbClr val="FF0000"/>
                </a:solidFill>
                <a:latin typeface="Times New Roman" pitchFamily="18" charset="0"/>
                <a:cs typeface="Times New Roman" pitchFamily="18" charset="0"/>
              </a:rPr>
              <a:t>Influence and team building</a:t>
            </a:r>
            <a:r>
              <a:rPr lang="en-GB" sz="2400" dirty="0">
                <a:solidFill>
                  <a:prstClr val="black"/>
                </a:solidFill>
                <a:latin typeface="Times New Roman" pitchFamily="18" charset="0"/>
                <a:cs typeface="Times New Roman" pitchFamily="18" charset="0"/>
              </a:rPr>
              <a:t>. An effective project manager must be able to “read” people; she must be able to understand verbal and nonverbal signals and react to the needs of the people sending these signals. The manager must remain under control in high-stress situations.</a:t>
            </a:r>
          </a:p>
          <a:p>
            <a:pPr marL="109728" lvl="0" indent="0" algn="just">
              <a:buClr>
                <a:srgbClr val="2DA2BF"/>
              </a:buClr>
              <a:buNone/>
            </a:pPr>
            <a:r>
              <a:rPr lang="en-GB" sz="2800" b="1" dirty="0">
                <a:solidFill>
                  <a:prstClr val="black"/>
                </a:solidFill>
                <a:latin typeface="Times New Roman" pitchFamily="18" charset="0"/>
                <a:cs typeface="Times New Roman" pitchFamily="18" charset="0"/>
              </a:rPr>
              <a:t>1.3 The Software Team</a:t>
            </a:r>
          </a:p>
          <a:p>
            <a:pPr marL="109728" lvl="0" indent="0" algn="just">
              <a:buClr>
                <a:srgbClr val="2DA2BF"/>
              </a:buClr>
              <a:buNone/>
            </a:pPr>
            <a:r>
              <a:rPr lang="en-GB" sz="2400" dirty="0">
                <a:solidFill>
                  <a:prstClr val="black"/>
                </a:solidFill>
                <a:latin typeface="Times New Roman" pitchFamily="18" charset="0"/>
                <a:cs typeface="Times New Roman" pitchFamily="18" charset="0"/>
              </a:rPr>
              <a:t>n individuals are organized into t teams; each team is assigned one or more functional tasks; each team has a specific structure that is defined for all teams working on a project; coordination is controlled by both the team and a software project manager.</a:t>
            </a:r>
          </a:p>
        </p:txBody>
      </p:sp>
    </p:spTree>
    <p:extLst>
      <p:ext uri="{BB962C8B-B14F-4D97-AF65-F5344CB8AC3E}">
        <p14:creationId xmlns:p14="http://schemas.microsoft.com/office/powerpoint/2010/main" val="1380361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620688"/>
            <a:ext cx="7848872" cy="5904656"/>
          </a:xfrm>
        </p:spPr>
        <p:txBody>
          <a:bodyPr>
            <a:normAutofit fontScale="92500" lnSpcReduction="20000"/>
          </a:bodyPr>
          <a:lstStyle/>
          <a:p>
            <a:pPr marL="109728" indent="0" algn="just">
              <a:buNone/>
            </a:pPr>
            <a:r>
              <a:rPr lang="en-GB" dirty="0">
                <a:latin typeface="Times New Roman" pitchFamily="18" charset="0"/>
                <a:cs typeface="Times New Roman" pitchFamily="18" charset="0"/>
              </a:rPr>
              <a:t>The “best” team structure depends on the management style of your organization, the number of people who will populate the team and their skill levels, and the overall problem difficulty. suggests three generic team organizations:</a:t>
            </a:r>
          </a:p>
          <a:p>
            <a:pPr marL="109728" indent="0" algn="just">
              <a:buNone/>
            </a:pPr>
            <a:r>
              <a:rPr lang="en-GB" b="1" dirty="0">
                <a:latin typeface="Times New Roman" pitchFamily="18" charset="0"/>
                <a:cs typeface="Times New Roman" pitchFamily="18" charset="0"/>
              </a:rPr>
              <a:t>Democratic decentralized (DD). </a:t>
            </a:r>
            <a:r>
              <a:rPr lang="en-GB" dirty="0">
                <a:latin typeface="Times New Roman" pitchFamily="18" charset="0"/>
                <a:cs typeface="Times New Roman" pitchFamily="18" charset="0"/>
              </a:rPr>
              <a:t>This software engineering team has no permanent leader. Decisions on problems and approach are made by group consensus. Communication among team members is horizontal.</a:t>
            </a:r>
          </a:p>
          <a:p>
            <a:pPr marL="109728" indent="0" algn="just">
              <a:buNone/>
            </a:pPr>
            <a:r>
              <a:rPr lang="en-GB" b="1" dirty="0">
                <a:latin typeface="Times New Roman" pitchFamily="18" charset="0"/>
                <a:cs typeface="Times New Roman" pitchFamily="18" charset="0"/>
              </a:rPr>
              <a:t>Controlled decentralized (CD). </a:t>
            </a:r>
            <a:r>
              <a:rPr lang="en-GB" dirty="0">
                <a:latin typeface="Times New Roman" pitchFamily="18" charset="0"/>
                <a:cs typeface="Times New Roman" pitchFamily="18" charset="0"/>
              </a:rPr>
              <a:t>This software engineering team has a defined leader who coordinates specific tasks and secondary leaders that have responsibility for subtasks. Problem solving remains a group activity, but implementation of solutions is partitioned among subgroups by the team leader. Communication among subgroups and individuals is horizontal. Vertical communication along the control hierarchy also occurs.</a:t>
            </a:r>
          </a:p>
          <a:p>
            <a:pPr marL="109728" indent="0" algn="just">
              <a:buNone/>
            </a:pPr>
            <a:r>
              <a:rPr lang="en-GB" b="1" dirty="0">
                <a:latin typeface="Times New Roman" pitchFamily="18" charset="0"/>
                <a:cs typeface="Times New Roman" pitchFamily="18" charset="0"/>
              </a:rPr>
              <a:t>Controlled Centralized (CC). </a:t>
            </a:r>
            <a:r>
              <a:rPr lang="en-GB" dirty="0">
                <a:latin typeface="Times New Roman" pitchFamily="18" charset="0"/>
                <a:cs typeface="Times New Roman" pitchFamily="18" charset="0"/>
              </a:rPr>
              <a:t>Top-level problem solving and internal team coordination are managed by a team leader. Communication between the leader and team members is vertical.</a:t>
            </a:r>
          </a:p>
        </p:txBody>
      </p:sp>
    </p:spTree>
    <p:extLst>
      <p:ext uri="{BB962C8B-B14F-4D97-AF65-F5344CB8AC3E}">
        <p14:creationId xmlns:p14="http://schemas.microsoft.com/office/powerpoint/2010/main" val="112647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3184" y="980728"/>
            <a:ext cx="8517632" cy="576064"/>
          </a:xfrm>
        </p:spPr>
        <p:txBody>
          <a:bodyPr>
            <a:noAutofit/>
          </a:bodyPr>
          <a:lstStyle/>
          <a:p>
            <a:r>
              <a:rPr lang="en-GB" sz="3200" dirty="0">
                <a:solidFill>
                  <a:schemeClr val="tx1"/>
                </a:solidFill>
                <a:effectLst/>
                <a:latin typeface="Times New Roman" pitchFamily="18" charset="0"/>
                <a:cs typeface="Times New Roman" pitchFamily="18" charset="0"/>
              </a:rPr>
              <a:t>2- The Product</a:t>
            </a:r>
          </a:p>
        </p:txBody>
      </p:sp>
      <p:sp>
        <p:nvSpPr>
          <p:cNvPr id="2" name="Content Placeholder 1"/>
          <p:cNvSpPr>
            <a:spLocks noGrp="1"/>
          </p:cNvSpPr>
          <p:nvPr>
            <p:ph idx="1"/>
          </p:nvPr>
        </p:nvSpPr>
        <p:spPr>
          <a:xfrm>
            <a:off x="640150" y="2492896"/>
            <a:ext cx="7863700" cy="4272339"/>
          </a:xfrm>
        </p:spPr>
        <p:txBody>
          <a:bodyPr>
            <a:noAutofit/>
          </a:bodyPr>
          <a:lstStyle/>
          <a:p>
            <a:pPr marL="109728" indent="0" algn="just">
              <a:buNone/>
            </a:pPr>
            <a:r>
              <a:rPr lang="en-GB" sz="2300" dirty="0">
                <a:latin typeface="Times New Roman" pitchFamily="18" charset="0"/>
                <a:cs typeface="Times New Roman" pitchFamily="18" charset="0"/>
              </a:rPr>
              <a:t>Before a project can be planned, product objectives and scope should be established, alternative solutions should be considered, and technical and management constraints should be identified. Without this information, it is impossible to define reasonable estimates of the cost, an effective assessment of risk, a realistic breakdown of project tasks, or a manageable project schedule that provides a meaningful indication of progress.</a:t>
            </a:r>
          </a:p>
        </p:txBody>
      </p:sp>
    </p:spTree>
    <p:extLst>
      <p:ext uri="{BB962C8B-B14F-4D97-AF65-F5344CB8AC3E}">
        <p14:creationId xmlns:p14="http://schemas.microsoft.com/office/powerpoint/2010/main" val="3829495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620688"/>
            <a:ext cx="7704856" cy="5760640"/>
          </a:xfrm>
        </p:spPr>
        <p:txBody>
          <a:bodyPr>
            <a:normAutofit/>
          </a:bodyPr>
          <a:lstStyle/>
          <a:p>
            <a:pPr marL="109728" indent="0" algn="just">
              <a:buNone/>
            </a:pPr>
            <a:r>
              <a:rPr lang="en-GB" sz="3500" b="1" dirty="0">
                <a:latin typeface="Times New Roman" pitchFamily="18" charset="0"/>
                <a:cs typeface="Times New Roman" pitchFamily="18" charset="0"/>
              </a:rPr>
              <a:t>3- The Process</a:t>
            </a:r>
          </a:p>
          <a:p>
            <a:pPr marL="109728" indent="0" algn="just">
              <a:buNone/>
            </a:pPr>
            <a:r>
              <a:rPr lang="en-GB" sz="2800" dirty="0">
                <a:latin typeface="Times New Roman" pitchFamily="18" charset="0"/>
                <a:cs typeface="Times New Roman" pitchFamily="18" charset="0"/>
              </a:rPr>
              <a:t>A software process provides the framework from which a comprehensive plan for software development can be established. A small number of framework activities are applicable to all software projects, regardless of their size or complexity.</a:t>
            </a:r>
            <a:endParaRPr lang="ar-IQ" sz="2800" dirty="0">
              <a:latin typeface="Times New Roman" pitchFamily="18" charset="0"/>
              <a:cs typeface="Times New Roman" pitchFamily="18" charset="0"/>
            </a:endParaRPr>
          </a:p>
          <a:p>
            <a:pPr marL="109728" indent="0" algn="just">
              <a:buNone/>
            </a:pPr>
            <a:r>
              <a:rPr lang="en-GB" sz="2800" dirty="0">
                <a:latin typeface="Times New Roman" pitchFamily="18" charset="0"/>
                <a:cs typeface="Times New Roman" pitchFamily="18" charset="0"/>
              </a:rPr>
              <a:t>A software team should have a significant degree of flexibility in choosing the software</a:t>
            </a:r>
            <a:r>
              <a:rPr lang="ar-IQ" sz="2800" dirty="0">
                <a:latin typeface="Times New Roman" pitchFamily="18" charset="0"/>
                <a:cs typeface="Times New Roman" pitchFamily="18" charset="0"/>
              </a:rPr>
              <a:t> </a:t>
            </a:r>
            <a:r>
              <a:rPr lang="en-GB" sz="2800" dirty="0">
                <a:latin typeface="Times New Roman" pitchFamily="18" charset="0"/>
                <a:cs typeface="Times New Roman" pitchFamily="18" charset="0"/>
              </a:rPr>
              <a:t>engineering paradigm that is best for the project and the software engineering</a:t>
            </a:r>
            <a:r>
              <a:rPr lang="ar-IQ" sz="2800" dirty="0">
                <a:latin typeface="Times New Roman" pitchFamily="18" charset="0"/>
                <a:cs typeface="Times New Roman" pitchFamily="18" charset="0"/>
              </a:rPr>
              <a:t> </a:t>
            </a:r>
            <a:r>
              <a:rPr lang="en-GB" sz="2800" dirty="0">
                <a:latin typeface="Times New Roman" pitchFamily="18" charset="0"/>
                <a:cs typeface="Times New Roman" pitchFamily="18" charset="0"/>
              </a:rPr>
              <a:t>tasks that populate the process model once it is chosen.</a:t>
            </a:r>
            <a:endParaRPr lang="ar-IQ" sz="2800" dirty="0">
              <a:latin typeface="Times New Roman" pitchFamily="18" charset="0"/>
              <a:cs typeface="Times New Roman" pitchFamily="18" charset="0"/>
            </a:endParaRPr>
          </a:p>
        </p:txBody>
      </p:sp>
    </p:spTree>
    <p:extLst>
      <p:ext uri="{BB962C8B-B14F-4D97-AF65-F5344CB8AC3E}">
        <p14:creationId xmlns:p14="http://schemas.microsoft.com/office/powerpoint/2010/main" val="421671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9552" y="476672"/>
            <a:ext cx="7776864" cy="5400600"/>
          </a:xfrm>
        </p:spPr>
        <p:txBody>
          <a:bodyPr>
            <a:noAutofit/>
          </a:bodyPr>
          <a:lstStyle/>
          <a:p>
            <a:pPr marL="109728" indent="0" algn="just">
              <a:buNone/>
            </a:pPr>
            <a:r>
              <a:rPr lang="en-GB" sz="2000" b="1" dirty="0">
                <a:latin typeface="Times New Roman" pitchFamily="18" charset="0"/>
                <a:cs typeface="Times New Roman" pitchFamily="18" charset="0"/>
              </a:rPr>
              <a:t>4- The project</a:t>
            </a:r>
          </a:p>
          <a:p>
            <a:pPr marL="109728" indent="0" algn="just">
              <a:buNone/>
            </a:pPr>
            <a:r>
              <a:rPr lang="en-GB" sz="2000" dirty="0">
                <a:latin typeface="Times New Roman" pitchFamily="18" charset="0"/>
                <a:cs typeface="Times New Roman" pitchFamily="18" charset="0"/>
              </a:rPr>
              <a:t>order to manage a successful software project, we must understand what can go wrong (so that problems can be avoided) defines ten signs that indicate that an information systems project is in jeopardy:</a:t>
            </a:r>
          </a:p>
          <a:p>
            <a:pPr marL="109728" indent="0" algn="just">
              <a:buNone/>
            </a:pPr>
            <a:r>
              <a:rPr lang="en-GB" sz="2000" dirty="0">
                <a:latin typeface="Times New Roman" pitchFamily="18" charset="0"/>
                <a:cs typeface="Times New Roman" pitchFamily="18" charset="0"/>
              </a:rPr>
              <a:t>1. Software people don’t understand their customer’s needs.</a:t>
            </a:r>
          </a:p>
          <a:p>
            <a:pPr marL="109728" indent="0" algn="just">
              <a:buNone/>
            </a:pPr>
            <a:r>
              <a:rPr lang="en-GB" sz="2000" dirty="0">
                <a:latin typeface="Times New Roman" pitchFamily="18" charset="0"/>
                <a:cs typeface="Times New Roman" pitchFamily="18" charset="0"/>
              </a:rPr>
              <a:t>2. The product scope is poorly defined.</a:t>
            </a:r>
          </a:p>
          <a:p>
            <a:pPr marL="109728" indent="0" algn="just">
              <a:buNone/>
            </a:pPr>
            <a:r>
              <a:rPr lang="en-GB" sz="2000" dirty="0">
                <a:latin typeface="Times New Roman" pitchFamily="18" charset="0"/>
                <a:cs typeface="Times New Roman" pitchFamily="18" charset="0"/>
              </a:rPr>
              <a:t>3. Changes are managed poorly.</a:t>
            </a:r>
          </a:p>
          <a:p>
            <a:pPr marL="109728" indent="0" algn="just">
              <a:buNone/>
            </a:pPr>
            <a:r>
              <a:rPr lang="en-GB" sz="2000" dirty="0">
                <a:latin typeface="Times New Roman" pitchFamily="18" charset="0"/>
                <a:cs typeface="Times New Roman" pitchFamily="18" charset="0"/>
              </a:rPr>
              <a:t>4.The chosen technology changes.</a:t>
            </a:r>
          </a:p>
          <a:p>
            <a:pPr marL="109728" indent="0" algn="just">
              <a:buNone/>
            </a:pPr>
            <a:r>
              <a:rPr lang="en-GB" sz="2000" dirty="0">
                <a:latin typeface="Times New Roman" pitchFamily="18" charset="0"/>
                <a:cs typeface="Times New Roman" pitchFamily="18" charset="0"/>
              </a:rPr>
              <a:t>5. Business needs change [or are ill-defined].</a:t>
            </a:r>
          </a:p>
          <a:p>
            <a:pPr marL="109728" indent="0" algn="just">
              <a:buNone/>
            </a:pPr>
            <a:r>
              <a:rPr lang="en-GB" sz="2000" dirty="0">
                <a:latin typeface="Times New Roman" pitchFamily="18" charset="0"/>
                <a:cs typeface="Times New Roman" pitchFamily="18" charset="0"/>
              </a:rPr>
              <a:t>6. Deadlines are unrealistic.</a:t>
            </a:r>
          </a:p>
          <a:p>
            <a:pPr marL="109728" indent="0" algn="just">
              <a:buNone/>
            </a:pPr>
            <a:r>
              <a:rPr lang="en-GB" sz="2000" dirty="0">
                <a:latin typeface="Times New Roman" pitchFamily="18" charset="0"/>
                <a:cs typeface="Times New Roman" pitchFamily="18" charset="0"/>
              </a:rPr>
              <a:t>7. Users are resistant.</a:t>
            </a:r>
          </a:p>
          <a:p>
            <a:pPr marL="109728" indent="0" algn="just">
              <a:buNone/>
            </a:pPr>
            <a:r>
              <a:rPr lang="en-GB" sz="2000" dirty="0">
                <a:latin typeface="Times New Roman" pitchFamily="18" charset="0"/>
                <a:cs typeface="Times New Roman" pitchFamily="18" charset="0"/>
              </a:rPr>
              <a:t>8. Sponsorship is lost [or was never properly obtained].</a:t>
            </a:r>
          </a:p>
          <a:p>
            <a:pPr marL="109728" indent="0" algn="just">
              <a:buNone/>
            </a:pPr>
            <a:r>
              <a:rPr lang="en-GB" sz="2000" dirty="0">
                <a:latin typeface="Times New Roman" pitchFamily="18" charset="0"/>
                <a:cs typeface="Times New Roman" pitchFamily="18" charset="0"/>
              </a:rPr>
              <a:t>9. The project team lacks people with appropriate skills.</a:t>
            </a:r>
          </a:p>
          <a:p>
            <a:pPr marL="109728" indent="0" algn="just">
              <a:buNone/>
            </a:pPr>
            <a:r>
              <a:rPr lang="en-GB" sz="2000" dirty="0">
                <a:latin typeface="Times New Roman" pitchFamily="18" charset="0"/>
                <a:cs typeface="Times New Roman" pitchFamily="18" charset="0"/>
              </a:rPr>
              <a:t>10. Managers [and practitioners] avoid best practices and lessons learned.</a:t>
            </a:r>
          </a:p>
          <a:p>
            <a:pPr marL="109728" indent="0" algn="just">
              <a:buNone/>
            </a:pPr>
            <a:endParaRPr lang="en-GB" sz="2000" dirty="0">
              <a:latin typeface="Times New Roman" pitchFamily="18" charset="0"/>
              <a:cs typeface="Times New Roman" pitchFamily="18" charset="0"/>
            </a:endParaRPr>
          </a:p>
        </p:txBody>
      </p:sp>
    </p:spTree>
    <p:extLst>
      <p:ext uri="{BB962C8B-B14F-4D97-AF65-F5344CB8AC3E}">
        <p14:creationId xmlns:p14="http://schemas.microsoft.com/office/powerpoint/2010/main" val="362498496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28067</TotalTime>
  <Words>884</Words>
  <Application>Microsoft Office PowerPoint</Application>
  <PresentationFormat>On-screen Show (4:3)</PresentationFormat>
  <Paragraphs>42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Garamond</vt:lpstr>
      <vt:lpstr>Times New Roman</vt:lpstr>
      <vt:lpstr>Organic</vt:lpstr>
      <vt:lpstr>Software Engineering</vt:lpstr>
      <vt:lpstr>THE MANAGEMENT SPECTRUM</vt:lpstr>
      <vt:lpstr>PowerPoint Presentation</vt:lpstr>
      <vt:lpstr>PowerPoint Presentation</vt:lpstr>
      <vt:lpstr>PowerPoint Presentation</vt:lpstr>
      <vt:lpstr>PowerPoint Presentation</vt:lpstr>
      <vt:lpstr>2- The Product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najtena2003@outlook.com</dc:creator>
  <cp:lastModifiedBy>Rami Bahaa</cp:lastModifiedBy>
  <cp:revision>35</cp:revision>
  <dcterms:created xsi:type="dcterms:W3CDTF">2017-10-16T20:17:48Z</dcterms:created>
  <dcterms:modified xsi:type="dcterms:W3CDTF">2026-04-04T13:13:36Z</dcterms:modified>
</cp:coreProperties>
</file>