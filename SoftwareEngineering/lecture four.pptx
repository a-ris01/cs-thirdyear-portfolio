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wmf" ContentType="image/wm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4" autoAdjust="0"/>
    <p:restoredTop sz="94660" autoAdjust="0"/>
  </p:normalViewPr>
  <p:slideViewPr>
    <p:cSldViewPr snapToGrid="0" snapToObjects="1">
      <p:cViewPr varScale="1">
        <p:scale>
          <a:sx n="95" d="100"/>
          <a:sy n="95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eg"/><Relationship Id="rId3" Type="http://schemas.openxmlformats.org/officeDocument/2006/relationships/image" Target="../media/2.png"/><Relationship Id="rId4" Type="http://schemas.openxmlformats.org/officeDocument/2006/relationships/image" Target="../media/3.png"/><Relationship Id="rId5" Type="http://schemas.openxmlformats.org/officeDocument/2006/relationships/image" Target="../media/3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663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210540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690486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34762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مربع النص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مربع النص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1062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58734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827826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41778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62315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726583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النص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مربع النص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مربع النص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مربع النص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مربع النص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8690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blipFill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تجميع"/>
          <p:cNvGrpSpPr>
            <a:grpSpLocks/>
          </p:cNvGrpSpPr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الصور" descr="HD-PanelContent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0" y="0"/>
              <a:ext cx="12188825" cy="68562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sp>
          <p:nvSpPr>
            <p:cNvPr id="16" name="المستطيلات"/>
            <p:cNvSpPr>
              <a:spLocks/>
            </p:cNvSpPr>
            <p:nvPr/>
          </p:nvSpPr>
          <p:spPr>
            <a:xfrm rot="0">
              <a:off x="608012" y="609600"/>
              <a:ext cx="10972800" cy="5638800"/>
            </a:xfrm>
            <a:prstGeom prst="rect"/>
            <a:noFill/>
            <a:ln w="15875" cmpd="sng" cap="flat">
              <a:solidFill>
                <a:srgbClr val="83992A"/>
              </a:solidFill>
              <a:prstDash val="solid"/>
              <a:miter/>
            </a:ln>
            <a:effectLst>
              <a:innerShdw blurRad="25400" dist="12700" dir="13500000">
                <a:srgbClr val="000000">
                  <a:alpha val="44705"/>
                </a:srgbClr>
              </a:innerShdw>
            </a:effectLst>
          </p:spPr>
        </p:sp>
        <p:pic>
          <p:nvPicPr>
            <p:cNvPr id="17" name="الصور" descr="HDRibbonContent-UniformTrim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0">
              <a:off x="-15736" y="3153832"/>
              <a:ext cx="777240" cy="6064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18" name="الصور" descr="HDRibbonContent-UniformTrim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0">
              <a:off x="11436986" y="3153832"/>
              <a:ext cx="777239" cy="6064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12" name="مربع النص"/>
          <p:cNvSpPr>
            <a:spLocks noGrp="1"/>
          </p:cNvSpPr>
          <p:nvPr>
            <p:ph type="dt" idx="10"/>
          </p:nvPr>
        </p:nvSpPr>
        <p:spPr>
          <a:xfrm rot="0">
            <a:off x="8677501" y="5969000"/>
            <a:ext cx="1600200" cy="279400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r>
              <a:rPr lang="en-US" altLang="zh-CN" sz="1000" b="0" i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Date/Time</a:t>
            </a:r>
            <a:endParaRPr lang="zh-CN" altLang="en-US" sz="1000" b="0" i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3" name="مربع النص"/>
          <p:cNvSpPr>
            <a:spLocks noGrp="1"/>
          </p:cNvSpPr>
          <p:nvPr>
            <p:ph type="ftr"/>
          </p:nvPr>
        </p:nvSpPr>
        <p:spPr>
          <a:xfrm rot="0">
            <a:off x="1295401" y="5969000"/>
            <a:ext cx="7305899" cy="279400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endParaRPr lang="zh-CN" altLang="en-US" sz="1000" b="0" i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4" name="مربع النص"/>
          <p:cNvSpPr>
            <a:spLocks noGrp="1"/>
          </p:cNvSpPr>
          <p:nvPr>
            <p:ph type="sldNum"/>
          </p:nvPr>
        </p:nvSpPr>
        <p:spPr>
          <a:xfrm rot="0">
            <a:off x="10353901" y="5969000"/>
            <a:ext cx="542697" cy="279400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&lt;#&gt;</a:t>
            </a:fld>
            <a:endParaRPr lang="zh-CN" altLang="en-US" sz="1000" b="0" i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114325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image" Target="../media/2.png"/><Relationship Id="rId3" Type="http://schemas.openxmlformats.org/officeDocument/2006/relationships/image" Target="../media/3.png"/><Relationship Id="rId4" Type="http://schemas.openxmlformats.org/officeDocument/2006/relationships/image" Target="../media/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<Relationship Id="rId17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تجميع"/>
          <p:cNvGrpSpPr>
            <a:grpSpLocks/>
          </p:cNvGrpSpPr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" name="الصور" descr="HD-PanelContent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0" y="0"/>
              <a:ext cx="12188825" cy="685621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sp>
          <p:nvSpPr>
            <p:cNvPr id="3" name="المستطيلات"/>
            <p:cNvSpPr>
              <a:spLocks/>
            </p:cNvSpPr>
            <p:nvPr/>
          </p:nvSpPr>
          <p:spPr>
            <a:xfrm rot="0">
              <a:off x="608012" y="609600"/>
              <a:ext cx="10972800" cy="5638800"/>
            </a:xfrm>
            <a:prstGeom prst="rect"/>
            <a:noFill/>
            <a:ln w="15875" cmpd="sng" cap="flat">
              <a:solidFill>
                <a:srgbClr val="83992A"/>
              </a:solidFill>
              <a:prstDash val="solid"/>
              <a:miter/>
            </a:ln>
            <a:effectLst>
              <a:innerShdw blurRad="25400" dist="12700" dir="13500000">
                <a:srgbClr val="000000">
                  <a:alpha val="44705"/>
                </a:srgbClr>
              </a:innerShdw>
            </a:effectLst>
          </p:spPr>
        </p:sp>
        <p:pic>
          <p:nvPicPr>
            <p:cNvPr id="4" name="الصور" descr="HDRibbonContent-UniformTrim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-15736" y="3153832"/>
              <a:ext cx="777240" cy="6064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5" name="الصور" descr="HDRibbonContent-UniformTrim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0">
              <a:off x="11436986" y="3153832"/>
              <a:ext cx="777239" cy="60642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7" name="مربع النص"/>
          <p:cNvSpPr>
            <a:spLocks noGrp="1"/>
          </p:cNvSpPr>
          <p:nvPr>
            <p:ph type="title"/>
          </p:nvPr>
        </p:nvSpPr>
        <p:spPr>
          <a:xfrm rot="0">
            <a:off x="1295402" y="982132"/>
            <a:ext cx="9601196" cy="130386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مربع النص"/>
          <p:cNvSpPr>
            <a:spLocks noGrp="1"/>
          </p:cNvSpPr>
          <p:nvPr>
            <p:ph type="body" idx="1"/>
          </p:nvPr>
        </p:nvSpPr>
        <p:spPr>
          <a:xfrm rot="0">
            <a:off x="1295401" y="2556932"/>
            <a:ext cx="9601196" cy="33189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مربع النص"/>
          <p:cNvSpPr>
            <a:spLocks noGrp="1"/>
          </p:cNvSpPr>
          <p:nvPr>
            <p:ph type="dt" idx="2"/>
          </p:nvPr>
        </p:nvSpPr>
        <p:spPr>
          <a:xfrm rot="0">
            <a:off x="8677501" y="5969000"/>
            <a:ext cx="1600200" cy="279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000" b="0" i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2/28/2026</a:t>
            </a:fld>
            <a:endParaRPr lang="zh-CN" altLang="en-US" sz="1000" b="0" i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0" name="مربع النص"/>
          <p:cNvSpPr>
            <a:spLocks noGrp="1"/>
          </p:cNvSpPr>
          <p:nvPr>
            <p:ph type="ftr" idx="3"/>
          </p:nvPr>
        </p:nvSpPr>
        <p:spPr>
          <a:xfrm rot="0">
            <a:off x="1295401" y="5969000"/>
            <a:ext cx="7305899" cy="279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endParaRPr lang="zh-CN" altLang="en-US" sz="1000" b="0" i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1" name="مربع النص"/>
          <p:cNvSpPr>
            <a:spLocks noGrp="1"/>
          </p:cNvSpPr>
          <p:nvPr>
            <p:ph type="sldNum" idx="4"/>
          </p:nvPr>
        </p:nvSpPr>
        <p:spPr>
          <a:xfrm rot="0">
            <a:off x="10353901" y="5969000"/>
            <a:ext cx="542697" cy="279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&lt;#&gt;</a:t>
            </a:fld>
            <a:endParaRPr lang="zh-CN" altLang="en-US" sz="1000" b="0" i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38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1pPr>
    </p:titleStyle>
    <p:bodyStyle>
      <a:lvl1pPr marL="285750" indent="-28575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2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20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2pPr>
      <a:lvl3pPr marL="1200150" indent="-28575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8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3pPr>
      <a:lvl4pPr marL="1543050" indent="-17145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6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4pPr>
      <a:lvl5pPr marL="2000250" indent="-17145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0" charset="0"/>
        <a:buChar char="•"/>
        <a:defRPr sz="1400" kern="1200" cap="none">
          <a:solidFill>
            <a:srgbClr val="262626"/>
          </a:solidFill>
          <a:latin typeface="Garamond" pitchFamily="0" charset="0"/>
          <a:ea typeface="方正舒体" pitchFamily="0" charset="0"/>
          <a:cs typeface="Garamond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image" Target="../media/4.png"/><Relationship Id="rId3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1.jpeg"/><Relationship Id="rId2" Type="http://schemas.openxmlformats.org/officeDocument/2006/relationships/image" Target="../media/5.wmf"/><Relationship Id="rId3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المستطيلات"/>
          <p:cNvSpPr>
            <a:spLocks/>
          </p:cNvSpPr>
          <p:nvPr/>
        </p:nvSpPr>
        <p:spPr>
          <a:xfrm rot="0">
            <a:off x="2692398" y="1871131"/>
            <a:ext cx="6815669" cy="151553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Software Engineering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1" name="المستطيلات"/>
          <p:cNvSpPr>
            <a:spLocks/>
          </p:cNvSpPr>
          <p:nvPr/>
        </p:nvSpPr>
        <p:spPr>
          <a:xfrm rot="0">
            <a:off x="2692398" y="3657597"/>
            <a:ext cx="6815669" cy="13208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Lecture </a:t>
            </a:r>
            <a:r>
              <a:rPr lang="en-US" altLang="zh-CN" sz="2400" b="1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4</a:t>
            </a:r>
            <a:endParaRPr lang="zh-CN" altLang="en-US" sz="2400" b="1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078376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المستطيلات"/>
          <p:cNvSpPr>
            <a:spLocks/>
          </p:cNvSpPr>
          <p:nvPr/>
        </p:nvSpPr>
        <p:spPr>
          <a:xfrm rot="0">
            <a:off x="980388" y="1169199"/>
            <a:ext cx="9860437" cy="4091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What is a Class Diagram?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 Class Diagram is a type of UML (Unified Modeling Language) diagram that shows the structure of a system by representing: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Classes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Attributes (variables)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Methods (functions)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Relationships between classes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It is used in object-oriented programming (OOP) to design software before coding.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129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المستطيلات"/>
          <p:cNvSpPr>
            <a:spLocks/>
          </p:cNvSpPr>
          <p:nvPr/>
        </p:nvSpPr>
        <p:spPr>
          <a:xfrm rot="0">
            <a:off x="1206631" y="1192393"/>
            <a:ext cx="7951508" cy="407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Main Parts of a Class Diagram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Each class is drawn as a rectangle with 3 sections: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+------------------+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| Class Name       |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+------------------+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| Attributes       |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+------------------+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| Methods          |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+------------------+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34948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المستطيلات"/>
          <p:cNvSpPr>
            <a:spLocks/>
          </p:cNvSpPr>
          <p:nvPr/>
        </p:nvSpPr>
        <p:spPr>
          <a:xfrm rot="0">
            <a:off x="1046375" y="797510"/>
            <a:ext cx="8111764" cy="3710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1.Class Name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The name of the class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2.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Attributes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Variables that store data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3. Methods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Functions the class can perform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01294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المستطيلات"/>
          <p:cNvSpPr>
            <a:spLocks/>
          </p:cNvSpPr>
          <p:nvPr/>
        </p:nvSpPr>
        <p:spPr>
          <a:xfrm rot="0">
            <a:off x="1785938" y="3181351"/>
            <a:ext cx="8255000" cy="25987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 diagrams represent the structure of the system.</a:t>
            </a:r>
            <a:endParaRPr lang="en-US" altLang="zh-CN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Used</a:t>
            </a:r>
            <a:endParaRPr lang="en-US" altLang="zh-CN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during requirements analysis to model problem domain concepts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during system design to model subsystems and interfaces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during object design to model classes.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zh-CN" altLang="en-US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6" name="المستطيلات"/>
          <p:cNvSpPr>
            <a:spLocks/>
          </p:cNvSpPr>
          <p:nvPr/>
        </p:nvSpPr>
        <p:spPr>
          <a:xfrm rot="0">
            <a:off x="2041525" y="1619251"/>
            <a:ext cx="3309937" cy="8915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Enumeration </a:t>
            </a: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getZones</a:t>
            </a: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()</a:t>
            </a:r>
            <a:endParaRPr lang="en-US" altLang="zh-CN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Price </a:t>
            </a: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getPrice</a:t>
            </a: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(Zone)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29" name="تجميع"/>
          <p:cNvGrpSpPr>
            <a:grpSpLocks/>
          </p:cNvGrpSpPr>
          <p:nvPr/>
        </p:nvGrpSpPr>
        <p:grpSpPr>
          <a:xfrm>
            <a:off x="1970088" y="1235076"/>
            <a:ext cx="3336924" cy="447675"/>
            <a:chOff x="1970088" y="1235076"/>
            <a:chExt cx="3336924" cy="447675"/>
          </a:xfrm>
        </p:grpSpPr>
        <p:sp>
          <p:nvSpPr>
            <p:cNvPr id="27" name="المستطيلات"/>
            <p:cNvSpPr>
              <a:spLocks/>
            </p:cNvSpPr>
            <p:nvPr/>
          </p:nvSpPr>
          <p:spPr>
            <a:xfrm rot="0">
              <a:off x="1970088" y="1235076"/>
              <a:ext cx="3336924" cy="447675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المستطيلات"/>
            <p:cNvSpPr>
              <a:spLocks/>
            </p:cNvSpPr>
            <p:nvPr/>
          </p:nvSpPr>
          <p:spPr>
            <a:xfrm rot="0">
              <a:off x="2750304" y="1384301"/>
              <a:ext cx="1792605" cy="266700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TarifSchedule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30" name="المستطيلات"/>
          <p:cNvSpPr>
            <a:spLocks/>
          </p:cNvSpPr>
          <p:nvPr/>
        </p:nvSpPr>
        <p:spPr>
          <a:xfrm rot="0">
            <a:off x="1960563" y="1687512"/>
            <a:ext cx="3338513" cy="257175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31" name="المستطيلات"/>
          <p:cNvSpPr>
            <a:spLocks/>
          </p:cNvSpPr>
          <p:nvPr/>
        </p:nvSpPr>
        <p:spPr>
          <a:xfrm rot="0">
            <a:off x="1968501" y="1954213"/>
            <a:ext cx="3335336" cy="587375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32" name="خط مستقيم"/>
          <p:cNvSpPr>
            <a:spLocks/>
          </p:cNvSpPr>
          <p:nvPr/>
        </p:nvSpPr>
        <p:spPr>
          <a:xfrm rot="0">
            <a:off x="5303838" y="1887538"/>
            <a:ext cx="2247900" cy="0"/>
          </a:xfrm>
          <a:prstGeom prst="line"/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33" name="المستطيلات"/>
          <p:cNvSpPr>
            <a:spLocks/>
          </p:cNvSpPr>
          <p:nvPr/>
        </p:nvSpPr>
        <p:spPr>
          <a:xfrm rot="0">
            <a:off x="5432425" y="1987867"/>
            <a:ext cx="288416" cy="3581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4" name="المستطيلات"/>
          <p:cNvSpPr>
            <a:spLocks/>
          </p:cNvSpPr>
          <p:nvPr/>
        </p:nvSpPr>
        <p:spPr>
          <a:xfrm rot="0">
            <a:off x="7192962" y="2013268"/>
            <a:ext cx="288416" cy="35814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37" name="تجميع"/>
          <p:cNvGrpSpPr>
            <a:grpSpLocks/>
          </p:cNvGrpSpPr>
          <p:nvPr/>
        </p:nvGrpSpPr>
        <p:grpSpPr>
          <a:xfrm>
            <a:off x="7710488" y="1450976"/>
            <a:ext cx="2625724" cy="447675"/>
            <a:chOff x="7710488" y="1450976"/>
            <a:chExt cx="2625724" cy="447675"/>
          </a:xfrm>
        </p:grpSpPr>
        <p:sp>
          <p:nvSpPr>
            <p:cNvPr id="35" name="المستطيلات"/>
            <p:cNvSpPr>
              <a:spLocks/>
            </p:cNvSpPr>
            <p:nvPr/>
          </p:nvSpPr>
          <p:spPr>
            <a:xfrm rot="0">
              <a:off x="7710488" y="1450976"/>
              <a:ext cx="2625724" cy="447675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6" name="المستطيلات"/>
            <p:cNvSpPr>
              <a:spLocks/>
            </p:cNvSpPr>
            <p:nvPr/>
          </p:nvSpPr>
          <p:spPr>
            <a:xfrm rot="0">
              <a:off x="8749444" y="1600201"/>
              <a:ext cx="558165" cy="266700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Trip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38" name="المستطيلات"/>
          <p:cNvSpPr>
            <a:spLocks/>
          </p:cNvSpPr>
          <p:nvPr/>
        </p:nvSpPr>
        <p:spPr>
          <a:xfrm rot="0">
            <a:off x="7713663" y="1903413"/>
            <a:ext cx="2614612" cy="574674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39" name="المستطيلات"/>
          <p:cNvSpPr>
            <a:spLocks/>
          </p:cNvSpPr>
          <p:nvPr/>
        </p:nvSpPr>
        <p:spPr>
          <a:xfrm rot="0">
            <a:off x="7721601" y="2487613"/>
            <a:ext cx="2611436" cy="295274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grpSp>
        <p:nvGrpSpPr>
          <p:cNvPr id="42" name="تجميع"/>
          <p:cNvGrpSpPr>
            <a:grpSpLocks/>
          </p:cNvGrpSpPr>
          <p:nvPr/>
        </p:nvGrpSpPr>
        <p:grpSpPr>
          <a:xfrm>
            <a:off x="7858125" y="1874838"/>
            <a:ext cx="1655445" cy="557212"/>
            <a:chOff x="7858125" y="1874838"/>
            <a:chExt cx="1655445" cy="557212"/>
          </a:xfrm>
        </p:grpSpPr>
        <p:sp>
          <p:nvSpPr>
            <p:cNvPr id="40" name="المستطيلات"/>
            <p:cNvSpPr>
              <a:spLocks/>
            </p:cNvSpPr>
            <p:nvPr/>
          </p:nvSpPr>
          <p:spPr>
            <a:xfrm rot="0">
              <a:off x="8127861" y="1874838"/>
              <a:ext cx="1098829" cy="320675"/>
            </a:xfrm>
            <a:prstGeom prst="rect"/>
            <a:noFill/>
            <a:ln w="12700" cmpd="sng" cap="flat">
              <a:noFill/>
              <a:prstDash val="solid"/>
              <a:round/>
            </a:ln>
          </p:spPr>
        </p:sp>
        <p:sp>
          <p:nvSpPr>
            <p:cNvPr id="41" name="المستطيلات"/>
            <p:cNvSpPr>
              <a:spLocks/>
            </p:cNvSpPr>
            <p:nvPr/>
          </p:nvSpPr>
          <p:spPr>
            <a:xfrm rot="0">
              <a:off x="7858125" y="1898650"/>
              <a:ext cx="1655445" cy="533400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zone:Zone</a:t>
              </a:r>
              <a:endPara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Price: Price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16887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المستطيلات"/>
          <p:cNvSpPr>
            <a:spLocks/>
          </p:cNvSpPr>
          <p:nvPr/>
        </p:nvSpPr>
        <p:spPr>
          <a:xfrm rot="0">
            <a:off x="1446622" y="590550"/>
            <a:ext cx="8153400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Actor vs Instances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44" name="المستطيلات"/>
          <p:cNvSpPr>
            <a:spLocks/>
          </p:cNvSpPr>
          <p:nvPr/>
        </p:nvSpPr>
        <p:spPr>
          <a:xfrm rot="0">
            <a:off x="1383122" y="1663700"/>
            <a:ext cx="8255000" cy="49212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What is the difference between an </a:t>
            </a:r>
            <a:r>
              <a:rPr lang="en-US" altLang="zh-CN" sz="2400" b="0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actor</a:t>
            </a: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,  a </a:t>
            </a:r>
            <a:r>
              <a:rPr lang="en-US" altLang="zh-CN" sz="2400" b="0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</a:t>
            </a: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 and an </a:t>
            </a:r>
            <a:r>
              <a:rPr lang="en-US" altLang="zh-CN" sz="2400" b="0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instance</a:t>
            </a: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?</a:t>
            </a:r>
            <a:endParaRPr lang="en-US" altLang="zh-CN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Actor: </a:t>
            </a:r>
            <a:endParaRPr lang="en-US" altLang="zh-CN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An entity outside the system to be modeled, interacting with the system (“Passenger”)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Class: </a:t>
            </a:r>
            <a:endParaRPr lang="en-US" altLang="zh-CN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An abstraction modeling an entity in the problem domain, must be modeled inside the system (“User”)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Object: </a:t>
            </a:r>
            <a:endParaRPr lang="en-US" altLang="zh-CN" sz="2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 specific instance of a class (“Joe, the passenger who is purchasing a ticket from the ticket distributor”).  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03880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المستطيلات"/>
          <p:cNvSpPr>
            <a:spLocks/>
          </p:cNvSpPr>
          <p:nvPr/>
        </p:nvSpPr>
        <p:spPr>
          <a:xfrm rot="0">
            <a:off x="1284205" y="624362"/>
            <a:ext cx="8153400" cy="7048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Classes</a:t>
            </a:r>
            <a:endParaRPr lang="zh-CN" altLang="en-US" sz="28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46" name="المستطيلات"/>
          <p:cNvSpPr>
            <a:spLocks/>
          </p:cNvSpPr>
          <p:nvPr/>
        </p:nvSpPr>
        <p:spPr>
          <a:xfrm rot="0">
            <a:off x="1430255" y="4412137"/>
            <a:ext cx="8255000" cy="1828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represent a concept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 class encapsulates state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(attributes)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and behavior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(operations).</a:t>
            </a:r>
            <a:endParaRPr lang="en-US" altLang="zh-CN" sz="2000" b="1" i="1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Each attribute has a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type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Each operation has a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signature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The class name is the only mandatory information.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53" name="تجميع"/>
          <p:cNvGrpSpPr>
            <a:grpSpLocks/>
          </p:cNvGrpSpPr>
          <p:nvPr/>
        </p:nvGrpSpPr>
        <p:grpSpPr>
          <a:xfrm>
            <a:off x="1947780" y="2267425"/>
            <a:ext cx="2247899" cy="1306512"/>
            <a:chOff x="1947780" y="2267425"/>
            <a:chExt cx="2247899" cy="1306512"/>
          </a:xfrm>
        </p:grpSpPr>
        <p:sp>
          <p:nvSpPr>
            <p:cNvPr id="47" name="المستطيلات"/>
            <p:cNvSpPr>
              <a:spLocks/>
            </p:cNvSpPr>
            <p:nvPr/>
          </p:nvSpPr>
          <p:spPr>
            <a:xfrm rot="0">
              <a:off x="2001755" y="2651599"/>
              <a:ext cx="2193925" cy="915987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zone2price</a:t>
              </a:r>
              <a:endPara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getZones()</a:t>
              </a:r>
              <a:endPara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getPrice()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  <p:grpSp>
          <p:nvGrpSpPr>
            <p:cNvPr id="50" name="تجميع"/>
            <p:cNvGrpSpPr>
              <a:grpSpLocks/>
            </p:cNvGrpSpPr>
            <p:nvPr/>
          </p:nvGrpSpPr>
          <p:grpSpPr>
            <a:xfrm>
              <a:off x="1954129" y="2267425"/>
              <a:ext cx="2206624" cy="447674"/>
              <a:chOff x="1954129" y="2267425"/>
              <a:chExt cx="2206624" cy="447674"/>
            </a:xfrm>
          </p:grpSpPr>
          <p:sp>
            <p:nvSpPr>
              <p:cNvPr id="48" name="المستطيلات"/>
              <p:cNvSpPr>
                <a:spLocks/>
              </p:cNvSpPr>
              <p:nvPr/>
            </p:nvSpPr>
            <p:spPr>
              <a:xfrm rot="0">
                <a:off x="1954129" y="2267425"/>
                <a:ext cx="2206624" cy="447674"/>
              </a:xfrm>
              <a:prstGeom prst="rect"/>
              <a:noFill/>
              <a:ln w="15875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9" name="المستطيلات"/>
              <p:cNvSpPr>
                <a:spLocks/>
              </p:cNvSpPr>
              <p:nvPr/>
            </p:nvSpPr>
            <p:spPr>
              <a:xfrm rot="0">
                <a:off x="2170030" y="2416649"/>
                <a:ext cx="1774824" cy="274637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8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TarifSchedule</a:t>
                </a:r>
                <a:endParaRPr lang="zh-CN" altLang="en-US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  <p:sp>
          <p:nvSpPr>
            <p:cNvPr id="51" name="المستطيلات"/>
            <p:cNvSpPr>
              <a:spLocks/>
            </p:cNvSpPr>
            <p:nvPr/>
          </p:nvSpPr>
          <p:spPr>
            <a:xfrm rot="0">
              <a:off x="1947780" y="2719862"/>
              <a:ext cx="2212974" cy="257174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" name="المستطيلات"/>
            <p:cNvSpPr>
              <a:spLocks/>
            </p:cNvSpPr>
            <p:nvPr/>
          </p:nvSpPr>
          <p:spPr>
            <a:xfrm rot="0">
              <a:off x="1952542" y="2986562"/>
              <a:ext cx="2211387" cy="587375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59" name="تجميع"/>
          <p:cNvGrpSpPr>
            <a:grpSpLocks/>
          </p:cNvGrpSpPr>
          <p:nvPr/>
        </p:nvGrpSpPr>
        <p:grpSpPr>
          <a:xfrm>
            <a:off x="6262605" y="946624"/>
            <a:ext cx="3635375" cy="1306511"/>
            <a:chOff x="6262605" y="946624"/>
            <a:chExt cx="3635375" cy="1306511"/>
          </a:xfrm>
        </p:grpSpPr>
        <p:sp>
          <p:nvSpPr>
            <p:cNvPr id="54" name="المستطيلات"/>
            <p:cNvSpPr>
              <a:spLocks/>
            </p:cNvSpPr>
            <p:nvPr/>
          </p:nvSpPr>
          <p:spPr>
            <a:xfrm rot="0">
              <a:off x="6340393" y="1330799"/>
              <a:ext cx="3557587" cy="915986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chemeClr val="tx1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Table</a:t>
              </a: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 zone2price</a:t>
              </a:r>
              <a:endPara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chemeClr val="tx1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Enumeration</a:t>
              </a: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 getZones()</a:t>
              </a:r>
              <a:endPara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chemeClr val="tx1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Price</a:t>
              </a: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 getPrice(</a:t>
              </a:r>
              <a:r>
                <a:rPr lang="en-US" altLang="zh-CN" sz="1800" b="0" i="0" u="none" strike="noStrike" kern="1200" cap="none" spc="0" baseline="0">
                  <a:solidFill>
                    <a:schemeClr val="tx1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Zone</a:t>
              </a: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)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55" name="المستطيلات"/>
            <p:cNvSpPr>
              <a:spLocks/>
            </p:cNvSpPr>
            <p:nvPr/>
          </p:nvSpPr>
          <p:spPr>
            <a:xfrm rot="0">
              <a:off x="6262605" y="946624"/>
              <a:ext cx="3578224" cy="447674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" name="المستطيلات"/>
            <p:cNvSpPr>
              <a:spLocks/>
            </p:cNvSpPr>
            <p:nvPr/>
          </p:nvSpPr>
          <p:spPr>
            <a:xfrm rot="0">
              <a:off x="7164305" y="1095849"/>
              <a:ext cx="1774824" cy="274637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TarifSchedule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57" name="المستطيلات"/>
            <p:cNvSpPr>
              <a:spLocks/>
            </p:cNvSpPr>
            <p:nvPr/>
          </p:nvSpPr>
          <p:spPr>
            <a:xfrm rot="0">
              <a:off x="6265779" y="1399062"/>
              <a:ext cx="3573461" cy="257175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8" name="المستطيلات"/>
            <p:cNvSpPr>
              <a:spLocks/>
            </p:cNvSpPr>
            <p:nvPr/>
          </p:nvSpPr>
          <p:spPr>
            <a:xfrm rot="0">
              <a:off x="6273717" y="1665762"/>
              <a:ext cx="3573463" cy="587374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0" name="خانة مستطيلة بحواف دائرية للشرح"/>
          <p:cNvSpPr>
            <a:spLocks/>
          </p:cNvSpPr>
          <p:nvPr/>
        </p:nvSpPr>
        <p:spPr>
          <a:xfrm rot="0">
            <a:off x="4744955" y="1700687"/>
            <a:ext cx="1244599" cy="609600"/>
          </a:xfrm>
          <a:prstGeom prst="wedgeRoundRectCallout">
            <a:avLst>
              <a:gd name="adj1" fmla="val -91328"/>
              <a:gd name="adj2" fmla="val 86717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Name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61" name="خانة مستطيلة بحواف دائرية للشرح"/>
          <p:cNvSpPr>
            <a:spLocks/>
          </p:cNvSpPr>
          <p:nvPr/>
        </p:nvSpPr>
        <p:spPr>
          <a:xfrm rot="0">
            <a:off x="4516355" y="2513487"/>
            <a:ext cx="1689100" cy="609600"/>
          </a:xfrm>
          <a:prstGeom prst="wedgeRoundRectCallout">
            <a:avLst>
              <a:gd name="adj1" fmla="val -68416"/>
              <a:gd name="adj2" fmla="val 9629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Attributes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62" name="خانة مستطيلة بحواف دائرية للشرح"/>
          <p:cNvSpPr>
            <a:spLocks/>
          </p:cNvSpPr>
          <p:nvPr/>
        </p:nvSpPr>
        <p:spPr>
          <a:xfrm rot="0">
            <a:off x="4554455" y="3313587"/>
            <a:ext cx="1689100" cy="609600"/>
          </a:xfrm>
          <a:prstGeom prst="wedgeRoundRectCallout">
            <a:avLst>
              <a:gd name="adj1" fmla="val -72930"/>
              <a:gd name="adj2" fmla="val -59115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Operations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63" name="خانة مستطيلة بحواف دائرية للشرح"/>
          <p:cNvSpPr>
            <a:spLocks/>
          </p:cNvSpPr>
          <p:nvPr/>
        </p:nvSpPr>
        <p:spPr>
          <a:xfrm rot="0">
            <a:off x="7284955" y="2475387"/>
            <a:ext cx="1689100" cy="609600"/>
          </a:xfrm>
          <a:prstGeom prst="wedgeRoundRectCallout">
            <a:avLst>
              <a:gd name="adj1" fmla="val -74430"/>
              <a:gd name="adj2" fmla="val -94527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Signature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66" name="تجميع"/>
          <p:cNvGrpSpPr>
            <a:grpSpLocks/>
          </p:cNvGrpSpPr>
          <p:nvPr/>
        </p:nvGrpSpPr>
        <p:grpSpPr>
          <a:xfrm>
            <a:off x="7389730" y="3334225"/>
            <a:ext cx="2206624" cy="447674"/>
            <a:chOff x="7389730" y="3334225"/>
            <a:chExt cx="2206624" cy="447674"/>
          </a:xfrm>
        </p:grpSpPr>
        <p:sp>
          <p:nvSpPr>
            <p:cNvPr id="64" name="المستطيلات"/>
            <p:cNvSpPr>
              <a:spLocks/>
            </p:cNvSpPr>
            <p:nvPr/>
          </p:nvSpPr>
          <p:spPr>
            <a:xfrm rot="0">
              <a:off x="7389730" y="3334225"/>
              <a:ext cx="2206624" cy="447674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5" name="المستطيلات"/>
            <p:cNvSpPr>
              <a:spLocks/>
            </p:cNvSpPr>
            <p:nvPr/>
          </p:nvSpPr>
          <p:spPr>
            <a:xfrm rot="0">
              <a:off x="7605630" y="3483450"/>
              <a:ext cx="1774824" cy="274637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TarifSchedule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62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59" grpId="0" animBg="1"/>
      <p:bldP spid="63" grpId="0" animBg="1"/>
      <p:bldP spid="66" grpId="0" animBg="1"/>
    </p:bldLst>
  </p:timing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المستطيلات"/>
          <p:cNvSpPr>
            <a:spLocks/>
          </p:cNvSpPr>
          <p:nvPr/>
        </p:nvSpPr>
        <p:spPr>
          <a:xfrm rot="0">
            <a:off x="1381026" y="1214868"/>
            <a:ext cx="6117995" cy="286232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Why Class Diagram is Important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Helps plan software structure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Makes coding easier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Shows relationships clearly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Used in software engineering design and OOP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19310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المستطيلات"/>
          <p:cNvSpPr>
            <a:spLocks/>
          </p:cNvSpPr>
          <p:nvPr/>
        </p:nvSpPr>
        <p:spPr>
          <a:xfrm rot="0">
            <a:off x="7444917" y="2970966"/>
            <a:ext cx="2206624" cy="612775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69" name="المستطيلات"/>
          <p:cNvSpPr>
            <a:spLocks/>
          </p:cNvSpPr>
          <p:nvPr/>
        </p:nvSpPr>
        <p:spPr>
          <a:xfrm rot="0">
            <a:off x="8206917" y="3061453"/>
            <a:ext cx="682624" cy="82391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Price</a:t>
            </a:r>
            <a:br>
              <a: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</a:b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Zone</a:t>
            </a:r>
            <a:endParaRPr lang="en-US" altLang="zh-CN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70" name="المستطيلات"/>
          <p:cNvSpPr>
            <a:spLocks/>
          </p:cNvSpPr>
          <p:nvPr/>
        </p:nvSpPr>
        <p:spPr>
          <a:xfrm rot="0">
            <a:off x="1682292" y="759578"/>
            <a:ext cx="8153399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Associations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71" name="المستطيلات"/>
          <p:cNvSpPr>
            <a:spLocks/>
          </p:cNvSpPr>
          <p:nvPr/>
        </p:nvSpPr>
        <p:spPr>
          <a:xfrm rot="0">
            <a:off x="1758492" y="4466391"/>
            <a:ext cx="8255000" cy="23256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Associations denote relationships between classes.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The multiplicity of an association end denotes how many objects the source object can legitimately reference.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72" name="المستطيلات"/>
          <p:cNvSpPr>
            <a:spLocks/>
          </p:cNvSpPr>
          <p:nvPr/>
        </p:nvSpPr>
        <p:spPr>
          <a:xfrm rot="0">
            <a:off x="1912480" y="2821741"/>
            <a:ext cx="3309937" cy="91598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Enumeration getZones()</a:t>
            </a:r>
            <a:endParaRPr lang="en-US" altLang="zh-CN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Price getPrice(Zone)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ourier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75" name="تجميع"/>
          <p:cNvGrpSpPr>
            <a:grpSpLocks/>
          </p:cNvGrpSpPr>
          <p:nvPr/>
        </p:nvGrpSpPr>
        <p:grpSpPr>
          <a:xfrm>
            <a:off x="1841042" y="2437566"/>
            <a:ext cx="3336924" cy="447675"/>
            <a:chOff x="1841042" y="2437566"/>
            <a:chExt cx="3336924" cy="447675"/>
          </a:xfrm>
        </p:grpSpPr>
        <p:sp>
          <p:nvSpPr>
            <p:cNvPr id="73" name="المستطيلات"/>
            <p:cNvSpPr>
              <a:spLocks/>
            </p:cNvSpPr>
            <p:nvPr/>
          </p:nvSpPr>
          <p:spPr>
            <a:xfrm rot="0">
              <a:off x="1841042" y="2437566"/>
              <a:ext cx="3336924" cy="447675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4" name="المستطيلات"/>
            <p:cNvSpPr>
              <a:spLocks/>
            </p:cNvSpPr>
            <p:nvPr/>
          </p:nvSpPr>
          <p:spPr>
            <a:xfrm rot="0">
              <a:off x="2621258" y="2586790"/>
              <a:ext cx="1774091" cy="274637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TarifSchedule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76" name="المستطيلات"/>
          <p:cNvSpPr>
            <a:spLocks/>
          </p:cNvSpPr>
          <p:nvPr/>
        </p:nvSpPr>
        <p:spPr>
          <a:xfrm rot="0">
            <a:off x="1831516" y="2890003"/>
            <a:ext cx="3338513" cy="257174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77" name="المستطيلات"/>
          <p:cNvSpPr>
            <a:spLocks/>
          </p:cNvSpPr>
          <p:nvPr/>
        </p:nvSpPr>
        <p:spPr>
          <a:xfrm rot="0">
            <a:off x="1839455" y="3156703"/>
            <a:ext cx="3335336" cy="587375"/>
          </a:xfrm>
          <a:prstGeom prst="rect"/>
          <a:noFill/>
          <a:ln w="15875" cmpd="sng" cap="flat">
            <a:solidFill>
              <a:srgbClr val="000000"/>
            </a:solidFill>
            <a:prstDash val="solid"/>
            <a:miter/>
          </a:ln>
        </p:spPr>
      </p:sp>
      <p:grpSp>
        <p:nvGrpSpPr>
          <p:cNvPr id="80" name="تجميع"/>
          <p:cNvGrpSpPr>
            <a:grpSpLocks/>
          </p:cNvGrpSpPr>
          <p:nvPr/>
        </p:nvGrpSpPr>
        <p:grpSpPr>
          <a:xfrm>
            <a:off x="7444917" y="2526466"/>
            <a:ext cx="2206624" cy="447675"/>
            <a:chOff x="7444917" y="2526466"/>
            <a:chExt cx="2206624" cy="447675"/>
          </a:xfrm>
        </p:grpSpPr>
        <p:sp>
          <p:nvSpPr>
            <p:cNvPr id="78" name="المستطيلات"/>
            <p:cNvSpPr>
              <a:spLocks/>
            </p:cNvSpPr>
            <p:nvPr/>
          </p:nvSpPr>
          <p:spPr>
            <a:xfrm rot="0">
              <a:off x="7444917" y="2526466"/>
              <a:ext cx="2206624" cy="447675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9" name="المستطيلات"/>
            <p:cNvSpPr>
              <a:spLocks/>
            </p:cNvSpPr>
            <p:nvPr/>
          </p:nvSpPr>
          <p:spPr>
            <a:xfrm rot="0">
              <a:off x="8070392" y="2675691"/>
              <a:ext cx="955674" cy="274637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TripLeg</a:t>
              </a:r>
              <a:endParaRPr lang="zh-CN" altLang="en-US" sz="18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81" name="خط مستقيم"/>
          <p:cNvSpPr>
            <a:spLocks/>
          </p:cNvSpPr>
          <p:nvPr/>
        </p:nvSpPr>
        <p:spPr>
          <a:xfrm rot="0">
            <a:off x="5174792" y="3090028"/>
            <a:ext cx="2247900" cy="0"/>
          </a:xfrm>
          <a:prstGeom prst="line"/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82" name="المستطيلات"/>
          <p:cNvSpPr>
            <a:spLocks/>
          </p:cNvSpPr>
          <p:nvPr/>
        </p:nvSpPr>
        <p:spPr>
          <a:xfrm rot="0">
            <a:off x="5290680" y="3140828"/>
            <a:ext cx="303211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85" name="تجميع"/>
          <p:cNvGrpSpPr>
            <a:grpSpLocks/>
          </p:cNvGrpSpPr>
          <p:nvPr/>
        </p:nvGrpSpPr>
        <p:grpSpPr>
          <a:xfrm>
            <a:off x="7444917" y="3580565"/>
            <a:ext cx="2206624" cy="368300"/>
            <a:chOff x="7444917" y="3580565"/>
            <a:chExt cx="2206624" cy="368300"/>
          </a:xfrm>
        </p:grpSpPr>
        <p:sp>
          <p:nvSpPr>
            <p:cNvPr id="83" name="المستطيلات"/>
            <p:cNvSpPr>
              <a:spLocks/>
            </p:cNvSpPr>
            <p:nvPr/>
          </p:nvSpPr>
          <p:spPr>
            <a:xfrm rot="0">
              <a:off x="7444917" y="3580565"/>
              <a:ext cx="2206624" cy="282229"/>
            </a:xfrm>
            <a:prstGeom prst="rect"/>
            <a:noFill/>
            <a:ln w="15875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4" name="المستطيلات"/>
            <p:cNvSpPr>
              <a:spLocks/>
            </p:cNvSpPr>
            <p:nvPr/>
          </p:nvSpPr>
          <p:spPr>
            <a:xfrm rot="0">
              <a:off x="8548230" y="3673641"/>
              <a:ext cx="151" cy="2752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</p:sp>
      </p:grpSp>
      <p:sp>
        <p:nvSpPr>
          <p:cNvPr id="86" name="المستطيلات"/>
          <p:cNvSpPr>
            <a:spLocks/>
          </p:cNvSpPr>
          <p:nvPr/>
        </p:nvSpPr>
        <p:spPr>
          <a:xfrm rot="0">
            <a:off x="6954380" y="3229728"/>
            <a:ext cx="303211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37269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المستطيلات"/>
          <p:cNvSpPr>
            <a:spLocks/>
          </p:cNvSpPr>
          <p:nvPr/>
        </p:nvSpPr>
        <p:spPr>
          <a:xfrm rot="0">
            <a:off x="1487488" y="527050"/>
            <a:ext cx="8153400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1-to-1 and 1-to-many Associations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88" name="المستطيلات"/>
          <p:cNvSpPr>
            <a:spLocks/>
          </p:cNvSpPr>
          <p:nvPr/>
        </p:nvSpPr>
        <p:spPr>
          <a:xfrm rot="0">
            <a:off x="3100388" y="1536700"/>
            <a:ext cx="1193800" cy="13589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89" name="المستطيلات"/>
          <p:cNvSpPr>
            <a:spLocks/>
          </p:cNvSpPr>
          <p:nvPr/>
        </p:nvSpPr>
        <p:spPr>
          <a:xfrm rot="0">
            <a:off x="3279776" y="1757362"/>
            <a:ext cx="958849" cy="3333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Country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0" name="المستطيلات"/>
          <p:cNvSpPr>
            <a:spLocks/>
          </p:cNvSpPr>
          <p:nvPr/>
        </p:nvSpPr>
        <p:spPr>
          <a:xfrm rot="0">
            <a:off x="3105151" y="2290763"/>
            <a:ext cx="1276350" cy="3333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name:String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1" name="المستطيلات"/>
          <p:cNvSpPr>
            <a:spLocks/>
          </p:cNvSpPr>
          <p:nvPr/>
        </p:nvSpPr>
        <p:spPr>
          <a:xfrm rot="0">
            <a:off x="6834187" y="1536700"/>
            <a:ext cx="1193800" cy="13589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92" name="المستطيلات"/>
          <p:cNvSpPr>
            <a:spLocks/>
          </p:cNvSpPr>
          <p:nvPr/>
        </p:nvSpPr>
        <p:spPr>
          <a:xfrm rot="0">
            <a:off x="7180263" y="1757362"/>
            <a:ext cx="565149" cy="3333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City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3" name="المستطيلات"/>
          <p:cNvSpPr>
            <a:spLocks/>
          </p:cNvSpPr>
          <p:nvPr/>
        </p:nvSpPr>
        <p:spPr>
          <a:xfrm rot="0">
            <a:off x="6834187" y="2290763"/>
            <a:ext cx="1276349" cy="3333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name:String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4" name="المستطيلات"/>
          <p:cNvSpPr>
            <a:spLocks/>
          </p:cNvSpPr>
          <p:nvPr/>
        </p:nvSpPr>
        <p:spPr>
          <a:xfrm rot="0">
            <a:off x="4311651" y="1681163"/>
            <a:ext cx="1328737" cy="363536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rgbClr val="3333FF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Has-capital</a:t>
            </a:r>
            <a:endParaRPr lang="zh-CN" altLang="en-US" sz="1800" b="0" i="1" u="none" strike="noStrike" kern="1200" cap="none" spc="0" baseline="0">
              <a:solidFill>
                <a:srgbClr val="3333FF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5" name="المستطيلات"/>
          <p:cNvSpPr>
            <a:spLocks/>
          </p:cNvSpPr>
          <p:nvPr/>
        </p:nvSpPr>
        <p:spPr>
          <a:xfrm rot="0">
            <a:off x="2452688" y="3898900"/>
            <a:ext cx="1092200" cy="1676399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96" name="المستطيلات"/>
          <p:cNvSpPr>
            <a:spLocks/>
          </p:cNvSpPr>
          <p:nvPr/>
        </p:nvSpPr>
        <p:spPr>
          <a:xfrm rot="0">
            <a:off x="2555876" y="4208463"/>
            <a:ext cx="981074" cy="3333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Polygon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7" name="المستطيلات"/>
          <p:cNvSpPr>
            <a:spLocks/>
          </p:cNvSpPr>
          <p:nvPr/>
        </p:nvSpPr>
        <p:spPr>
          <a:xfrm rot="0">
            <a:off x="2471738" y="5122862"/>
            <a:ext cx="757237" cy="3333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draw()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98" name="المستطيلات"/>
          <p:cNvSpPr>
            <a:spLocks/>
          </p:cNvSpPr>
          <p:nvPr/>
        </p:nvSpPr>
        <p:spPr>
          <a:xfrm rot="0">
            <a:off x="7405688" y="3619500"/>
            <a:ext cx="1244599" cy="2082799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99" name="المستطيلات"/>
          <p:cNvSpPr>
            <a:spLocks/>
          </p:cNvSpPr>
          <p:nvPr/>
        </p:nvSpPr>
        <p:spPr>
          <a:xfrm rot="0">
            <a:off x="7715251" y="3916363"/>
            <a:ext cx="688974" cy="3333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Point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00" name="المستطيلات"/>
          <p:cNvSpPr>
            <a:spLocks/>
          </p:cNvSpPr>
          <p:nvPr/>
        </p:nvSpPr>
        <p:spPr>
          <a:xfrm rot="0">
            <a:off x="7424737" y="4576763"/>
            <a:ext cx="1030288" cy="33337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x: Integer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01" name="المستطيلات"/>
          <p:cNvSpPr>
            <a:spLocks/>
          </p:cNvSpPr>
          <p:nvPr/>
        </p:nvSpPr>
        <p:spPr>
          <a:xfrm rot="0">
            <a:off x="7424737" y="4995863"/>
            <a:ext cx="1030288" cy="3333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y: Integer</a:t>
            </a:r>
            <a:endParaRPr lang="zh-CN" altLang="en-US" sz="16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02" name="المستطيلات"/>
          <p:cNvSpPr>
            <a:spLocks/>
          </p:cNvSpPr>
          <p:nvPr/>
        </p:nvSpPr>
        <p:spPr>
          <a:xfrm rot="0">
            <a:off x="4110038" y="3103563"/>
            <a:ext cx="3135312" cy="4540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One-to-one association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03" name="المستطيلات"/>
          <p:cNvSpPr>
            <a:spLocks/>
          </p:cNvSpPr>
          <p:nvPr/>
        </p:nvSpPr>
        <p:spPr>
          <a:xfrm rot="0">
            <a:off x="4049713" y="5935663"/>
            <a:ext cx="3406775" cy="4540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One-to-many association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04" name="خط مستقيم"/>
          <p:cNvSpPr>
            <a:spLocks/>
          </p:cNvSpPr>
          <p:nvPr/>
        </p:nvSpPr>
        <p:spPr>
          <a:xfrm rot="0">
            <a:off x="3094038" y="2076450"/>
            <a:ext cx="120649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5" name="خط مستقيم"/>
          <p:cNvSpPr>
            <a:spLocks/>
          </p:cNvSpPr>
          <p:nvPr/>
        </p:nvSpPr>
        <p:spPr>
          <a:xfrm rot="0">
            <a:off x="3094038" y="2667000"/>
            <a:ext cx="1225550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6" name="خط مستقيم"/>
          <p:cNvSpPr>
            <a:spLocks/>
          </p:cNvSpPr>
          <p:nvPr/>
        </p:nvSpPr>
        <p:spPr>
          <a:xfrm rot="0">
            <a:off x="4313238" y="2228850"/>
            <a:ext cx="2520950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7" name="خط مستقيم"/>
          <p:cNvSpPr>
            <a:spLocks/>
          </p:cNvSpPr>
          <p:nvPr/>
        </p:nvSpPr>
        <p:spPr>
          <a:xfrm rot="0">
            <a:off x="6846888" y="2057400"/>
            <a:ext cx="120649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8" name="خط مستقيم"/>
          <p:cNvSpPr>
            <a:spLocks/>
          </p:cNvSpPr>
          <p:nvPr/>
        </p:nvSpPr>
        <p:spPr>
          <a:xfrm rot="0">
            <a:off x="6827838" y="2628900"/>
            <a:ext cx="120649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9" name="خط مستقيم"/>
          <p:cNvSpPr>
            <a:spLocks/>
          </p:cNvSpPr>
          <p:nvPr/>
        </p:nvSpPr>
        <p:spPr>
          <a:xfrm rot="0">
            <a:off x="2465387" y="4552950"/>
            <a:ext cx="1073150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0" name="خط مستقيم"/>
          <p:cNvSpPr>
            <a:spLocks/>
          </p:cNvSpPr>
          <p:nvPr/>
        </p:nvSpPr>
        <p:spPr>
          <a:xfrm rot="0">
            <a:off x="2465387" y="4933950"/>
            <a:ext cx="1092200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1" name="خط مستقيم"/>
          <p:cNvSpPr>
            <a:spLocks/>
          </p:cNvSpPr>
          <p:nvPr/>
        </p:nvSpPr>
        <p:spPr>
          <a:xfrm flipH="1" rot="0">
            <a:off x="3563937" y="4514850"/>
            <a:ext cx="3836988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2" name="خط مستقيم"/>
          <p:cNvSpPr>
            <a:spLocks/>
          </p:cNvSpPr>
          <p:nvPr/>
        </p:nvSpPr>
        <p:spPr>
          <a:xfrm rot="0">
            <a:off x="7399338" y="4343400"/>
            <a:ext cx="124459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3" name="خط مستقيم"/>
          <p:cNvSpPr>
            <a:spLocks/>
          </p:cNvSpPr>
          <p:nvPr/>
        </p:nvSpPr>
        <p:spPr>
          <a:xfrm rot="0">
            <a:off x="7399338" y="5391150"/>
            <a:ext cx="124459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14" name="المستطيلات"/>
          <p:cNvSpPr>
            <a:spLocks/>
          </p:cNvSpPr>
          <p:nvPr/>
        </p:nvSpPr>
        <p:spPr>
          <a:xfrm rot="0">
            <a:off x="6848475" y="4102100"/>
            <a:ext cx="379411" cy="6984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15" name="المستطيلات"/>
          <p:cNvSpPr>
            <a:spLocks/>
          </p:cNvSpPr>
          <p:nvPr/>
        </p:nvSpPr>
        <p:spPr>
          <a:xfrm rot="0">
            <a:off x="4283076" y="1943100"/>
            <a:ext cx="303212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143129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المستطيلات"/>
          <p:cNvSpPr>
            <a:spLocks/>
          </p:cNvSpPr>
          <p:nvPr/>
        </p:nvSpPr>
        <p:spPr>
          <a:xfrm rot="0">
            <a:off x="2019300" y="574675"/>
            <a:ext cx="8153401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From Problem Statement To  Object Model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17" name="المستطيلات"/>
          <p:cNvSpPr>
            <a:spLocks/>
          </p:cNvSpPr>
          <p:nvPr/>
        </p:nvSpPr>
        <p:spPr>
          <a:xfrm rot="0">
            <a:off x="2133600" y="2511425"/>
            <a:ext cx="8051800" cy="842963"/>
          </a:xfrm>
          <a:prstGeom prst="rect"/>
          <a:solidFill>
            <a:srgbClr val="FFFFFF"/>
          </a:solidFill>
          <a:ln w="12700" cmpd="sng" cap="flat">
            <a:noFill/>
            <a:prstDash val="solid"/>
            <a:round/>
          </a:ln>
        </p:spPr>
      </p:sp>
      <p:sp>
        <p:nvSpPr>
          <p:cNvPr id="118" name="المستطيلات"/>
          <p:cNvSpPr>
            <a:spLocks/>
          </p:cNvSpPr>
          <p:nvPr/>
        </p:nvSpPr>
        <p:spPr>
          <a:xfrm rot="0">
            <a:off x="2282825" y="2408238"/>
            <a:ext cx="413573" cy="36676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1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Pr</a:t>
            </a:r>
            <a:endParaRPr lang="zh-CN" altLang="en-US" sz="1800" b="1" i="1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19" name="المستطيلات"/>
          <p:cNvSpPr>
            <a:spLocks/>
          </p:cNvSpPr>
          <p:nvPr/>
        </p:nvSpPr>
        <p:spPr>
          <a:xfrm rot="0">
            <a:off x="2538413" y="2408238"/>
            <a:ext cx="6304097" cy="643766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1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oblem</a:t>
            </a:r>
            <a:r>
              <a:rPr lang="en-US" altLang="zh-CN" sz="1800" b="1" i="1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 Statement: A stock exchange lists many companies. Each </a:t>
            </a:r>
            <a:endParaRPr lang="en-US" altLang="zh-CN" sz="1800" b="1" i="1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1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company is uniquely identified by a ticker symbol</a:t>
            </a:r>
            <a:endParaRPr lang="zh-CN" altLang="en-US" sz="1800" b="1" i="1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0" name="المستطيلات"/>
          <p:cNvSpPr>
            <a:spLocks/>
          </p:cNvSpPr>
          <p:nvPr/>
        </p:nvSpPr>
        <p:spPr>
          <a:xfrm rot="0">
            <a:off x="4791075" y="2217738"/>
            <a:ext cx="257175" cy="4540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 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1" name="المستطيلات"/>
          <p:cNvSpPr>
            <a:spLocks/>
          </p:cNvSpPr>
          <p:nvPr/>
        </p:nvSpPr>
        <p:spPr>
          <a:xfrm rot="0">
            <a:off x="2344738" y="1809750"/>
            <a:ext cx="7505699" cy="457200"/>
          </a:xfrm>
          <a:prstGeom prst="rect"/>
          <a:noFill/>
          <a:ln w="12700" cmpd="sng" cap="flat">
            <a:noFill/>
            <a:prstDash val="solid"/>
            <a:round/>
          </a:ln>
        </p:spPr>
      </p:sp>
      <p:sp>
        <p:nvSpPr>
          <p:cNvPr id="122" name="المستطيلات"/>
          <p:cNvSpPr>
            <a:spLocks/>
          </p:cNvSpPr>
          <p:nvPr/>
        </p:nvSpPr>
        <p:spPr>
          <a:xfrm rot="0">
            <a:off x="2297113" y="3686175"/>
            <a:ext cx="1917699" cy="3936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1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 Diagram:</a:t>
            </a:r>
            <a:endParaRPr lang="zh-CN" altLang="en-US" sz="2000" b="0" i="1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3" name="المستطيلات"/>
          <p:cNvSpPr>
            <a:spLocks/>
          </p:cNvSpPr>
          <p:nvPr/>
        </p:nvSpPr>
        <p:spPr>
          <a:xfrm rot="0">
            <a:off x="2971799" y="4670425"/>
            <a:ext cx="2117724" cy="1231899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24" name="المستطيلات"/>
          <p:cNvSpPr>
            <a:spLocks/>
          </p:cNvSpPr>
          <p:nvPr/>
        </p:nvSpPr>
        <p:spPr>
          <a:xfrm rot="0">
            <a:off x="2925762" y="4762500"/>
            <a:ext cx="2179637" cy="4540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StockExchange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5" name="المستطيلات"/>
          <p:cNvSpPr>
            <a:spLocks/>
          </p:cNvSpPr>
          <p:nvPr/>
        </p:nvSpPr>
        <p:spPr>
          <a:xfrm rot="0">
            <a:off x="7562850" y="4575175"/>
            <a:ext cx="1885949" cy="16383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26" name="المستطيلات"/>
          <p:cNvSpPr>
            <a:spLocks/>
          </p:cNvSpPr>
          <p:nvPr/>
        </p:nvSpPr>
        <p:spPr>
          <a:xfrm rot="0">
            <a:off x="7696200" y="4667250"/>
            <a:ext cx="1452563" cy="4540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Company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7" name="المستطيلات"/>
          <p:cNvSpPr>
            <a:spLocks/>
          </p:cNvSpPr>
          <p:nvPr/>
        </p:nvSpPr>
        <p:spPr>
          <a:xfrm rot="0">
            <a:off x="7543800" y="5337175"/>
            <a:ext cx="1924049" cy="4540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tickerSymbol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8" name="المستطيلات"/>
          <p:cNvSpPr>
            <a:spLocks/>
          </p:cNvSpPr>
          <p:nvPr/>
        </p:nvSpPr>
        <p:spPr>
          <a:xfrm rot="0">
            <a:off x="5883275" y="5079999"/>
            <a:ext cx="849313" cy="4540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rgbClr val="3333FF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Lists</a:t>
            </a: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 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29" name="خط مستقيم"/>
          <p:cNvSpPr>
            <a:spLocks/>
          </p:cNvSpPr>
          <p:nvPr/>
        </p:nvSpPr>
        <p:spPr>
          <a:xfrm rot="0">
            <a:off x="2971799" y="5251450"/>
            <a:ext cx="2109788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0" name="خط مستقيم"/>
          <p:cNvSpPr>
            <a:spLocks/>
          </p:cNvSpPr>
          <p:nvPr/>
        </p:nvSpPr>
        <p:spPr>
          <a:xfrm flipV="1" rot="0">
            <a:off x="2971799" y="5681663"/>
            <a:ext cx="2132013" cy="4761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1" name="خط مستقيم"/>
          <p:cNvSpPr>
            <a:spLocks/>
          </p:cNvSpPr>
          <p:nvPr/>
        </p:nvSpPr>
        <p:spPr>
          <a:xfrm rot="0">
            <a:off x="7570788" y="5357813"/>
            <a:ext cx="1878012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2" name="خط مستقيم"/>
          <p:cNvSpPr>
            <a:spLocks/>
          </p:cNvSpPr>
          <p:nvPr/>
        </p:nvSpPr>
        <p:spPr>
          <a:xfrm rot="0">
            <a:off x="7570788" y="5969000"/>
            <a:ext cx="1878012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3" name="خط مستقيم"/>
          <p:cNvSpPr>
            <a:spLocks/>
          </p:cNvSpPr>
          <p:nvPr/>
        </p:nvSpPr>
        <p:spPr>
          <a:xfrm rot="0">
            <a:off x="5095875" y="5072063"/>
            <a:ext cx="2460625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4" name="المستطيلات"/>
          <p:cNvSpPr>
            <a:spLocks/>
          </p:cNvSpPr>
          <p:nvPr/>
        </p:nvSpPr>
        <p:spPr>
          <a:xfrm rot="0">
            <a:off x="7118350" y="4721225"/>
            <a:ext cx="300038" cy="4540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35" name="المستطيلات"/>
          <p:cNvSpPr>
            <a:spLocks/>
          </p:cNvSpPr>
          <p:nvPr/>
        </p:nvSpPr>
        <p:spPr>
          <a:xfrm rot="0">
            <a:off x="5148262" y="4721225"/>
            <a:ext cx="300037" cy="4540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82443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المستطيلات"/>
          <p:cNvSpPr>
            <a:spLocks/>
          </p:cNvSpPr>
          <p:nvPr/>
        </p:nvSpPr>
        <p:spPr>
          <a:xfrm rot="0">
            <a:off x="2062294" y="1020762"/>
            <a:ext cx="7937500" cy="6223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Aggregation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37" name="المستطيلات"/>
          <p:cNvSpPr>
            <a:spLocks/>
          </p:cNvSpPr>
          <p:nvPr/>
        </p:nvSpPr>
        <p:spPr>
          <a:xfrm rot="0">
            <a:off x="1719394" y="1782763"/>
            <a:ext cx="8750300" cy="534828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An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aggregation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is a special case of association denoting a “consists of” hierarchy.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The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aggregate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is the parent class, the </a:t>
            </a: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components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are the children class.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158" name="تجميع"/>
          <p:cNvGrpSpPr>
            <a:grpSpLocks/>
          </p:cNvGrpSpPr>
          <p:nvPr/>
        </p:nvGrpSpPr>
        <p:grpSpPr>
          <a:xfrm>
            <a:off x="5097593" y="2749550"/>
            <a:ext cx="3033711" cy="2044700"/>
            <a:chOff x="5097593" y="2749550"/>
            <a:chExt cx="3033711" cy="2044700"/>
          </a:xfrm>
        </p:grpSpPr>
        <p:sp>
          <p:nvSpPr>
            <p:cNvPr id="138" name="المستطيلات"/>
            <p:cNvSpPr>
              <a:spLocks/>
            </p:cNvSpPr>
            <p:nvPr/>
          </p:nvSpPr>
          <p:spPr>
            <a:xfrm rot="0">
              <a:off x="5878850" y="2749550"/>
              <a:ext cx="1846607" cy="558982"/>
            </a:xfrm>
            <a:prstGeom prst="rect"/>
            <a:noFill/>
            <a:ln w="12700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9" name="المستطيلات"/>
            <p:cNvSpPr>
              <a:spLocks/>
            </p:cNvSpPr>
            <p:nvPr/>
          </p:nvSpPr>
          <p:spPr>
            <a:xfrm rot="0">
              <a:off x="5911825" y="2823100"/>
              <a:ext cx="1440759" cy="286846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3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Exhaust system</a:t>
              </a:r>
              <a:endParaRPr lang="zh-CN" altLang="en-US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40" name="المستطيلات"/>
            <p:cNvSpPr>
              <a:spLocks/>
            </p:cNvSpPr>
            <p:nvPr/>
          </p:nvSpPr>
          <p:spPr>
            <a:xfrm rot="0">
              <a:off x="5148324" y="4044036"/>
              <a:ext cx="1014619" cy="735503"/>
            </a:xfrm>
            <a:prstGeom prst="rect"/>
            <a:noFill/>
            <a:ln w="12700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1" name="المستطيلات"/>
            <p:cNvSpPr>
              <a:spLocks/>
            </p:cNvSpPr>
            <p:nvPr/>
          </p:nvSpPr>
          <p:spPr>
            <a:xfrm rot="0">
              <a:off x="5193982" y="4117587"/>
              <a:ext cx="733062" cy="286846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3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Muffler</a:t>
              </a:r>
              <a:endParaRPr lang="zh-CN" altLang="en-US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42" name="المستطيلات"/>
            <p:cNvSpPr>
              <a:spLocks/>
            </p:cNvSpPr>
            <p:nvPr/>
          </p:nvSpPr>
          <p:spPr>
            <a:xfrm rot="0">
              <a:off x="5097593" y="4411788"/>
              <a:ext cx="824377" cy="286846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3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diameter</a:t>
              </a:r>
              <a:endParaRPr lang="zh-CN" altLang="en-US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43" name="المستطيلات"/>
            <p:cNvSpPr>
              <a:spLocks/>
            </p:cNvSpPr>
            <p:nvPr/>
          </p:nvSpPr>
          <p:spPr>
            <a:xfrm rot="0">
              <a:off x="7136977" y="4058746"/>
              <a:ext cx="994327" cy="735503"/>
            </a:xfrm>
            <a:prstGeom prst="rect"/>
            <a:noFill/>
            <a:ln w="12700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4" name="المستطيلات"/>
            <p:cNvSpPr>
              <a:spLocks/>
            </p:cNvSpPr>
            <p:nvPr/>
          </p:nvSpPr>
          <p:spPr>
            <a:xfrm rot="0">
              <a:off x="7121759" y="4132297"/>
              <a:ext cx="809159" cy="286846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3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Tailpipe</a:t>
              </a:r>
              <a:endParaRPr lang="zh-CN" altLang="en-US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45" name="المستطيلات"/>
            <p:cNvSpPr>
              <a:spLocks/>
            </p:cNvSpPr>
            <p:nvPr/>
          </p:nvSpPr>
          <p:spPr>
            <a:xfrm rot="0">
              <a:off x="7068491" y="4426498"/>
              <a:ext cx="826916" cy="286846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3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diameter</a:t>
              </a:r>
              <a:endParaRPr lang="zh-CN" altLang="en-US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46" name="خط مستقيم"/>
            <p:cNvSpPr>
              <a:spLocks/>
            </p:cNvSpPr>
            <p:nvPr/>
          </p:nvSpPr>
          <p:spPr>
            <a:xfrm rot="0">
              <a:off x="5888996" y="3073171"/>
              <a:ext cx="1836461" cy="0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7" name="خط مستقيم"/>
            <p:cNvSpPr>
              <a:spLocks/>
            </p:cNvSpPr>
            <p:nvPr/>
          </p:nvSpPr>
          <p:spPr>
            <a:xfrm rot="0">
              <a:off x="5888996" y="3205562"/>
              <a:ext cx="1836461" cy="0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8" name="خط مستقيم"/>
            <p:cNvSpPr>
              <a:spLocks/>
            </p:cNvSpPr>
            <p:nvPr/>
          </p:nvSpPr>
          <p:spPr>
            <a:xfrm rot="0">
              <a:off x="5188909" y="4375013"/>
              <a:ext cx="984181" cy="0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9" name="خط مستقيم"/>
            <p:cNvSpPr>
              <a:spLocks/>
            </p:cNvSpPr>
            <p:nvPr/>
          </p:nvSpPr>
          <p:spPr>
            <a:xfrm rot="0">
              <a:off x="5158471" y="4705990"/>
              <a:ext cx="1045057" cy="0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0" name="خط مستقيم"/>
            <p:cNvSpPr>
              <a:spLocks/>
            </p:cNvSpPr>
            <p:nvPr/>
          </p:nvSpPr>
          <p:spPr>
            <a:xfrm rot="0">
              <a:off x="7136977" y="4397078"/>
              <a:ext cx="984180" cy="0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1" name="خط مستقيم"/>
            <p:cNvSpPr>
              <a:spLocks/>
            </p:cNvSpPr>
            <p:nvPr/>
          </p:nvSpPr>
          <p:spPr>
            <a:xfrm rot="0">
              <a:off x="7136977" y="4705990"/>
              <a:ext cx="984180" cy="0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2" name="ماسة"/>
            <p:cNvSpPr>
              <a:spLocks/>
            </p:cNvSpPr>
            <p:nvPr/>
          </p:nvSpPr>
          <p:spPr>
            <a:xfrm rot="0">
              <a:off x="6010751" y="3345308"/>
              <a:ext cx="192777" cy="117680"/>
            </a:xfrm>
            <a:prstGeom prst="diamond"/>
            <a:solidFill>
              <a:schemeClr val="bg1"/>
            </a:solidFill>
            <a:ln w="12700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3" name="ماسة"/>
            <p:cNvSpPr>
              <a:spLocks/>
            </p:cNvSpPr>
            <p:nvPr/>
          </p:nvSpPr>
          <p:spPr>
            <a:xfrm rot="0">
              <a:off x="7136977" y="3345308"/>
              <a:ext cx="192777" cy="117680"/>
            </a:xfrm>
            <a:prstGeom prst="diamond"/>
            <a:solidFill>
              <a:schemeClr val="bg1"/>
            </a:solidFill>
            <a:ln w="12700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4" name="خط مستقيم"/>
            <p:cNvSpPr>
              <a:spLocks/>
            </p:cNvSpPr>
            <p:nvPr/>
          </p:nvSpPr>
          <p:spPr>
            <a:xfrm rot="0">
              <a:off x="7248587" y="3455633"/>
              <a:ext cx="0" cy="573692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5" name="خط مستقيم"/>
            <p:cNvSpPr>
              <a:spLocks/>
            </p:cNvSpPr>
            <p:nvPr/>
          </p:nvSpPr>
          <p:spPr>
            <a:xfrm rot="0">
              <a:off x="6122358" y="3455633"/>
              <a:ext cx="0" cy="573692"/>
            </a:xfrm>
            <a:prstGeom prst="line"/>
            <a:noFill/>
            <a:ln w="12700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6" name="المستطيلات"/>
            <p:cNvSpPr>
              <a:spLocks/>
            </p:cNvSpPr>
            <p:nvPr/>
          </p:nvSpPr>
          <p:spPr>
            <a:xfrm rot="0">
              <a:off x="5483149" y="3678123"/>
              <a:ext cx="806622" cy="39349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squar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0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1</a:t>
              </a:r>
              <a:endParaRPr lang="zh-CN" altLang="en-US" sz="20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57" name="المستطيلات"/>
            <p:cNvSpPr>
              <a:spLocks/>
            </p:cNvSpPr>
            <p:nvPr/>
          </p:nvSpPr>
          <p:spPr>
            <a:xfrm rot="0">
              <a:off x="7248587" y="3648703"/>
              <a:ext cx="806622" cy="39349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square" lIns="90487" tIns="44450" rIns="90487" bIns="4445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000" b="0" i="0" u="none" strike="noStrike" kern="1200" cap="none" spc="0" baseline="0">
                  <a:solidFill>
                    <a:srgbClr val="000000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rPr>
                <a:t>0..2</a:t>
              </a:r>
              <a:endParaRPr lang="zh-CN" altLang="en-US" sz="20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159" name="المستطيلات"/>
          <p:cNvSpPr>
            <a:spLocks/>
          </p:cNvSpPr>
          <p:nvPr/>
        </p:nvSpPr>
        <p:spPr>
          <a:xfrm rot="0">
            <a:off x="2602044" y="2813050"/>
            <a:ext cx="1846263" cy="5588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60" name="المستطيلات"/>
          <p:cNvSpPr>
            <a:spLocks/>
          </p:cNvSpPr>
          <p:nvPr/>
        </p:nvSpPr>
        <p:spPr>
          <a:xfrm rot="0">
            <a:off x="2635382" y="2886075"/>
            <a:ext cx="1441449" cy="2873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Exhaust system</a:t>
            </a:r>
            <a:endParaRPr lang="zh-CN" altLang="en-US" sz="13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61" name="المستطيلات"/>
          <p:cNvSpPr>
            <a:spLocks/>
          </p:cNvSpPr>
          <p:nvPr/>
        </p:nvSpPr>
        <p:spPr>
          <a:xfrm rot="0">
            <a:off x="1871793" y="4106862"/>
            <a:ext cx="1014413" cy="736599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62" name="المستطيلات"/>
          <p:cNvSpPr>
            <a:spLocks/>
          </p:cNvSpPr>
          <p:nvPr/>
        </p:nvSpPr>
        <p:spPr>
          <a:xfrm rot="0">
            <a:off x="1917832" y="4181475"/>
            <a:ext cx="733425" cy="2873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Muffler</a:t>
            </a:r>
            <a:endParaRPr lang="zh-CN" altLang="en-US" sz="13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63" name="المستطيلات"/>
          <p:cNvSpPr>
            <a:spLocks/>
          </p:cNvSpPr>
          <p:nvPr/>
        </p:nvSpPr>
        <p:spPr>
          <a:xfrm rot="0">
            <a:off x="1820994" y="4475163"/>
            <a:ext cx="825500" cy="2873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diameter</a:t>
            </a:r>
            <a:endParaRPr lang="zh-CN" altLang="en-US" sz="13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64" name="المستطيلات"/>
          <p:cNvSpPr>
            <a:spLocks/>
          </p:cNvSpPr>
          <p:nvPr/>
        </p:nvSpPr>
        <p:spPr>
          <a:xfrm rot="0">
            <a:off x="3860931" y="4122737"/>
            <a:ext cx="993775" cy="735011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65" name="المستطيلات"/>
          <p:cNvSpPr>
            <a:spLocks/>
          </p:cNvSpPr>
          <p:nvPr/>
        </p:nvSpPr>
        <p:spPr>
          <a:xfrm rot="0">
            <a:off x="3845056" y="4195763"/>
            <a:ext cx="808037" cy="2873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Tailpipe</a:t>
            </a:r>
            <a:endParaRPr lang="zh-CN" altLang="en-US" sz="13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66" name="المستطيلات"/>
          <p:cNvSpPr>
            <a:spLocks/>
          </p:cNvSpPr>
          <p:nvPr/>
        </p:nvSpPr>
        <p:spPr>
          <a:xfrm rot="0">
            <a:off x="3792669" y="4489450"/>
            <a:ext cx="825499" cy="287337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diameter</a:t>
            </a:r>
            <a:endParaRPr lang="zh-CN" altLang="en-US" sz="13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67" name="خط مستقيم"/>
          <p:cNvSpPr>
            <a:spLocks/>
          </p:cNvSpPr>
          <p:nvPr/>
        </p:nvSpPr>
        <p:spPr>
          <a:xfrm rot="0">
            <a:off x="2613157" y="3136900"/>
            <a:ext cx="1835150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68" name="خط مستقيم"/>
          <p:cNvSpPr>
            <a:spLocks/>
          </p:cNvSpPr>
          <p:nvPr/>
        </p:nvSpPr>
        <p:spPr>
          <a:xfrm rot="0">
            <a:off x="2613157" y="3268662"/>
            <a:ext cx="1835150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69" name="خط مستقيم"/>
          <p:cNvSpPr>
            <a:spLocks/>
          </p:cNvSpPr>
          <p:nvPr/>
        </p:nvSpPr>
        <p:spPr>
          <a:xfrm rot="0">
            <a:off x="1913069" y="4438650"/>
            <a:ext cx="982663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0" name="خط مستقيم"/>
          <p:cNvSpPr>
            <a:spLocks/>
          </p:cNvSpPr>
          <p:nvPr/>
        </p:nvSpPr>
        <p:spPr>
          <a:xfrm rot="0">
            <a:off x="1881319" y="4768850"/>
            <a:ext cx="1046162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1" name="خط مستقيم"/>
          <p:cNvSpPr>
            <a:spLocks/>
          </p:cNvSpPr>
          <p:nvPr/>
        </p:nvSpPr>
        <p:spPr>
          <a:xfrm rot="0">
            <a:off x="3860931" y="4460875"/>
            <a:ext cx="98424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2" name="خط مستقيم"/>
          <p:cNvSpPr>
            <a:spLocks/>
          </p:cNvSpPr>
          <p:nvPr/>
        </p:nvSpPr>
        <p:spPr>
          <a:xfrm rot="0">
            <a:off x="3860931" y="4768850"/>
            <a:ext cx="984249" cy="0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3" name="خط مستقيم"/>
          <p:cNvSpPr>
            <a:spLocks/>
          </p:cNvSpPr>
          <p:nvPr/>
        </p:nvSpPr>
        <p:spPr>
          <a:xfrm rot="0">
            <a:off x="3972057" y="3519488"/>
            <a:ext cx="0" cy="573087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4" name="خط مستقيم"/>
          <p:cNvSpPr>
            <a:spLocks/>
          </p:cNvSpPr>
          <p:nvPr/>
        </p:nvSpPr>
        <p:spPr>
          <a:xfrm rot="0">
            <a:off x="2846519" y="3519488"/>
            <a:ext cx="0" cy="573087"/>
          </a:xfrm>
          <a:prstGeom prst="line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5" name="المستطيلات"/>
          <p:cNvSpPr>
            <a:spLocks/>
          </p:cNvSpPr>
          <p:nvPr/>
        </p:nvSpPr>
        <p:spPr>
          <a:xfrm rot="0">
            <a:off x="2206757" y="3741738"/>
            <a:ext cx="806449" cy="3936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1</a:t>
            </a:r>
            <a:endParaRPr lang="zh-CN" altLang="en-US" sz="20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76" name="المستطيلات"/>
          <p:cNvSpPr>
            <a:spLocks/>
          </p:cNvSpPr>
          <p:nvPr/>
        </p:nvSpPr>
        <p:spPr>
          <a:xfrm rot="0">
            <a:off x="3972057" y="3711575"/>
            <a:ext cx="806450" cy="3936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0487" tIns="44450" rIns="90487" bIns="4445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0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0..2</a:t>
            </a:r>
            <a:endParaRPr lang="zh-CN" altLang="en-US" sz="2000" b="0" i="0" u="none" strike="noStrike" kern="1200" cap="none" spc="0" baseline="0">
              <a:solidFill>
                <a:srgbClr val="0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326979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الصور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329179" y="754145"/>
            <a:ext cx="9671901" cy="5194168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71549759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المستطيلات"/>
          <p:cNvSpPr>
            <a:spLocks/>
          </p:cNvSpPr>
          <p:nvPr/>
        </p:nvSpPr>
        <p:spPr>
          <a:xfrm rot="0">
            <a:off x="1352550" y="539030"/>
            <a:ext cx="8153400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UML sequence diagrams</a:t>
            </a:r>
            <a:endParaRPr lang="zh-CN" altLang="en-US" sz="32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179" name="المستطيلات"/>
          <p:cNvSpPr>
            <a:spLocks/>
          </p:cNvSpPr>
          <p:nvPr/>
        </p:nvSpPr>
        <p:spPr>
          <a:xfrm rot="0">
            <a:off x="5701507" y="1243880"/>
            <a:ext cx="4046536" cy="4800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Used during requirements analysis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To refine use case descriptions</a:t>
            </a:r>
            <a:endParaRPr lang="en-US" altLang="zh-CN" sz="18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to find additional objects (“participating objects”)</a:t>
            </a:r>
            <a:endParaRPr lang="en-US" altLang="zh-CN" sz="18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Used during system design 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lvl="1" marL="7429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to refine subsystem interfaces</a:t>
            </a:r>
            <a:endParaRPr lang="en-US" altLang="zh-CN" sz="18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Classes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are represented by columns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Messages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are represented by arrows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Activations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are represented by narrow rectangles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1" i="1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Lifelines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are represented by dashed lines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207" name="تجميع"/>
          <p:cNvGrpSpPr>
            <a:grpSpLocks/>
          </p:cNvGrpSpPr>
          <p:nvPr/>
        </p:nvGrpSpPr>
        <p:grpSpPr>
          <a:xfrm>
            <a:off x="1802045" y="1139268"/>
            <a:ext cx="3268662" cy="5384800"/>
            <a:chOff x="1802045" y="1139268"/>
            <a:chExt cx="3268662" cy="5384800"/>
          </a:xfrm>
        </p:grpSpPr>
        <p:sp>
          <p:nvSpPr>
            <p:cNvPr id="180" name="المستطيلات"/>
            <p:cNvSpPr>
              <a:spLocks/>
            </p:cNvSpPr>
            <p:nvPr/>
          </p:nvSpPr>
          <p:spPr>
            <a:xfrm rot="0">
              <a:off x="2202096" y="2352117"/>
              <a:ext cx="188912" cy="2544762"/>
            </a:xfrm>
            <a:prstGeom prst="rect"/>
            <a:solidFill>
              <a:srgbClr val="FFFFFF"/>
            </a:solidFill>
            <a:ln w="12700" cmpd="sng" cap="flat">
              <a:noFill/>
              <a:prstDash val="solid"/>
              <a:round/>
            </a:ln>
          </p:spPr>
        </p:sp>
        <p:grpSp>
          <p:nvGrpSpPr>
            <p:cNvPr id="183" name="تجميع"/>
            <p:cNvGrpSpPr>
              <a:grpSpLocks/>
            </p:cNvGrpSpPr>
            <p:nvPr/>
          </p:nvGrpSpPr>
          <p:grpSpPr>
            <a:xfrm>
              <a:off x="2391008" y="2360055"/>
              <a:ext cx="1862137" cy="212724"/>
              <a:chOff x="2391008" y="2360055"/>
              <a:chExt cx="1862137" cy="212724"/>
            </a:xfrm>
          </p:grpSpPr>
          <p:sp>
            <p:nvSpPr>
              <p:cNvPr id="181" name="خط مستقيم"/>
              <p:cNvSpPr>
                <a:spLocks/>
              </p:cNvSpPr>
              <p:nvPr/>
            </p:nvSpPr>
            <p:spPr>
              <a:xfrm rot="0">
                <a:off x="2391008" y="2539442"/>
                <a:ext cx="18621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82" name="المستطيلات"/>
              <p:cNvSpPr>
                <a:spLocks/>
              </p:cNvSpPr>
              <p:nvPr/>
            </p:nvSpPr>
            <p:spPr>
              <a:xfrm rot="0">
                <a:off x="2570396" y="2360055"/>
                <a:ext cx="1276350" cy="212724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selectZone()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  <p:grpSp>
          <p:nvGrpSpPr>
            <p:cNvPr id="186" name="تجميع"/>
            <p:cNvGrpSpPr>
              <a:grpSpLocks/>
            </p:cNvGrpSpPr>
            <p:nvPr/>
          </p:nvGrpSpPr>
          <p:grpSpPr>
            <a:xfrm>
              <a:off x="2406883" y="4512704"/>
              <a:ext cx="1884362" cy="212725"/>
              <a:chOff x="2406883" y="4512704"/>
              <a:chExt cx="1884362" cy="212725"/>
            </a:xfrm>
          </p:grpSpPr>
          <p:sp>
            <p:nvSpPr>
              <p:cNvPr id="184" name="خط مستقيم"/>
              <p:cNvSpPr>
                <a:spLocks/>
              </p:cNvSpPr>
              <p:nvPr/>
            </p:nvSpPr>
            <p:spPr>
              <a:xfrm rot="0">
                <a:off x="2406883" y="4693680"/>
                <a:ext cx="1884362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85" name="المستطيلات"/>
              <p:cNvSpPr>
                <a:spLocks/>
              </p:cNvSpPr>
              <p:nvPr/>
            </p:nvSpPr>
            <p:spPr>
              <a:xfrm rot="0">
                <a:off x="2570396" y="4512704"/>
                <a:ext cx="1489075" cy="212725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pickupChange()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  <p:grpSp>
          <p:nvGrpSpPr>
            <p:cNvPr id="189" name="تجميع"/>
            <p:cNvGrpSpPr>
              <a:grpSpLocks/>
            </p:cNvGrpSpPr>
            <p:nvPr/>
          </p:nvGrpSpPr>
          <p:grpSpPr>
            <a:xfrm>
              <a:off x="2391008" y="5565217"/>
              <a:ext cx="1887537" cy="215900"/>
              <a:chOff x="2391008" y="5565217"/>
              <a:chExt cx="1887537" cy="215900"/>
            </a:xfrm>
          </p:grpSpPr>
          <p:sp>
            <p:nvSpPr>
              <p:cNvPr id="187" name="خط مستقيم"/>
              <p:cNvSpPr>
                <a:spLocks/>
              </p:cNvSpPr>
              <p:nvPr/>
            </p:nvSpPr>
            <p:spPr>
              <a:xfrm rot="0">
                <a:off x="2391008" y="5779530"/>
                <a:ext cx="18875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88" name="المستطيلات"/>
              <p:cNvSpPr>
                <a:spLocks/>
              </p:cNvSpPr>
              <p:nvPr/>
            </p:nvSpPr>
            <p:spPr>
              <a:xfrm rot="0">
                <a:off x="2570396" y="5565217"/>
                <a:ext cx="1489075" cy="212725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pickUpTicket()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  <p:grpSp>
          <p:nvGrpSpPr>
            <p:cNvPr id="192" name="تجميع"/>
            <p:cNvGrpSpPr>
              <a:grpSpLocks/>
            </p:cNvGrpSpPr>
            <p:nvPr/>
          </p:nvGrpSpPr>
          <p:grpSpPr>
            <a:xfrm>
              <a:off x="2406883" y="3425268"/>
              <a:ext cx="1851025" cy="212725"/>
              <a:chOff x="2406883" y="3425268"/>
              <a:chExt cx="1851025" cy="212725"/>
            </a:xfrm>
          </p:grpSpPr>
          <p:sp>
            <p:nvSpPr>
              <p:cNvPr id="190" name="خط مستقيم"/>
              <p:cNvSpPr>
                <a:spLocks/>
              </p:cNvSpPr>
              <p:nvPr/>
            </p:nvSpPr>
            <p:spPr>
              <a:xfrm rot="0">
                <a:off x="2406883" y="3606242"/>
                <a:ext cx="1851025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91" name="المستطيلات"/>
              <p:cNvSpPr>
                <a:spLocks/>
              </p:cNvSpPr>
              <p:nvPr/>
            </p:nvSpPr>
            <p:spPr>
              <a:xfrm rot="0">
                <a:off x="2570396" y="3425268"/>
                <a:ext cx="1382712" cy="212725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insertCoins()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  <p:sp>
          <p:nvSpPr>
            <p:cNvPr id="193" name="曲线"/>
            <p:cNvSpPr>
              <a:spLocks/>
            </p:cNvSpPr>
            <p:nvPr/>
          </p:nvSpPr>
          <p:spPr>
            <a:xfrm rot="0">
              <a:off x="2100495" y="1293255"/>
              <a:ext cx="204787" cy="5969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21600" y="13614"/>
                  </a:lnTo>
                  <a:lnTo>
                    <a:pt x="0" y="21600"/>
                  </a:lnTo>
                </a:path>
              </a:pathLst>
            </a:custGeom>
            <a:noFill/>
            <a:ln w="17463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4" name="خط مستقيم"/>
            <p:cNvSpPr>
              <a:spLocks/>
            </p:cNvSpPr>
            <p:nvPr/>
          </p:nvSpPr>
          <p:spPr>
            <a:xfrm rot="0">
              <a:off x="2305283" y="1669493"/>
              <a:ext cx="222250" cy="220662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5" name="خط مستقيم"/>
            <p:cNvSpPr>
              <a:spLocks/>
            </p:cNvSpPr>
            <p:nvPr/>
          </p:nvSpPr>
          <p:spPr>
            <a:xfrm rot="0">
              <a:off x="2100495" y="1463117"/>
              <a:ext cx="427037" cy="1587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6" name="بيضاوي"/>
            <p:cNvSpPr>
              <a:spLocks/>
            </p:cNvSpPr>
            <p:nvPr/>
          </p:nvSpPr>
          <p:spPr>
            <a:xfrm rot="0">
              <a:off x="2202096" y="1139268"/>
              <a:ext cx="222250" cy="222249"/>
            </a:xfrm>
            <a:prstGeom prst="ellipse"/>
            <a:solidFill>
              <a:srgbClr val="FFFFFF"/>
            </a:solidFill>
            <a:ln w="17463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7" name="المستطيلات"/>
            <p:cNvSpPr>
              <a:spLocks/>
            </p:cNvSpPr>
            <p:nvPr/>
          </p:nvSpPr>
          <p:spPr>
            <a:xfrm rot="0">
              <a:off x="1802045" y="1933017"/>
              <a:ext cx="957262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Passenger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198" name="المستطيلات"/>
            <p:cNvSpPr>
              <a:spLocks/>
            </p:cNvSpPr>
            <p:nvPr/>
          </p:nvSpPr>
          <p:spPr>
            <a:xfrm rot="0">
              <a:off x="2202096" y="2352117"/>
              <a:ext cx="204787" cy="4010024"/>
            </a:xfrm>
            <a:prstGeom prst="rect"/>
            <a:solidFill>
              <a:schemeClr val="bg1"/>
            </a:solidFill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206" name="تجميع"/>
            <p:cNvGrpSpPr>
              <a:grpSpLocks/>
            </p:cNvGrpSpPr>
            <p:nvPr/>
          </p:nvGrpSpPr>
          <p:grpSpPr>
            <a:xfrm>
              <a:off x="3465746" y="1702830"/>
              <a:ext cx="1604962" cy="4821237"/>
              <a:chOff x="3465746" y="1702830"/>
              <a:chExt cx="1604962" cy="4821237"/>
            </a:xfrm>
          </p:grpSpPr>
          <p:sp>
            <p:nvSpPr>
              <p:cNvPr id="199" name="المستطيلات"/>
              <p:cNvSpPr>
                <a:spLocks/>
              </p:cNvSpPr>
              <p:nvPr/>
            </p:nvSpPr>
            <p:spPr>
              <a:xfrm rot="0">
                <a:off x="3465746" y="1702830"/>
                <a:ext cx="1604962" cy="392112"/>
              </a:xfrm>
              <a:prstGeom prst="rect"/>
              <a:noFill/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0" name="المستطيلات"/>
              <p:cNvSpPr>
                <a:spLocks/>
              </p:cNvSpPr>
              <p:nvPr/>
            </p:nvSpPr>
            <p:spPr>
              <a:xfrm rot="0">
                <a:off x="3683233" y="1829830"/>
                <a:ext cx="1382712" cy="212724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TicketMachine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  <p:sp>
            <p:nvSpPr>
              <p:cNvPr id="201" name="خط مستقيم"/>
              <p:cNvSpPr>
                <a:spLocks/>
              </p:cNvSpPr>
              <p:nvPr/>
            </p:nvSpPr>
            <p:spPr>
              <a:xfrm rot="0">
                <a:off x="4269021" y="2091767"/>
                <a:ext cx="0" cy="4432300"/>
              </a:xfrm>
              <a:prstGeom prst="line"/>
              <a:noFill/>
              <a:ln w="9525" cmpd="sng" cap="flat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id="202" name="المستطيلات"/>
              <p:cNvSpPr>
                <a:spLocks/>
              </p:cNvSpPr>
              <p:nvPr/>
            </p:nvSpPr>
            <p:spPr>
              <a:xfrm rot="0">
                <a:off x="4157896" y="2529917"/>
                <a:ext cx="204787" cy="517524"/>
              </a:xfrm>
              <a:prstGeom prst="rect"/>
              <a:solidFill>
                <a:schemeClr val="bg1"/>
              </a:solidFill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3" name="المستطيلات"/>
              <p:cNvSpPr>
                <a:spLocks/>
              </p:cNvSpPr>
              <p:nvPr/>
            </p:nvSpPr>
            <p:spPr>
              <a:xfrm rot="0">
                <a:off x="4157896" y="3609418"/>
                <a:ext cx="204787" cy="517524"/>
              </a:xfrm>
              <a:prstGeom prst="rect"/>
              <a:solidFill>
                <a:schemeClr val="bg1"/>
              </a:solidFill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4" name="المستطيلات"/>
              <p:cNvSpPr>
                <a:spLocks/>
              </p:cNvSpPr>
              <p:nvPr/>
            </p:nvSpPr>
            <p:spPr>
              <a:xfrm rot="0">
                <a:off x="4157896" y="4688917"/>
                <a:ext cx="204787" cy="517525"/>
              </a:xfrm>
              <a:prstGeom prst="rect"/>
              <a:solidFill>
                <a:schemeClr val="bg1"/>
              </a:solidFill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5" name="المستطيلات"/>
              <p:cNvSpPr>
                <a:spLocks/>
              </p:cNvSpPr>
              <p:nvPr/>
            </p:nvSpPr>
            <p:spPr>
              <a:xfrm rot="0">
                <a:off x="4157896" y="5768417"/>
                <a:ext cx="204787" cy="517525"/>
              </a:xfrm>
              <a:prstGeom prst="rect"/>
              <a:solidFill>
                <a:schemeClr val="bg1"/>
              </a:solidFill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</p:grpSp>
      </p:grpSp>
    </p:spTree>
    <p:extLst>
      <p:ext uri="{BB962C8B-B14F-4D97-AF65-F5344CB8AC3E}">
        <p14:creationId xmlns:p14="http://schemas.microsoft.com/office/powerpoint/2010/main" val="477377698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خط مستقيم"/>
          <p:cNvSpPr>
            <a:spLocks/>
          </p:cNvSpPr>
          <p:nvPr/>
        </p:nvSpPr>
        <p:spPr>
          <a:xfrm rot="0">
            <a:off x="2765425" y="2374900"/>
            <a:ext cx="0" cy="1993900"/>
          </a:xfrm>
          <a:prstGeom prst="line"/>
          <a:noFill/>
          <a:ln w="9525" cmpd="sng" cap="flat">
            <a:solidFill>
              <a:srgbClr val="000000"/>
            </a:solidFill>
            <a:prstDash val="dash"/>
            <a:round/>
          </a:ln>
        </p:spPr>
      </p:sp>
      <p:sp>
        <p:nvSpPr>
          <p:cNvPr id="209" name="المستطيلات"/>
          <p:cNvSpPr>
            <a:spLocks/>
          </p:cNvSpPr>
          <p:nvPr/>
        </p:nvSpPr>
        <p:spPr>
          <a:xfrm rot="0">
            <a:off x="1758950" y="524668"/>
            <a:ext cx="8153401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Nested messages</a:t>
            </a:r>
            <a:endParaRPr lang="zh-CN" altLang="en-US" sz="36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10" name="المستطيلات"/>
          <p:cNvSpPr>
            <a:spLocks/>
          </p:cNvSpPr>
          <p:nvPr/>
        </p:nvSpPr>
        <p:spPr>
          <a:xfrm rot="0">
            <a:off x="1657350" y="4703763"/>
            <a:ext cx="8255000" cy="172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The source of an arrow indicates the activation which sent the message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An activation is as long as all nested activations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Horizontal dashed arrows indicate data flow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Vertical dashed lines indicate lifelines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213" name="تجميع"/>
          <p:cNvGrpSpPr>
            <a:grpSpLocks/>
          </p:cNvGrpSpPr>
          <p:nvPr/>
        </p:nvGrpSpPr>
        <p:grpSpPr>
          <a:xfrm>
            <a:off x="2843213" y="2579688"/>
            <a:ext cx="1862136" cy="212725"/>
            <a:chOff x="2843213" y="2579688"/>
            <a:chExt cx="1862136" cy="212725"/>
          </a:xfrm>
        </p:grpSpPr>
        <p:sp>
          <p:nvSpPr>
            <p:cNvPr id="211" name="خط مستقيم"/>
            <p:cNvSpPr>
              <a:spLocks/>
            </p:cNvSpPr>
            <p:nvPr/>
          </p:nvSpPr>
          <p:spPr>
            <a:xfrm rot="0">
              <a:off x="2843213" y="2759075"/>
              <a:ext cx="1862136" cy="1587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  <a:tailEnd type="triangle" w="med" len="med"/>
            </a:ln>
          </p:spPr>
        </p:sp>
        <p:sp>
          <p:nvSpPr>
            <p:cNvPr id="212" name="المستطيلات"/>
            <p:cNvSpPr>
              <a:spLocks/>
            </p:cNvSpPr>
            <p:nvPr/>
          </p:nvSpPr>
          <p:spPr>
            <a:xfrm rot="0">
              <a:off x="3022600" y="2579688"/>
              <a:ext cx="1276349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selectZone()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grpSp>
        <p:nvGrpSpPr>
          <p:cNvPr id="220" name="تجميع"/>
          <p:cNvGrpSpPr>
            <a:grpSpLocks/>
          </p:cNvGrpSpPr>
          <p:nvPr/>
        </p:nvGrpSpPr>
        <p:grpSpPr>
          <a:xfrm>
            <a:off x="2254250" y="1358900"/>
            <a:ext cx="957262" cy="1006475"/>
            <a:chOff x="2254250" y="1358900"/>
            <a:chExt cx="957262" cy="1006475"/>
          </a:xfrm>
        </p:grpSpPr>
        <p:grpSp>
          <p:nvGrpSpPr>
            <p:cNvPr id="218" name="تجميع"/>
            <p:cNvGrpSpPr>
              <a:grpSpLocks/>
            </p:cNvGrpSpPr>
            <p:nvPr/>
          </p:nvGrpSpPr>
          <p:grpSpPr>
            <a:xfrm>
              <a:off x="2552700" y="1358900"/>
              <a:ext cx="427037" cy="750887"/>
              <a:chOff x="2552700" y="1358900"/>
              <a:chExt cx="427037" cy="750887"/>
            </a:xfrm>
          </p:grpSpPr>
          <p:sp>
            <p:nvSpPr>
              <p:cNvPr id="214" name="曲线"/>
              <p:cNvSpPr>
                <a:spLocks/>
              </p:cNvSpPr>
              <p:nvPr/>
            </p:nvSpPr>
            <p:spPr>
              <a:xfrm rot="0">
                <a:off x="2552700" y="1512887"/>
                <a:ext cx="204787" cy="596900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21600" y="0"/>
                    </a:moveTo>
                    <a:lnTo>
                      <a:pt x="21600" y="13614"/>
                    </a:lnTo>
                    <a:lnTo>
                      <a:pt x="0" y="21600"/>
                    </a:lnTo>
                  </a:path>
                </a:pathLst>
              </a:custGeom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5" name="خط مستقيم"/>
              <p:cNvSpPr>
                <a:spLocks/>
              </p:cNvSpPr>
              <p:nvPr/>
            </p:nvSpPr>
            <p:spPr>
              <a:xfrm rot="0">
                <a:off x="2757488" y="1889125"/>
                <a:ext cx="222249" cy="220662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6" name="خط مستقيم"/>
              <p:cNvSpPr>
                <a:spLocks/>
              </p:cNvSpPr>
              <p:nvPr/>
            </p:nvSpPr>
            <p:spPr>
              <a:xfrm rot="0">
                <a:off x="2552700" y="1682749"/>
                <a:ext cx="4270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7" name="بيضاوي"/>
              <p:cNvSpPr>
                <a:spLocks/>
              </p:cNvSpPr>
              <p:nvPr/>
            </p:nvSpPr>
            <p:spPr>
              <a:xfrm rot="0">
                <a:off x="2654300" y="1358900"/>
                <a:ext cx="222250" cy="222250"/>
              </a:xfrm>
              <a:prstGeom prst="ellipse"/>
              <a:solidFill>
                <a:srgbClr val="FFFFFF"/>
              </a:solidFill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id="219" name="المستطيلات"/>
            <p:cNvSpPr>
              <a:spLocks/>
            </p:cNvSpPr>
            <p:nvPr/>
          </p:nvSpPr>
          <p:spPr>
            <a:xfrm rot="0">
              <a:off x="2254250" y="2152650"/>
              <a:ext cx="957262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Passenger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221" name="المستطيلات"/>
          <p:cNvSpPr>
            <a:spLocks/>
          </p:cNvSpPr>
          <p:nvPr/>
        </p:nvSpPr>
        <p:spPr>
          <a:xfrm rot="0">
            <a:off x="2654300" y="2571750"/>
            <a:ext cx="204787" cy="1571624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222" name="المستطيلات"/>
          <p:cNvSpPr>
            <a:spLocks/>
          </p:cNvSpPr>
          <p:nvPr/>
        </p:nvSpPr>
        <p:spPr>
          <a:xfrm rot="0">
            <a:off x="4032249" y="1922463"/>
            <a:ext cx="1604963" cy="392111"/>
          </a:xfrm>
          <a:prstGeom prst="rect"/>
          <a:noFill/>
          <a:ln w="17463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223" name="المستطيلات"/>
          <p:cNvSpPr>
            <a:spLocks/>
          </p:cNvSpPr>
          <p:nvPr/>
        </p:nvSpPr>
        <p:spPr>
          <a:xfrm rot="0">
            <a:off x="4302125" y="2049463"/>
            <a:ext cx="1063625" cy="2127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ZoneButton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24" name="خط مستقيم"/>
          <p:cNvSpPr>
            <a:spLocks/>
          </p:cNvSpPr>
          <p:nvPr/>
        </p:nvSpPr>
        <p:spPr>
          <a:xfrm rot="0">
            <a:off x="4835525" y="2311400"/>
            <a:ext cx="0" cy="1600200"/>
          </a:xfrm>
          <a:prstGeom prst="line"/>
          <a:noFill/>
          <a:ln w="9525" cmpd="sng" cap="flat">
            <a:solidFill>
              <a:srgbClr val="000000"/>
            </a:solidFill>
            <a:prstDash val="dash"/>
            <a:round/>
          </a:ln>
        </p:spPr>
      </p:sp>
      <p:sp>
        <p:nvSpPr>
          <p:cNvPr id="225" name="المستطيلات"/>
          <p:cNvSpPr>
            <a:spLocks/>
          </p:cNvSpPr>
          <p:nvPr/>
        </p:nvSpPr>
        <p:spPr>
          <a:xfrm rot="0">
            <a:off x="4732338" y="2749549"/>
            <a:ext cx="204786" cy="1165225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grpSp>
        <p:nvGrpSpPr>
          <p:cNvPr id="230" name="تجميع"/>
          <p:cNvGrpSpPr>
            <a:grpSpLocks/>
          </p:cNvGrpSpPr>
          <p:nvPr/>
        </p:nvGrpSpPr>
        <p:grpSpPr>
          <a:xfrm>
            <a:off x="6089650" y="1922463"/>
            <a:ext cx="1604963" cy="2039937"/>
            <a:chOff x="6089650" y="1922463"/>
            <a:chExt cx="1604963" cy="2039937"/>
          </a:xfrm>
        </p:grpSpPr>
        <p:sp>
          <p:nvSpPr>
            <p:cNvPr id="226" name="المستطيلات"/>
            <p:cNvSpPr>
              <a:spLocks/>
            </p:cNvSpPr>
            <p:nvPr/>
          </p:nvSpPr>
          <p:spPr>
            <a:xfrm rot="0">
              <a:off x="6200775" y="2049463"/>
              <a:ext cx="1382713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TarifSchedule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grpSp>
          <p:nvGrpSpPr>
            <p:cNvPr id="229" name="تجميع"/>
            <p:cNvGrpSpPr>
              <a:grpSpLocks/>
            </p:cNvGrpSpPr>
            <p:nvPr/>
          </p:nvGrpSpPr>
          <p:grpSpPr>
            <a:xfrm>
              <a:off x="6089650" y="1922463"/>
              <a:ext cx="1604963" cy="2039937"/>
              <a:chOff x="6089650" y="1922463"/>
              <a:chExt cx="1604963" cy="2039937"/>
            </a:xfrm>
          </p:grpSpPr>
          <p:sp>
            <p:nvSpPr>
              <p:cNvPr id="227" name="المستطيلات"/>
              <p:cNvSpPr>
                <a:spLocks/>
              </p:cNvSpPr>
              <p:nvPr/>
            </p:nvSpPr>
            <p:spPr>
              <a:xfrm rot="0">
                <a:off x="6089650" y="1922463"/>
                <a:ext cx="1604963" cy="392112"/>
              </a:xfrm>
              <a:prstGeom prst="rect"/>
              <a:noFill/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28" name="خط مستقيم"/>
              <p:cNvSpPr>
                <a:spLocks/>
              </p:cNvSpPr>
              <p:nvPr/>
            </p:nvSpPr>
            <p:spPr>
              <a:xfrm rot="0">
                <a:off x="6892924" y="2311400"/>
                <a:ext cx="0" cy="1650999"/>
              </a:xfrm>
              <a:prstGeom prst="line"/>
              <a:noFill/>
              <a:ln w="9525" cmpd="sng" cap="flat">
                <a:solidFill>
                  <a:srgbClr val="000000"/>
                </a:solidFill>
                <a:prstDash val="dash"/>
                <a:round/>
              </a:ln>
            </p:spPr>
          </p:sp>
        </p:grpSp>
      </p:grpSp>
      <p:sp>
        <p:nvSpPr>
          <p:cNvPr id="231" name="المستطيلات"/>
          <p:cNvSpPr>
            <a:spLocks/>
          </p:cNvSpPr>
          <p:nvPr/>
        </p:nvSpPr>
        <p:spPr>
          <a:xfrm rot="0">
            <a:off x="6789738" y="2901950"/>
            <a:ext cx="204786" cy="517525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grpSp>
        <p:nvGrpSpPr>
          <p:cNvPr id="235" name="تجميع"/>
          <p:cNvGrpSpPr>
            <a:grpSpLocks/>
          </p:cNvGrpSpPr>
          <p:nvPr/>
        </p:nvGrpSpPr>
        <p:grpSpPr>
          <a:xfrm>
            <a:off x="8261350" y="1922463"/>
            <a:ext cx="1604962" cy="1963737"/>
            <a:chOff x="8261350" y="1922463"/>
            <a:chExt cx="1604962" cy="1963737"/>
          </a:xfrm>
        </p:grpSpPr>
        <p:sp>
          <p:nvSpPr>
            <p:cNvPr id="232" name="المستطيلات"/>
            <p:cNvSpPr>
              <a:spLocks/>
            </p:cNvSpPr>
            <p:nvPr/>
          </p:nvSpPr>
          <p:spPr>
            <a:xfrm rot="0">
              <a:off x="8261350" y="1922463"/>
              <a:ext cx="1604962" cy="392112"/>
            </a:xfrm>
            <a:prstGeom prst="rect"/>
            <a:noFill/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3" name="المستطيلات"/>
            <p:cNvSpPr>
              <a:spLocks/>
            </p:cNvSpPr>
            <p:nvPr/>
          </p:nvSpPr>
          <p:spPr>
            <a:xfrm rot="0">
              <a:off x="8691563" y="2049463"/>
              <a:ext cx="744537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Display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234" name="خط مستقيم"/>
            <p:cNvSpPr>
              <a:spLocks/>
            </p:cNvSpPr>
            <p:nvPr/>
          </p:nvSpPr>
          <p:spPr>
            <a:xfrm rot="0">
              <a:off x="9064625" y="2311400"/>
              <a:ext cx="0" cy="1574799"/>
            </a:xfrm>
            <a:prstGeom prst="line"/>
            <a:noFill/>
            <a:ln w="9525" cmpd="sng" cap="flat">
              <a:solidFill>
                <a:srgbClr val="000000"/>
              </a:solidFill>
              <a:prstDash val="dash"/>
              <a:round/>
            </a:ln>
          </p:spPr>
        </p:sp>
      </p:grpSp>
      <p:sp>
        <p:nvSpPr>
          <p:cNvPr id="236" name="المستطيلات"/>
          <p:cNvSpPr>
            <a:spLocks/>
          </p:cNvSpPr>
          <p:nvPr/>
        </p:nvSpPr>
        <p:spPr>
          <a:xfrm rot="0">
            <a:off x="8961438" y="3727450"/>
            <a:ext cx="192087" cy="231775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grpSp>
        <p:nvGrpSpPr>
          <p:cNvPr id="239" name="تجميع"/>
          <p:cNvGrpSpPr>
            <a:grpSpLocks/>
          </p:cNvGrpSpPr>
          <p:nvPr/>
        </p:nvGrpSpPr>
        <p:grpSpPr>
          <a:xfrm>
            <a:off x="4951413" y="2719388"/>
            <a:ext cx="2519362" cy="212725"/>
            <a:chOff x="4951413" y="2719388"/>
            <a:chExt cx="2519362" cy="212725"/>
          </a:xfrm>
        </p:grpSpPr>
        <p:sp>
          <p:nvSpPr>
            <p:cNvPr id="237" name="خط مستقيم"/>
            <p:cNvSpPr>
              <a:spLocks/>
            </p:cNvSpPr>
            <p:nvPr/>
          </p:nvSpPr>
          <p:spPr>
            <a:xfrm rot="0">
              <a:off x="4951413" y="2898775"/>
              <a:ext cx="1862137" cy="1587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  <a:tailEnd type="triangle" w="med" len="med"/>
            </a:ln>
          </p:spPr>
        </p:sp>
        <p:sp>
          <p:nvSpPr>
            <p:cNvPr id="238" name="المستطيلات"/>
            <p:cNvSpPr>
              <a:spLocks/>
            </p:cNvSpPr>
            <p:nvPr/>
          </p:nvSpPr>
          <p:spPr>
            <a:xfrm rot="0">
              <a:off x="5130800" y="2719388"/>
              <a:ext cx="2339974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lookupPrice(selection)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grpSp>
        <p:nvGrpSpPr>
          <p:cNvPr id="242" name="تجميع"/>
          <p:cNvGrpSpPr>
            <a:grpSpLocks/>
          </p:cNvGrpSpPr>
          <p:nvPr/>
        </p:nvGrpSpPr>
        <p:grpSpPr>
          <a:xfrm>
            <a:off x="4976813" y="3544887"/>
            <a:ext cx="3970337" cy="212725"/>
            <a:chOff x="4976813" y="3544887"/>
            <a:chExt cx="3970337" cy="212725"/>
          </a:xfrm>
        </p:grpSpPr>
        <p:sp>
          <p:nvSpPr>
            <p:cNvPr id="240" name="خط مستقيم"/>
            <p:cNvSpPr>
              <a:spLocks/>
            </p:cNvSpPr>
            <p:nvPr/>
          </p:nvSpPr>
          <p:spPr>
            <a:xfrm rot="0">
              <a:off x="4976813" y="3735664"/>
              <a:ext cx="3970337" cy="1688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  <a:tailEnd type="triangle" w="med" len="med"/>
            </a:ln>
          </p:spPr>
        </p:sp>
        <p:sp>
          <p:nvSpPr>
            <p:cNvPr id="241" name="المستطيلات"/>
            <p:cNvSpPr>
              <a:spLocks/>
            </p:cNvSpPr>
            <p:nvPr/>
          </p:nvSpPr>
          <p:spPr>
            <a:xfrm rot="0">
              <a:off x="5359292" y="3544887"/>
              <a:ext cx="2020708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displayPrice(price)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grpSp>
        <p:nvGrpSpPr>
          <p:cNvPr id="245" name="تجميع"/>
          <p:cNvGrpSpPr>
            <a:grpSpLocks/>
          </p:cNvGrpSpPr>
          <p:nvPr/>
        </p:nvGrpSpPr>
        <p:grpSpPr>
          <a:xfrm>
            <a:off x="4938713" y="3227388"/>
            <a:ext cx="1862137" cy="212725"/>
            <a:chOff x="4938713" y="3227388"/>
            <a:chExt cx="1862137" cy="212725"/>
          </a:xfrm>
        </p:grpSpPr>
        <p:sp>
          <p:nvSpPr>
            <p:cNvPr id="243" name="خط مستقيم"/>
            <p:cNvSpPr>
              <a:spLocks/>
            </p:cNvSpPr>
            <p:nvPr/>
          </p:nvSpPr>
          <p:spPr>
            <a:xfrm rot="0">
              <a:off x="4938713" y="3406775"/>
              <a:ext cx="1862137" cy="1587"/>
            </a:xfrm>
            <a:prstGeom prst="line"/>
            <a:noFill/>
            <a:ln w="17463" cmpd="sng" cap="flat">
              <a:solidFill>
                <a:srgbClr val="000000"/>
              </a:solidFill>
              <a:prstDash val="dash"/>
              <a:round/>
              <a:headEnd type="triangle" w="med" len="med"/>
            </a:ln>
          </p:spPr>
        </p:sp>
        <p:sp>
          <p:nvSpPr>
            <p:cNvPr id="244" name="المستطيلات"/>
            <p:cNvSpPr>
              <a:spLocks/>
            </p:cNvSpPr>
            <p:nvPr/>
          </p:nvSpPr>
          <p:spPr>
            <a:xfrm rot="0">
              <a:off x="5207000" y="3227388"/>
              <a:ext cx="531812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price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246" name="خانة مستطيلة بحواف دائرية للشرح"/>
          <p:cNvSpPr>
            <a:spLocks/>
          </p:cNvSpPr>
          <p:nvPr/>
        </p:nvSpPr>
        <p:spPr>
          <a:xfrm rot="0">
            <a:off x="3105150" y="3517900"/>
            <a:ext cx="1358900" cy="546099"/>
          </a:xfrm>
          <a:prstGeom prst="wedgeRoundRectCallout">
            <a:avLst>
              <a:gd name="adj1" fmla="val 100930"/>
              <a:gd name="adj2" fmla="val -55518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Dataflow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47" name="المستطيلات"/>
          <p:cNvSpPr>
            <a:spLocks/>
          </p:cNvSpPr>
          <p:nvPr/>
        </p:nvSpPr>
        <p:spPr>
          <a:xfrm rot="0">
            <a:off x="3944938" y="4146550"/>
            <a:ext cx="5683249" cy="366713"/>
          </a:xfrm>
          <a:prstGeom prst="rect"/>
          <a:solidFill>
            <a:schemeClr val="bg1"/>
          </a:solidFill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…to be continued...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5" grpId="0" animBg="1"/>
      <p:bldP spid="213" grpId="0" animBg="1"/>
      <p:bldP spid="225" grpId="0" animBg="1"/>
      <p:bldP spid="239" grpId="0" animBg="1"/>
      <p:bldP spid="231" grpId="0" animBg="1"/>
      <p:bldP spid="245" grpId="0" animBg="1"/>
      <p:bldP spid="246" grpId="0" animBg="1"/>
      <p:bldP spid="242" grpId="0" animBg="1"/>
      <p:bldP spid="236" grpId="0" animBg="1"/>
      <p:bldP spid="247" grpId="0" animBg="1"/>
    </p:bldLst>
  </p:timing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المستطيلات"/>
          <p:cNvSpPr>
            <a:spLocks/>
          </p:cNvSpPr>
          <p:nvPr/>
        </p:nvSpPr>
        <p:spPr>
          <a:xfrm rot="0">
            <a:off x="2119869" y="438149"/>
            <a:ext cx="8153399" cy="704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Iteration &amp; condition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49" name="المستطيلات"/>
          <p:cNvSpPr>
            <a:spLocks/>
          </p:cNvSpPr>
          <p:nvPr/>
        </p:nvSpPr>
        <p:spPr>
          <a:xfrm rot="0">
            <a:off x="2399269" y="5295900"/>
            <a:ext cx="7772401" cy="1295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Iteration is denoted by a * preceding the message name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Condition is denoted by 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boolean</a:t>
            </a: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 expression in [ ] before the message name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50" name="خط مستقيم"/>
          <p:cNvSpPr>
            <a:spLocks/>
          </p:cNvSpPr>
          <p:nvPr/>
        </p:nvSpPr>
        <p:spPr>
          <a:xfrm rot="0">
            <a:off x="2427844" y="2374900"/>
            <a:ext cx="0" cy="1993900"/>
          </a:xfrm>
          <a:prstGeom prst="line"/>
          <a:noFill/>
          <a:ln w="9525" cmpd="sng" cap="flat">
            <a:solidFill>
              <a:srgbClr val="000000"/>
            </a:solidFill>
            <a:prstDash val="dash"/>
            <a:round/>
          </a:ln>
        </p:spPr>
      </p:sp>
      <p:grpSp>
        <p:nvGrpSpPr>
          <p:cNvPr id="257" name="تجميع"/>
          <p:cNvGrpSpPr>
            <a:grpSpLocks/>
          </p:cNvGrpSpPr>
          <p:nvPr/>
        </p:nvGrpSpPr>
        <p:grpSpPr>
          <a:xfrm>
            <a:off x="1916669" y="1358900"/>
            <a:ext cx="957262" cy="1006475"/>
            <a:chOff x="1916669" y="1358900"/>
            <a:chExt cx="957262" cy="1006475"/>
          </a:xfrm>
        </p:grpSpPr>
        <p:grpSp>
          <p:nvGrpSpPr>
            <p:cNvPr id="255" name="تجميع"/>
            <p:cNvGrpSpPr>
              <a:grpSpLocks/>
            </p:cNvGrpSpPr>
            <p:nvPr/>
          </p:nvGrpSpPr>
          <p:grpSpPr>
            <a:xfrm>
              <a:off x="2215119" y="1358900"/>
              <a:ext cx="427037" cy="750887"/>
              <a:chOff x="2215119" y="1358900"/>
              <a:chExt cx="427037" cy="750887"/>
            </a:xfrm>
          </p:grpSpPr>
          <p:sp>
            <p:nvSpPr>
              <p:cNvPr id="251" name="曲线"/>
              <p:cNvSpPr>
                <a:spLocks/>
              </p:cNvSpPr>
              <p:nvPr/>
            </p:nvSpPr>
            <p:spPr>
              <a:xfrm rot="0">
                <a:off x="2215119" y="1512887"/>
                <a:ext cx="204787" cy="596900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21600" y="0"/>
                    </a:moveTo>
                    <a:lnTo>
                      <a:pt x="21600" y="13614"/>
                    </a:lnTo>
                    <a:lnTo>
                      <a:pt x="0" y="21600"/>
                    </a:lnTo>
                  </a:path>
                </a:pathLst>
              </a:custGeom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2" name="خط مستقيم"/>
              <p:cNvSpPr>
                <a:spLocks/>
              </p:cNvSpPr>
              <p:nvPr/>
            </p:nvSpPr>
            <p:spPr>
              <a:xfrm rot="0">
                <a:off x="2419906" y="1889125"/>
                <a:ext cx="222250" cy="220662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3" name="خط مستقيم"/>
              <p:cNvSpPr>
                <a:spLocks/>
              </p:cNvSpPr>
              <p:nvPr/>
            </p:nvSpPr>
            <p:spPr>
              <a:xfrm rot="0">
                <a:off x="2215119" y="1682749"/>
                <a:ext cx="4270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4" name="بيضاوي"/>
              <p:cNvSpPr>
                <a:spLocks/>
              </p:cNvSpPr>
              <p:nvPr/>
            </p:nvSpPr>
            <p:spPr>
              <a:xfrm rot="0">
                <a:off x="2316719" y="1358900"/>
                <a:ext cx="222250" cy="222250"/>
              </a:xfrm>
              <a:prstGeom prst="ellipse"/>
              <a:solidFill>
                <a:srgbClr val="FFFFFF"/>
              </a:solidFill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id="256" name="المستطيلات"/>
            <p:cNvSpPr>
              <a:spLocks/>
            </p:cNvSpPr>
            <p:nvPr/>
          </p:nvSpPr>
          <p:spPr>
            <a:xfrm rot="0">
              <a:off x="1916669" y="2152650"/>
              <a:ext cx="957262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Passenger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258" name="المستطيلات"/>
          <p:cNvSpPr>
            <a:spLocks/>
          </p:cNvSpPr>
          <p:nvPr/>
        </p:nvSpPr>
        <p:spPr>
          <a:xfrm rot="0">
            <a:off x="2316719" y="2571750"/>
            <a:ext cx="204788" cy="1571624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259" name="المستطيلات"/>
          <p:cNvSpPr>
            <a:spLocks/>
          </p:cNvSpPr>
          <p:nvPr/>
        </p:nvSpPr>
        <p:spPr>
          <a:xfrm rot="0">
            <a:off x="3631169" y="1922463"/>
            <a:ext cx="1706562" cy="392111"/>
          </a:xfrm>
          <a:prstGeom prst="rect"/>
          <a:noFill/>
          <a:ln w="17463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260" name="المستطيلات"/>
          <p:cNvSpPr>
            <a:spLocks/>
          </p:cNvSpPr>
          <p:nvPr/>
        </p:nvSpPr>
        <p:spPr>
          <a:xfrm rot="0">
            <a:off x="3710544" y="2049463"/>
            <a:ext cx="1595438" cy="2127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ChangeProcessor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61" name="خط مستقيم"/>
          <p:cNvSpPr>
            <a:spLocks/>
          </p:cNvSpPr>
          <p:nvPr/>
        </p:nvSpPr>
        <p:spPr>
          <a:xfrm rot="0">
            <a:off x="4497944" y="2311400"/>
            <a:ext cx="0" cy="2489200"/>
          </a:xfrm>
          <a:prstGeom prst="line"/>
          <a:noFill/>
          <a:ln w="9525" cmpd="sng" cap="flat">
            <a:solidFill>
              <a:srgbClr val="000000"/>
            </a:solidFill>
            <a:prstDash val="dash"/>
            <a:round/>
          </a:ln>
        </p:spPr>
      </p:sp>
      <p:grpSp>
        <p:nvGrpSpPr>
          <p:cNvPr id="265" name="تجميع"/>
          <p:cNvGrpSpPr>
            <a:grpSpLocks/>
          </p:cNvGrpSpPr>
          <p:nvPr/>
        </p:nvGrpSpPr>
        <p:grpSpPr>
          <a:xfrm>
            <a:off x="2505631" y="2478088"/>
            <a:ext cx="2093912" cy="2185987"/>
            <a:chOff x="2505631" y="2478088"/>
            <a:chExt cx="2093912" cy="2185987"/>
          </a:xfrm>
        </p:grpSpPr>
        <p:sp>
          <p:nvSpPr>
            <p:cNvPr id="262" name="خط مستقيم"/>
            <p:cNvSpPr>
              <a:spLocks/>
            </p:cNvSpPr>
            <p:nvPr/>
          </p:nvSpPr>
          <p:spPr>
            <a:xfrm rot="0">
              <a:off x="2505631" y="2759075"/>
              <a:ext cx="1862137" cy="1587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  <a:tailEnd type="triangle" w="med" len="med"/>
            </a:ln>
          </p:spPr>
        </p:sp>
        <p:sp>
          <p:nvSpPr>
            <p:cNvPr id="263" name="المستطيلات"/>
            <p:cNvSpPr>
              <a:spLocks/>
            </p:cNvSpPr>
            <p:nvPr/>
          </p:nvSpPr>
          <p:spPr>
            <a:xfrm rot="0">
              <a:off x="2685019" y="2478088"/>
              <a:ext cx="1914524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insertChange(coin)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264" name="المستطيلات"/>
            <p:cNvSpPr>
              <a:spLocks/>
            </p:cNvSpPr>
            <p:nvPr/>
          </p:nvSpPr>
          <p:spPr>
            <a:xfrm rot="0">
              <a:off x="4394757" y="2749550"/>
              <a:ext cx="204787" cy="1914524"/>
            </a:xfrm>
            <a:prstGeom prst="rect"/>
            <a:solidFill>
              <a:schemeClr val="bg1"/>
            </a:solidFill>
            <a:ln w="17463" cmpd="sng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69" name="تجميع"/>
          <p:cNvGrpSpPr>
            <a:grpSpLocks/>
          </p:cNvGrpSpPr>
          <p:nvPr/>
        </p:nvGrpSpPr>
        <p:grpSpPr>
          <a:xfrm>
            <a:off x="5447268" y="1922463"/>
            <a:ext cx="1604963" cy="2890836"/>
            <a:chOff x="5447268" y="1922463"/>
            <a:chExt cx="1604963" cy="2890836"/>
          </a:xfrm>
        </p:grpSpPr>
        <p:sp>
          <p:nvSpPr>
            <p:cNvPr id="266" name="المستطيلات"/>
            <p:cNvSpPr>
              <a:spLocks/>
            </p:cNvSpPr>
            <p:nvPr/>
          </p:nvSpPr>
          <p:spPr>
            <a:xfrm rot="0">
              <a:off x="5558393" y="2049463"/>
              <a:ext cx="1489075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CoinIdentifier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267" name="المستطيلات"/>
            <p:cNvSpPr>
              <a:spLocks/>
            </p:cNvSpPr>
            <p:nvPr/>
          </p:nvSpPr>
          <p:spPr>
            <a:xfrm rot="0">
              <a:off x="5447268" y="1922463"/>
              <a:ext cx="1604963" cy="392112"/>
            </a:xfrm>
            <a:prstGeom prst="rect"/>
            <a:noFill/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8" name="خط مستقيم"/>
            <p:cNvSpPr>
              <a:spLocks/>
            </p:cNvSpPr>
            <p:nvPr/>
          </p:nvSpPr>
          <p:spPr>
            <a:xfrm rot="0">
              <a:off x="6250543" y="2311400"/>
              <a:ext cx="0" cy="2501899"/>
            </a:xfrm>
            <a:prstGeom prst="line"/>
            <a:noFill/>
            <a:ln w="9525" cmpd="sng" cap="flat">
              <a:solidFill>
                <a:srgbClr val="000000"/>
              </a:solidFill>
              <a:prstDash val="dash"/>
              <a:round/>
            </a:ln>
          </p:spPr>
        </p:sp>
      </p:grpSp>
      <p:grpSp>
        <p:nvGrpSpPr>
          <p:cNvPr id="273" name="تجميع"/>
          <p:cNvGrpSpPr>
            <a:grpSpLocks/>
          </p:cNvGrpSpPr>
          <p:nvPr/>
        </p:nvGrpSpPr>
        <p:grpSpPr>
          <a:xfrm>
            <a:off x="7212569" y="1922463"/>
            <a:ext cx="1604963" cy="2890836"/>
            <a:chOff x="7212569" y="1922463"/>
            <a:chExt cx="1604963" cy="2890836"/>
          </a:xfrm>
        </p:grpSpPr>
        <p:sp>
          <p:nvSpPr>
            <p:cNvPr id="270" name="المستطيلات"/>
            <p:cNvSpPr>
              <a:spLocks/>
            </p:cNvSpPr>
            <p:nvPr/>
          </p:nvSpPr>
          <p:spPr>
            <a:xfrm rot="0">
              <a:off x="7212569" y="1922463"/>
              <a:ext cx="1604963" cy="392112"/>
            </a:xfrm>
            <a:prstGeom prst="rect"/>
            <a:noFill/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1" name="المستطيلات"/>
            <p:cNvSpPr>
              <a:spLocks/>
            </p:cNvSpPr>
            <p:nvPr/>
          </p:nvSpPr>
          <p:spPr>
            <a:xfrm rot="0">
              <a:off x="7642782" y="2049463"/>
              <a:ext cx="744538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Display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272" name="خط مستقيم"/>
            <p:cNvSpPr>
              <a:spLocks/>
            </p:cNvSpPr>
            <p:nvPr/>
          </p:nvSpPr>
          <p:spPr>
            <a:xfrm rot="0">
              <a:off x="8015844" y="2311400"/>
              <a:ext cx="0" cy="2501899"/>
            </a:xfrm>
            <a:prstGeom prst="line"/>
            <a:noFill/>
            <a:ln w="9525" cmpd="sng" cap="flat">
              <a:solidFill>
                <a:srgbClr val="000000"/>
              </a:solidFill>
              <a:prstDash val="dash"/>
              <a:round/>
            </a:ln>
          </p:spPr>
        </p:sp>
      </p:grpSp>
      <p:grpSp>
        <p:nvGrpSpPr>
          <p:cNvPr id="277" name="تجميع"/>
          <p:cNvGrpSpPr>
            <a:grpSpLocks/>
          </p:cNvGrpSpPr>
          <p:nvPr/>
        </p:nvGrpSpPr>
        <p:grpSpPr>
          <a:xfrm>
            <a:off x="8927069" y="1922463"/>
            <a:ext cx="1604962" cy="2903537"/>
            <a:chOff x="8927069" y="1922463"/>
            <a:chExt cx="1604962" cy="2903537"/>
          </a:xfrm>
        </p:grpSpPr>
        <p:sp>
          <p:nvSpPr>
            <p:cNvPr id="274" name="المستطيلات"/>
            <p:cNvSpPr>
              <a:spLocks/>
            </p:cNvSpPr>
            <p:nvPr/>
          </p:nvSpPr>
          <p:spPr>
            <a:xfrm rot="0">
              <a:off x="8927069" y="1922463"/>
              <a:ext cx="1604962" cy="392112"/>
            </a:xfrm>
            <a:prstGeom prst="rect"/>
            <a:noFill/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5" name="المستطيلات"/>
            <p:cNvSpPr>
              <a:spLocks/>
            </p:cNvSpPr>
            <p:nvPr/>
          </p:nvSpPr>
          <p:spPr>
            <a:xfrm rot="0">
              <a:off x="9357281" y="2049463"/>
              <a:ext cx="850899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CoinDrop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sp>
          <p:nvSpPr>
            <p:cNvPr id="276" name="خط مستقيم"/>
            <p:cNvSpPr>
              <a:spLocks/>
            </p:cNvSpPr>
            <p:nvPr/>
          </p:nvSpPr>
          <p:spPr>
            <a:xfrm rot="0">
              <a:off x="9730344" y="2311400"/>
              <a:ext cx="0" cy="2514599"/>
            </a:xfrm>
            <a:prstGeom prst="line"/>
            <a:noFill/>
            <a:ln w="9525" cmpd="sng" cap="flat">
              <a:solidFill>
                <a:srgbClr val="000000"/>
              </a:solidFill>
              <a:prstDash val="dash"/>
              <a:round/>
            </a:ln>
          </p:spPr>
        </p:sp>
      </p:grpSp>
      <p:grpSp>
        <p:nvGrpSpPr>
          <p:cNvPr id="282" name="تجميع"/>
          <p:cNvGrpSpPr>
            <a:grpSpLocks/>
          </p:cNvGrpSpPr>
          <p:nvPr/>
        </p:nvGrpSpPr>
        <p:grpSpPr>
          <a:xfrm>
            <a:off x="4639232" y="3316287"/>
            <a:ext cx="3465511" cy="465137"/>
            <a:chOff x="4639232" y="3316287"/>
            <a:chExt cx="3465511" cy="465137"/>
          </a:xfrm>
        </p:grpSpPr>
        <p:sp>
          <p:nvSpPr>
            <p:cNvPr id="278" name="المستطيلات"/>
            <p:cNvSpPr>
              <a:spLocks/>
            </p:cNvSpPr>
            <p:nvPr/>
          </p:nvSpPr>
          <p:spPr>
            <a:xfrm rot="0">
              <a:off x="7912656" y="3549650"/>
              <a:ext cx="192087" cy="231774"/>
            </a:xfrm>
            <a:prstGeom prst="rect"/>
            <a:solidFill>
              <a:schemeClr val="bg1"/>
            </a:solidFill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281" name="تجميع"/>
            <p:cNvGrpSpPr>
              <a:grpSpLocks/>
            </p:cNvGrpSpPr>
            <p:nvPr/>
          </p:nvGrpSpPr>
          <p:grpSpPr>
            <a:xfrm>
              <a:off x="4639232" y="3316287"/>
              <a:ext cx="3284537" cy="230187"/>
              <a:chOff x="4639232" y="3316287"/>
              <a:chExt cx="3284537" cy="230187"/>
            </a:xfrm>
          </p:grpSpPr>
          <p:sp>
            <p:nvSpPr>
              <p:cNvPr id="279" name="خط مستقيم"/>
              <p:cNvSpPr>
                <a:spLocks/>
              </p:cNvSpPr>
              <p:nvPr/>
            </p:nvSpPr>
            <p:spPr>
              <a:xfrm rot="0">
                <a:off x="4639232" y="3544887"/>
                <a:ext cx="32845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280" name="المستطيلات"/>
              <p:cNvSpPr>
                <a:spLocks/>
              </p:cNvSpPr>
              <p:nvPr/>
            </p:nvSpPr>
            <p:spPr>
              <a:xfrm rot="0">
                <a:off x="4793219" y="3316287"/>
                <a:ext cx="2552699" cy="212724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displayPrice(owedAmount)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</p:grpSp>
      <p:grpSp>
        <p:nvGrpSpPr>
          <p:cNvPr id="289" name="تجميع"/>
          <p:cNvGrpSpPr>
            <a:grpSpLocks/>
          </p:cNvGrpSpPr>
          <p:nvPr/>
        </p:nvGrpSpPr>
        <p:grpSpPr>
          <a:xfrm>
            <a:off x="4601132" y="2617788"/>
            <a:ext cx="1906586" cy="661987"/>
            <a:chOff x="4601132" y="2617788"/>
            <a:chExt cx="1906586" cy="661987"/>
          </a:xfrm>
        </p:grpSpPr>
        <p:sp>
          <p:nvSpPr>
            <p:cNvPr id="283" name="المستطيلات"/>
            <p:cNvSpPr>
              <a:spLocks/>
            </p:cNvSpPr>
            <p:nvPr/>
          </p:nvSpPr>
          <p:spPr>
            <a:xfrm rot="0">
              <a:off x="6147356" y="2901950"/>
              <a:ext cx="204787" cy="377824"/>
            </a:xfrm>
            <a:prstGeom prst="rect"/>
            <a:solidFill>
              <a:schemeClr val="bg1"/>
            </a:solidFill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4" name="خط مستقيم"/>
            <p:cNvSpPr>
              <a:spLocks/>
            </p:cNvSpPr>
            <p:nvPr/>
          </p:nvSpPr>
          <p:spPr>
            <a:xfrm rot="0">
              <a:off x="4613832" y="2898775"/>
              <a:ext cx="1506536" cy="1587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  <a:tailEnd type="triangle" w="med" len="med"/>
            </a:ln>
          </p:spPr>
        </p:sp>
        <p:sp>
          <p:nvSpPr>
            <p:cNvPr id="285" name="المستطيلات"/>
            <p:cNvSpPr>
              <a:spLocks/>
            </p:cNvSpPr>
            <p:nvPr/>
          </p:nvSpPr>
          <p:spPr>
            <a:xfrm rot="0">
              <a:off x="4805919" y="2617788"/>
              <a:ext cx="1701799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lookupCoin(coin)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grpSp>
          <p:nvGrpSpPr>
            <p:cNvPr id="288" name="تجميع"/>
            <p:cNvGrpSpPr>
              <a:grpSpLocks/>
            </p:cNvGrpSpPr>
            <p:nvPr/>
          </p:nvGrpSpPr>
          <p:grpSpPr>
            <a:xfrm>
              <a:off x="4601132" y="3036887"/>
              <a:ext cx="1506536" cy="212724"/>
              <a:chOff x="4601132" y="3036887"/>
              <a:chExt cx="1506536" cy="212724"/>
            </a:xfrm>
          </p:grpSpPr>
          <p:sp>
            <p:nvSpPr>
              <p:cNvPr id="286" name="خط مستقيم"/>
              <p:cNvSpPr>
                <a:spLocks/>
              </p:cNvSpPr>
              <p:nvPr/>
            </p:nvSpPr>
            <p:spPr>
              <a:xfrm rot="0">
                <a:off x="4601132" y="3216275"/>
                <a:ext cx="1506536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dash"/>
                <a:round/>
                <a:headEnd type="triangle" w="med" len="med"/>
              </a:ln>
            </p:spPr>
          </p:sp>
          <p:sp>
            <p:nvSpPr>
              <p:cNvPr id="287" name="المستطيلات"/>
              <p:cNvSpPr>
                <a:spLocks/>
              </p:cNvSpPr>
              <p:nvPr/>
            </p:nvSpPr>
            <p:spPr>
              <a:xfrm rot="0">
                <a:off x="4818186" y="3036887"/>
                <a:ext cx="531718" cy="212724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price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</p:grpSp>
      <p:grpSp>
        <p:nvGrpSpPr>
          <p:cNvPr id="293" name="تجميع"/>
          <p:cNvGrpSpPr>
            <a:grpSpLocks/>
          </p:cNvGrpSpPr>
          <p:nvPr/>
        </p:nvGrpSpPr>
        <p:grpSpPr>
          <a:xfrm>
            <a:off x="4613832" y="4027488"/>
            <a:ext cx="5205412" cy="427036"/>
            <a:chOff x="4613832" y="4027488"/>
            <a:chExt cx="5205412" cy="427036"/>
          </a:xfrm>
        </p:grpSpPr>
        <p:sp>
          <p:nvSpPr>
            <p:cNvPr id="290" name="المستطيلات"/>
            <p:cNvSpPr>
              <a:spLocks/>
            </p:cNvSpPr>
            <p:nvPr/>
          </p:nvSpPr>
          <p:spPr>
            <a:xfrm rot="0">
              <a:off x="9627157" y="4222750"/>
              <a:ext cx="192087" cy="231774"/>
            </a:xfrm>
            <a:prstGeom prst="rect"/>
            <a:solidFill>
              <a:schemeClr val="bg1"/>
            </a:solidFill>
            <a:ln w="17463" cmpd="sng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1" name="خط مستقيم"/>
            <p:cNvSpPr>
              <a:spLocks/>
            </p:cNvSpPr>
            <p:nvPr/>
          </p:nvSpPr>
          <p:spPr>
            <a:xfrm rot="0">
              <a:off x="4613832" y="4256088"/>
              <a:ext cx="4986337" cy="3175"/>
            </a:xfrm>
            <a:prstGeom prst="line"/>
            <a:noFill/>
            <a:ln w="17463" cmpd="sng" cap="flat">
              <a:solidFill>
                <a:srgbClr val="000000"/>
              </a:solidFill>
              <a:prstDash val="solid"/>
              <a:round/>
              <a:tailEnd type="triangle" w="med" len="med"/>
            </a:ln>
          </p:spPr>
        </p:sp>
        <p:sp>
          <p:nvSpPr>
            <p:cNvPr id="292" name="المستطيلات"/>
            <p:cNvSpPr>
              <a:spLocks/>
            </p:cNvSpPr>
            <p:nvPr/>
          </p:nvSpPr>
          <p:spPr>
            <a:xfrm rot="0">
              <a:off x="4767819" y="4027488"/>
              <a:ext cx="4295775" cy="215899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1" i="0" u="none" strike="noStrike" kern="1200" cap="none" spc="0" baseline="0">
                  <a:solidFill>
                    <a:srgbClr val="C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[</a:t>
              </a:r>
              <a:r>
                <a:rPr lang="en-US" altLang="zh-CN" sz="1400" b="1" i="0" u="none" strike="noStrike" kern="1200" cap="none" spc="0" baseline="0">
                  <a:solidFill>
                    <a:srgbClr val="C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owedAmount</a:t>
              </a:r>
              <a:r>
                <a:rPr lang="en-US" altLang="zh-CN" sz="1400" b="1" i="0" u="none" strike="noStrike" kern="1200" cap="none" spc="0" baseline="0">
                  <a:solidFill>
                    <a:srgbClr val="C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&lt;0] </a:t>
              </a: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returnChange</a:t>
              </a: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(-</a:t>
              </a: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owedAmount</a:t>
              </a: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294" name="خانة مستطيلة بحواف دائرية للشرح"/>
          <p:cNvSpPr>
            <a:spLocks/>
          </p:cNvSpPr>
          <p:nvPr/>
        </p:nvSpPr>
        <p:spPr>
          <a:xfrm rot="0">
            <a:off x="2754869" y="2971799"/>
            <a:ext cx="1244599" cy="609600"/>
          </a:xfrm>
          <a:prstGeom prst="wedgeRoundRectCallout">
            <a:avLst>
              <a:gd name="adj1" fmla="val -59689"/>
              <a:gd name="adj2" fmla="val -119527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Iteration</a:t>
            </a:r>
            <a:endParaRPr lang="zh-CN" altLang="en-US" sz="1800" b="1" i="0" u="none" strike="noStrike" kern="1200" cap="none" spc="0" baseline="0">
              <a:solidFill>
                <a:srgbClr val="C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95" name="خانة مستطيلة بحواف دائرية للشرح"/>
          <p:cNvSpPr>
            <a:spLocks/>
          </p:cNvSpPr>
          <p:nvPr/>
        </p:nvSpPr>
        <p:spPr>
          <a:xfrm rot="0">
            <a:off x="2704069" y="4038600"/>
            <a:ext cx="1422399" cy="609600"/>
          </a:xfrm>
          <a:prstGeom prst="wedgeRoundRectCallout">
            <a:avLst>
              <a:gd name="adj1" fmla="val 93305"/>
              <a:gd name="adj2" fmla="val -32027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Condition</a:t>
            </a:r>
            <a:endParaRPr lang="zh-CN" altLang="en-US" sz="1800" b="1" i="0" u="none" strike="noStrike" kern="1200" cap="none" spc="0" baseline="0">
              <a:solidFill>
                <a:srgbClr val="C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96" name="المستطيلات"/>
          <p:cNvSpPr>
            <a:spLocks/>
          </p:cNvSpPr>
          <p:nvPr/>
        </p:nvSpPr>
        <p:spPr>
          <a:xfrm rot="0">
            <a:off x="4382057" y="4454525"/>
            <a:ext cx="5683250" cy="641349"/>
          </a:xfrm>
          <a:prstGeom prst="rect"/>
          <a:solidFill>
            <a:schemeClr val="bg1"/>
          </a:solidFill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…to be continued...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97" name="المستطيلات"/>
          <p:cNvSpPr>
            <a:spLocks/>
          </p:cNvSpPr>
          <p:nvPr/>
        </p:nvSpPr>
        <p:spPr>
          <a:xfrm rot="0">
            <a:off x="3874057" y="1339850"/>
            <a:ext cx="5683250" cy="366713"/>
          </a:xfrm>
          <a:prstGeom prst="rect"/>
          <a:solidFill>
            <a:schemeClr val="bg1"/>
          </a:solidFill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…continued from previous slide...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298" name="المستطيلات"/>
          <p:cNvSpPr>
            <a:spLocks/>
          </p:cNvSpPr>
          <p:nvPr/>
        </p:nvSpPr>
        <p:spPr>
          <a:xfrm rot="0">
            <a:off x="2502457" y="2387600"/>
            <a:ext cx="303212" cy="457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*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35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" grpId="0" animBg="1"/>
      <p:bldP spid="298" grpId="0" animBg="1"/>
      <p:bldP spid="294" grpId="0" animBg="1"/>
      <p:bldP spid="289" grpId="0" animBg="1"/>
      <p:bldP spid="282" grpId="0" animBg="1"/>
      <p:bldP spid="293" grpId="0" animBg="1"/>
      <p:bldP spid="295" grpId="0" animBg="1"/>
      <p:bldP spid="296" grpId="0" animBg="1"/>
    </p:bldLst>
  </p:timing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المستطيلات"/>
          <p:cNvSpPr>
            <a:spLocks/>
          </p:cNvSpPr>
          <p:nvPr/>
        </p:nvSpPr>
        <p:spPr>
          <a:xfrm rot="0">
            <a:off x="1930399" y="381000"/>
            <a:ext cx="8445499" cy="762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Creation and destruction</a:t>
            </a:r>
            <a:endParaRPr lang="zh-CN" altLang="en-US" sz="44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00" name="المستطيلات"/>
          <p:cNvSpPr>
            <a:spLocks/>
          </p:cNvSpPr>
          <p:nvPr/>
        </p:nvSpPr>
        <p:spPr>
          <a:xfrm rot="0">
            <a:off x="1955800" y="4726152"/>
            <a:ext cx="8255000" cy="141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Creation is denoted by a message arrow pointing to the object.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Destruction is denoted by an X mark at the end of the destruction activation.</a:t>
            </a:r>
            <a:endParaRPr lang="en-US" altLang="zh-CN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  <a:p>
            <a:pPr marL="285750" indent="-285750" algn="l" defTabSz="45720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 pitchFamily="0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262626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In garbage collection environments, destruction can be used to denote the end of the useful life of an object.</a:t>
            </a:r>
            <a:endParaRPr lang="zh-CN" altLang="en-US" sz="2000" b="0" i="0" u="none" strike="noStrike" kern="1200" cap="none" spc="0" baseline="0">
              <a:solidFill>
                <a:srgbClr val="262626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01" name="خط مستقيم"/>
          <p:cNvSpPr>
            <a:spLocks/>
          </p:cNvSpPr>
          <p:nvPr/>
        </p:nvSpPr>
        <p:spPr>
          <a:xfrm rot="0">
            <a:off x="2327275" y="2235200"/>
            <a:ext cx="0" cy="1993900"/>
          </a:xfrm>
          <a:prstGeom prst="line"/>
          <a:noFill/>
          <a:ln w="9525" cmpd="sng" cap="flat">
            <a:solidFill>
              <a:srgbClr val="000000"/>
            </a:solidFill>
            <a:prstDash val="dash"/>
            <a:round/>
          </a:ln>
        </p:spPr>
      </p:sp>
      <p:grpSp>
        <p:nvGrpSpPr>
          <p:cNvPr id="308" name="تجميع"/>
          <p:cNvGrpSpPr>
            <a:grpSpLocks/>
          </p:cNvGrpSpPr>
          <p:nvPr/>
        </p:nvGrpSpPr>
        <p:grpSpPr>
          <a:xfrm>
            <a:off x="1816100" y="1219200"/>
            <a:ext cx="957262" cy="1006475"/>
            <a:chOff x="1816100" y="1219200"/>
            <a:chExt cx="957262" cy="1006475"/>
          </a:xfrm>
        </p:grpSpPr>
        <p:grpSp>
          <p:nvGrpSpPr>
            <p:cNvPr id="306" name="تجميع"/>
            <p:cNvGrpSpPr>
              <a:grpSpLocks/>
            </p:cNvGrpSpPr>
            <p:nvPr/>
          </p:nvGrpSpPr>
          <p:grpSpPr>
            <a:xfrm>
              <a:off x="2114549" y="1219200"/>
              <a:ext cx="427037" cy="750887"/>
              <a:chOff x="2114549" y="1219200"/>
              <a:chExt cx="427037" cy="750887"/>
            </a:xfrm>
          </p:grpSpPr>
          <p:sp>
            <p:nvSpPr>
              <p:cNvPr id="302" name="曲线"/>
              <p:cNvSpPr>
                <a:spLocks/>
              </p:cNvSpPr>
              <p:nvPr/>
            </p:nvSpPr>
            <p:spPr>
              <a:xfrm rot="0">
                <a:off x="2114549" y="1373187"/>
                <a:ext cx="204787" cy="596900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21600" y="0"/>
                    </a:moveTo>
                    <a:lnTo>
                      <a:pt x="21600" y="13614"/>
                    </a:lnTo>
                    <a:lnTo>
                      <a:pt x="0" y="21600"/>
                    </a:lnTo>
                  </a:path>
                </a:pathLst>
              </a:custGeom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3" name="خط مستقيم"/>
              <p:cNvSpPr>
                <a:spLocks/>
              </p:cNvSpPr>
              <p:nvPr/>
            </p:nvSpPr>
            <p:spPr>
              <a:xfrm rot="0">
                <a:off x="2319337" y="1749425"/>
                <a:ext cx="222250" cy="220662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4" name="خط مستقيم"/>
              <p:cNvSpPr>
                <a:spLocks/>
              </p:cNvSpPr>
              <p:nvPr/>
            </p:nvSpPr>
            <p:spPr>
              <a:xfrm rot="0">
                <a:off x="2114549" y="1543050"/>
                <a:ext cx="4270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5" name="بيضاوي"/>
              <p:cNvSpPr>
                <a:spLocks/>
              </p:cNvSpPr>
              <p:nvPr/>
            </p:nvSpPr>
            <p:spPr>
              <a:xfrm rot="0">
                <a:off x="2216150" y="1219200"/>
                <a:ext cx="222250" cy="222250"/>
              </a:xfrm>
              <a:prstGeom prst="ellipse"/>
              <a:solidFill>
                <a:srgbClr val="FFFFFF"/>
              </a:solidFill>
              <a:ln w="17463" cmpd="sng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id="307" name="المستطيلات"/>
            <p:cNvSpPr>
              <a:spLocks/>
            </p:cNvSpPr>
            <p:nvPr/>
          </p:nvSpPr>
          <p:spPr>
            <a:xfrm rot="0">
              <a:off x="1816100" y="2012950"/>
              <a:ext cx="957262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Passenger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309" name="المستطيلات"/>
          <p:cNvSpPr>
            <a:spLocks/>
          </p:cNvSpPr>
          <p:nvPr/>
        </p:nvSpPr>
        <p:spPr>
          <a:xfrm rot="0">
            <a:off x="2216150" y="2432050"/>
            <a:ext cx="204788" cy="1571624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310" name="المستطيلات"/>
          <p:cNvSpPr>
            <a:spLocks/>
          </p:cNvSpPr>
          <p:nvPr/>
        </p:nvSpPr>
        <p:spPr>
          <a:xfrm rot="0">
            <a:off x="3530600" y="1782763"/>
            <a:ext cx="1706563" cy="392111"/>
          </a:xfrm>
          <a:prstGeom prst="rect"/>
          <a:noFill/>
          <a:ln w="17463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311" name="المستطيلات"/>
          <p:cNvSpPr>
            <a:spLocks/>
          </p:cNvSpPr>
          <p:nvPr/>
        </p:nvSpPr>
        <p:spPr>
          <a:xfrm rot="0">
            <a:off x="3609975" y="1909763"/>
            <a:ext cx="1595438" cy="2127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Courier" pitchFamily="0" charset="0"/>
                <a:ea typeface="方正舒体" pitchFamily="0" charset="0"/>
                <a:cs typeface="Garamond" pitchFamily="0" charset="0"/>
              </a:rPr>
              <a:t>ChangeProcessor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12" name="خط مستقيم"/>
          <p:cNvSpPr>
            <a:spLocks/>
          </p:cNvSpPr>
          <p:nvPr/>
        </p:nvSpPr>
        <p:spPr>
          <a:xfrm rot="0">
            <a:off x="4397375" y="2171700"/>
            <a:ext cx="0" cy="2489199"/>
          </a:xfrm>
          <a:prstGeom prst="line"/>
          <a:noFill/>
          <a:ln w="9525" cmpd="sng" cap="flat">
            <a:solidFill>
              <a:srgbClr val="000000"/>
            </a:solidFill>
            <a:prstDash val="dash"/>
            <a:round/>
          </a:ln>
        </p:spPr>
      </p:sp>
      <p:sp>
        <p:nvSpPr>
          <p:cNvPr id="313" name="المستطيلات"/>
          <p:cNvSpPr>
            <a:spLocks/>
          </p:cNvSpPr>
          <p:nvPr/>
        </p:nvSpPr>
        <p:spPr>
          <a:xfrm rot="0">
            <a:off x="3773488" y="1200150"/>
            <a:ext cx="5683250" cy="366713"/>
          </a:xfrm>
          <a:prstGeom prst="rect"/>
          <a:solidFill>
            <a:schemeClr val="bg1"/>
          </a:solidFill>
          <a:ln w="12700" cmpd="sng" cap="flat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…continued from previous slide...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14" name="المستطيلات"/>
          <p:cNvSpPr>
            <a:spLocks/>
          </p:cNvSpPr>
          <p:nvPr/>
        </p:nvSpPr>
        <p:spPr>
          <a:xfrm rot="0">
            <a:off x="4294188" y="2343150"/>
            <a:ext cx="204787" cy="1914525"/>
          </a:xfrm>
          <a:prstGeom prst="rect"/>
          <a:solidFill>
            <a:schemeClr val="bg1"/>
          </a:solidFill>
          <a:ln w="17463" cmpd="sng" cap="flat">
            <a:solidFill>
              <a:srgbClr val="000000"/>
            </a:solidFill>
            <a:prstDash val="solid"/>
            <a:miter/>
          </a:ln>
        </p:spPr>
      </p:sp>
      <p:grpSp>
        <p:nvGrpSpPr>
          <p:cNvPr id="321" name="تجميع"/>
          <p:cNvGrpSpPr>
            <a:grpSpLocks/>
          </p:cNvGrpSpPr>
          <p:nvPr/>
        </p:nvGrpSpPr>
        <p:grpSpPr>
          <a:xfrm>
            <a:off x="4525963" y="2566988"/>
            <a:ext cx="2600325" cy="1878012"/>
            <a:chOff x="4525963" y="2566988"/>
            <a:chExt cx="2600325" cy="1878012"/>
          </a:xfrm>
        </p:grpSpPr>
        <p:sp>
          <p:nvSpPr>
            <p:cNvPr id="315" name="المستطيلات"/>
            <p:cNvSpPr>
              <a:spLocks/>
            </p:cNvSpPr>
            <p:nvPr/>
          </p:nvSpPr>
          <p:spPr>
            <a:xfrm rot="0">
              <a:off x="5884862" y="3014662"/>
              <a:ext cx="638175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Ticket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  <p:grpSp>
          <p:nvGrpSpPr>
            <p:cNvPr id="320" name="تجميع"/>
            <p:cNvGrpSpPr>
              <a:grpSpLocks/>
            </p:cNvGrpSpPr>
            <p:nvPr/>
          </p:nvGrpSpPr>
          <p:grpSpPr>
            <a:xfrm>
              <a:off x="4525963" y="2566988"/>
              <a:ext cx="2600325" cy="1878012"/>
              <a:chOff x="4525963" y="2566988"/>
              <a:chExt cx="2600325" cy="1878012"/>
            </a:xfrm>
          </p:grpSpPr>
          <p:sp>
            <p:nvSpPr>
              <p:cNvPr id="316" name="المستطيلات"/>
              <p:cNvSpPr>
                <a:spLocks/>
              </p:cNvSpPr>
              <p:nvPr/>
            </p:nvSpPr>
            <p:spPr>
              <a:xfrm rot="0">
                <a:off x="5346700" y="2887663"/>
                <a:ext cx="1604962" cy="392112"/>
              </a:xfrm>
              <a:prstGeom prst="rect"/>
              <a:noFill/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7" name="خط مستقيم"/>
              <p:cNvSpPr>
                <a:spLocks/>
              </p:cNvSpPr>
              <p:nvPr/>
            </p:nvSpPr>
            <p:spPr>
              <a:xfrm rot="0">
                <a:off x="6149975" y="3276600"/>
                <a:ext cx="0" cy="1168399"/>
              </a:xfrm>
              <a:prstGeom prst="line"/>
              <a:noFill/>
              <a:ln w="9525" cmpd="sng" cap="flat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id="318" name="خط مستقيم"/>
              <p:cNvSpPr>
                <a:spLocks/>
              </p:cNvSpPr>
              <p:nvPr/>
            </p:nvSpPr>
            <p:spPr>
              <a:xfrm rot="0">
                <a:off x="4525963" y="2909887"/>
                <a:ext cx="808037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319" name="المستطيلات"/>
              <p:cNvSpPr>
                <a:spLocks/>
              </p:cNvSpPr>
              <p:nvPr/>
            </p:nvSpPr>
            <p:spPr>
              <a:xfrm rot="0">
                <a:off x="4679950" y="2566988"/>
                <a:ext cx="2446337" cy="212724"/>
              </a:xfrm>
              <a:prstGeom prst="rect"/>
              <a:noFill/>
              <a:ln w="12700" cmpd="sng" cap="flat">
                <a:noFill/>
                <a:prstDash val="solid"/>
                <a:round/>
              </a:ln>
            </p:spPr>
            <p:txBody>
              <a:bodyPr vert="horz" wrap="none" lIns="0" tIns="0" rIns="0" bIns="0" anchor="t" anchorCtr="0">
                <a:prstTxWarp prst="textNoShape"/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1400" b="0" i="0" u="none" strike="noStrike" kern="1200" cap="none" spc="0" baseline="0">
                    <a:solidFill>
                      <a:schemeClr val="tx1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createTicket</a:t>
                </a:r>
                <a:r>
                  <a:rPr lang="en-US" altLang="zh-CN" sz="1400" b="0" i="0" u="none" strike="noStrike" kern="1200" cap="none" spc="0" baseline="0">
                    <a:solidFill>
                      <a:srgbClr val="000000"/>
                    </a:solidFill>
                    <a:latin typeface="Courier" pitchFamily="0" charset="0"/>
                    <a:ea typeface="方正舒体" pitchFamily="0" charset="0"/>
                    <a:cs typeface="Garamond" pitchFamily="0" charset="0"/>
                  </a:rPr>
                  <a:t>(selection)</a:t>
                </a:r>
                <a:endParaRPr lang="zh-CN" altLang="en-US" sz="1800" b="0" i="0" u="none" strike="noStrike" kern="1200" cap="none" spc="0" baseline="0">
                  <a:solidFill>
                    <a:schemeClr val="tx1"/>
                  </a:solidFill>
                  <a:latin typeface="Garamond" pitchFamily="0" charset="0"/>
                  <a:ea typeface="方正舒体" pitchFamily="0" charset="0"/>
                  <a:cs typeface="Garamond" pitchFamily="0" charset="0"/>
                </a:endParaRPr>
              </a:p>
            </p:txBody>
          </p:sp>
        </p:grpSp>
      </p:grpSp>
      <p:grpSp>
        <p:nvGrpSpPr>
          <p:cNvPr id="326" name="تجميع"/>
          <p:cNvGrpSpPr>
            <a:grpSpLocks/>
          </p:cNvGrpSpPr>
          <p:nvPr/>
        </p:nvGrpSpPr>
        <p:grpSpPr>
          <a:xfrm>
            <a:off x="4513263" y="3786188"/>
            <a:ext cx="1738311" cy="649287"/>
            <a:chOff x="4513263" y="3786188"/>
            <a:chExt cx="1738311" cy="649287"/>
          </a:xfrm>
        </p:grpSpPr>
        <p:grpSp>
          <p:nvGrpSpPr>
            <p:cNvPr id="324" name="تجميع"/>
            <p:cNvGrpSpPr>
              <a:grpSpLocks/>
            </p:cNvGrpSpPr>
            <p:nvPr/>
          </p:nvGrpSpPr>
          <p:grpSpPr>
            <a:xfrm>
              <a:off x="4513263" y="4054475"/>
              <a:ext cx="1738311" cy="381000"/>
              <a:chOff x="4513263" y="4054475"/>
              <a:chExt cx="1738311" cy="381000"/>
            </a:xfrm>
          </p:grpSpPr>
          <p:sp>
            <p:nvSpPr>
              <p:cNvPr id="322" name="المستطيلات"/>
              <p:cNvSpPr>
                <a:spLocks/>
              </p:cNvSpPr>
              <p:nvPr/>
            </p:nvSpPr>
            <p:spPr>
              <a:xfrm rot="0">
                <a:off x="6046787" y="4057650"/>
                <a:ext cx="204787" cy="377824"/>
              </a:xfrm>
              <a:prstGeom prst="rect"/>
              <a:solidFill>
                <a:schemeClr val="bg1"/>
              </a:solidFill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23" name="خط مستقيم"/>
              <p:cNvSpPr>
                <a:spLocks/>
              </p:cNvSpPr>
              <p:nvPr/>
            </p:nvSpPr>
            <p:spPr>
              <a:xfrm rot="0">
                <a:off x="4513263" y="4054475"/>
                <a:ext cx="1506536" cy="1588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</p:grpSp>
        <p:sp>
          <p:nvSpPr>
            <p:cNvPr id="325" name="المستطيلات"/>
            <p:cNvSpPr>
              <a:spLocks/>
            </p:cNvSpPr>
            <p:nvPr/>
          </p:nvSpPr>
          <p:spPr>
            <a:xfrm rot="0">
              <a:off x="4578350" y="3786188"/>
              <a:ext cx="638174" cy="212725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free()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sp>
        <p:nvSpPr>
          <p:cNvPr id="327" name="خانة مستطيلة بحواف دائرية للشرح"/>
          <p:cNvSpPr>
            <a:spLocks/>
          </p:cNvSpPr>
          <p:nvPr/>
        </p:nvSpPr>
        <p:spPr>
          <a:xfrm rot="0">
            <a:off x="7493000" y="1905000"/>
            <a:ext cx="1270000" cy="609600"/>
          </a:xfrm>
          <a:prstGeom prst="wedgeRoundRectCallout">
            <a:avLst>
              <a:gd name="adj1" fmla="val -221499"/>
              <a:gd name="adj2" fmla="val 105467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Creation</a:t>
            </a:r>
            <a:endParaRPr lang="zh-CN" altLang="en-US" sz="1800" b="1" i="0" u="none" strike="noStrike" kern="1200" cap="none" spc="0" baseline="0">
              <a:solidFill>
                <a:srgbClr val="C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28" name="خانة مستطيلة بحواف دائرية للشرح"/>
          <p:cNvSpPr>
            <a:spLocks/>
          </p:cNvSpPr>
          <p:nvPr/>
        </p:nvSpPr>
        <p:spPr>
          <a:xfrm rot="0">
            <a:off x="6769100" y="3657600"/>
            <a:ext cx="1714500" cy="609600"/>
          </a:xfrm>
          <a:prstGeom prst="wedgeRoundRectCallout">
            <a:avLst>
              <a:gd name="adj1" fmla="val -82962"/>
              <a:gd name="adj2" fmla="val 82550"/>
              <a:gd name="adj3" fmla="val 16667"/>
            </a:avLst>
          </a:prstGeom>
          <a:solidFill>
            <a:schemeClr val="bg1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C00000"/>
                </a:solidFill>
                <a:latin typeface="Garamond" pitchFamily="0" charset="0"/>
                <a:ea typeface="方正舒体" pitchFamily="0" charset="0"/>
                <a:cs typeface="Garamond" pitchFamily="0" charset="0"/>
              </a:rPr>
              <a:t>Destruction</a:t>
            </a:r>
            <a:endParaRPr lang="zh-CN" altLang="en-US" sz="1800" b="1" i="0" u="none" strike="noStrike" kern="1200" cap="none" spc="0" baseline="0">
              <a:solidFill>
                <a:srgbClr val="C00000"/>
              </a:solidFill>
              <a:latin typeface="Garamond" pitchFamily="0" charset="0"/>
              <a:ea typeface="方正舒体" pitchFamily="0" charset="0"/>
              <a:cs typeface="Garamond" pitchFamily="0" charset="0"/>
            </a:endParaRPr>
          </a:p>
        </p:txBody>
      </p:sp>
      <p:grpSp>
        <p:nvGrpSpPr>
          <p:cNvPr id="333" name="تجميع"/>
          <p:cNvGrpSpPr>
            <a:grpSpLocks/>
          </p:cNvGrpSpPr>
          <p:nvPr/>
        </p:nvGrpSpPr>
        <p:grpSpPr>
          <a:xfrm>
            <a:off x="4513263" y="3252787"/>
            <a:ext cx="1738311" cy="611187"/>
            <a:chOff x="4513263" y="3252787"/>
            <a:chExt cx="1738311" cy="611187"/>
          </a:xfrm>
        </p:grpSpPr>
        <p:grpSp>
          <p:nvGrpSpPr>
            <p:cNvPr id="331" name="تجميع"/>
            <p:cNvGrpSpPr>
              <a:grpSpLocks/>
            </p:cNvGrpSpPr>
            <p:nvPr/>
          </p:nvGrpSpPr>
          <p:grpSpPr>
            <a:xfrm>
              <a:off x="4513263" y="3482975"/>
              <a:ext cx="1738311" cy="381000"/>
              <a:chOff x="4513263" y="3482975"/>
              <a:chExt cx="1738311" cy="381000"/>
            </a:xfrm>
          </p:grpSpPr>
          <p:sp>
            <p:nvSpPr>
              <p:cNvPr id="329" name="المستطيلات"/>
              <p:cNvSpPr>
                <a:spLocks/>
              </p:cNvSpPr>
              <p:nvPr/>
            </p:nvSpPr>
            <p:spPr>
              <a:xfrm rot="0">
                <a:off x="6046787" y="3486150"/>
                <a:ext cx="204787" cy="377824"/>
              </a:xfrm>
              <a:prstGeom prst="rect"/>
              <a:solidFill>
                <a:schemeClr val="bg1"/>
              </a:solidFill>
              <a:ln w="17463" cmpd="sng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30" name="خط مستقيم"/>
              <p:cNvSpPr>
                <a:spLocks/>
              </p:cNvSpPr>
              <p:nvPr/>
            </p:nvSpPr>
            <p:spPr>
              <a:xfrm rot="0">
                <a:off x="4513263" y="3482975"/>
                <a:ext cx="1506536" cy="1587"/>
              </a:xfrm>
              <a:prstGeom prst="line"/>
              <a:noFill/>
              <a:ln w="17463" cmpd="sng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</p:spPr>
          </p:sp>
        </p:grpSp>
        <p:sp>
          <p:nvSpPr>
            <p:cNvPr id="332" name="المستطيلات"/>
            <p:cNvSpPr>
              <a:spLocks/>
            </p:cNvSpPr>
            <p:nvPr/>
          </p:nvSpPr>
          <p:spPr>
            <a:xfrm rot="0">
              <a:off x="4578350" y="3252787"/>
              <a:ext cx="744536" cy="212724"/>
            </a:xfrm>
            <a:prstGeom prst="rect"/>
            <a:noFill/>
            <a:ln w="12700" cmpd="sng" cap="flat">
              <a:noFill/>
              <a:prstDash val="solid"/>
              <a:round/>
            </a:ln>
          </p:spPr>
          <p:txBody>
            <a:bodyPr vert="horz" wrap="non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0" i="0" u="none" strike="noStrike" kern="1200" cap="none" spc="0" baseline="0">
                  <a:solidFill>
                    <a:srgbClr val="000000"/>
                  </a:solidFill>
                  <a:latin typeface="Courier" pitchFamily="0" charset="0"/>
                  <a:ea typeface="方正舒体" pitchFamily="0" charset="0"/>
                  <a:cs typeface="Garamond" pitchFamily="0" charset="0"/>
                </a:rPr>
                <a:t>print()</a:t>
              </a:r>
              <a:endParaRPr lang="zh-CN" altLang="en-US" sz="1800" b="0" i="0" u="none" strike="noStrike" kern="1200" cap="none" spc="0" baseline="0">
                <a:solidFill>
                  <a:schemeClr val="tx1"/>
                </a:solidFill>
                <a:latin typeface="Garamond" pitchFamily="0" charset="0"/>
                <a:ea typeface="方正舒体" pitchFamily="0" charset="0"/>
                <a:cs typeface="Garamond" pitchFamily="0" charset="0"/>
              </a:endParaRPr>
            </a:p>
          </p:txBody>
        </p:sp>
      </p:grpSp>
      <p:grpSp>
        <p:nvGrpSpPr>
          <p:cNvPr id="336" name="تجميع"/>
          <p:cNvGrpSpPr>
            <a:grpSpLocks/>
          </p:cNvGrpSpPr>
          <p:nvPr/>
        </p:nvGrpSpPr>
        <p:grpSpPr>
          <a:xfrm>
            <a:off x="6007100" y="4318000"/>
            <a:ext cx="292099" cy="292100"/>
            <a:chOff x="6007100" y="4318000"/>
            <a:chExt cx="292099" cy="292100"/>
          </a:xfrm>
        </p:grpSpPr>
        <p:sp>
          <p:nvSpPr>
            <p:cNvPr id="334" name="خط مستقيم"/>
            <p:cNvSpPr>
              <a:spLocks/>
            </p:cNvSpPr>
            <p:nvPr/>
          </p:nvSpPr>
          <p:spPr>
            <a:xfrm flipV="1" rot="0">
              <a:off x="6007100" y="4318000"/>
              <a:ext cx="292099" cy="292100"/>
            </a:xfrm>
            <a:prstGeom prst="line"/>
            <a:noFill/>
            <a:ln w="28575" cmpd="sng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5" name="خط مستقيم"/>
            <p:cNvSpPr>
              <a:spLocks/>
            </p:cNvSpPr>
            <p:nvPr/>
          </p:nvSpPr>
          <p:spPr>
            <a:xfrm flipH="1" flipV="1" rot="0">
              <a:off x="6007100" y="4318000"/>
              <a:ext cx="292099" cy="292100"/>
            </a:xfrm>
            <a:prstGeom prst="line"/>
            <a:noFill/>
            <a:ln w="28575" cmpd="sng" cap="flat">
              <a:solidFill>
                <a:srgbClr val="000000"/>
              </a:solidFill>
              <a:prstDash val="solid"/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116216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" grpId="0" animBg="1"/>
      <p:bldP spid="327" grpId="0" animBg="1"/>
      <p:bldP spid="333" grpId="0" animBg="1"/>
      <p:bldP spid="326" grpId="0" animBg="1"/>
      <p:bldP spid="336" grpId="0" animBg="1"/>
      <p:bldP spid="328" grpId="0" animBg="1"/>
    </p:bldLst>
  </p:timing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blipFill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المستطيلات"/>
          <p:cNvSpPr>
            <a:spLocks/>
          </p:cNvSpPr>
          <p:nvPr/>
        </p:nvSpPr>
        <p:spPr>
          <a:xfrm rot="0">
            <a:off x="1600200" y="381000"/>
            <a:ext cx="7772400" cy="762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0487" tIns="44450" rIns="90487" bIns="44450" anchor="ctr" anchorCtr="0">
            <a:prstTxWarp prst="textNoShape"/>
          </a:bodyPr>
          <a:lstStyle/>
          <a:p>
            <a:pPr marL="0" indent="0" algn="l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1" u="none" strike="noStrike" kern="1200" cap="none" spc="0" baseline="0">
                <a:solidFill>
                  <a:srgbClr val="000000"/>
                </a:solidFill>
                <a:latin typeface="Times" pitchFamily="18" charset="0"/>
                <a:ea typeface="方正舒体" pitchFamily="0" charset="0"/>
                <a:cs typeface="Garamond" pitchFamily="0" charset="0"/>
              </a:rPr>
              <a:t>State Chart Diagrams</a:t>
            </a:r>
            <a:endParaRPr lang="zh-CN" altLang="en-US" sz="2800" b="1" i="1" u="none" strike="noStrike" kern="1200" cap="none" spc="0" baseline="0">
              <a:solidFill>
                <a:srgbClr val="000000"/>
              </a:solidFill>
              <a:latin typeface="Times" pitchFamily="18" charset="0"/>
              <a:ea typeface="方正舒体" pitchFamily="0" charset="0"/>
              <a:cs typeface="Garamond" pitchFamily="0" charset="0"/>
            </a:endParaRPr>
          </a:p>
        </p:txBody>
      </p:sp>
      <p:pic>
        <p:nvPicPr>
          <p:cNvPr id="338" name="الصور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992313" y="1498600"/>
            <a:ext cx="6808787" cy="4921250"/>
          </a:xfrm>
          <a:prstGeom prst="rect"/>
          <a:noFill/>
          <a:ln w="12700" cmpd="sng" cap="flat">
            <a:noFill/>
            <a:prstDash val="solid"/>
            <a:round/>
          </a:ln>
        </p:spPr>
      </p:pic>
      <p:sp>
        <p:nvSpPr>
          <p:cNvPr id="339" name="خانة مستطيلة بحواف دائرية للشرح"/>
          <p:cNvSpPr>
            <a:spLocks/>
          </p:cNvSpPr>
          <p:nvPr/>
        </p:nvSpPr>
        <p:spPr>
          <a:xfrm rot="0">
            <a:off x="8648700" y="965199"/>
            <a:ext cx="914400" cy="609600"/>
          </a:xfrm>
          <a:prstGeom prst="wedgeRoundRectCallout">
            <a:avLst>
              <a:gd name="adj1" fmla="val -84027"/>
              <a:gd name="adj2" fmla="val 124217"/>
              <a:gd name="adj3" fmla="val 16667"/>
            </a:avLst>
          </a:prstGeom>
          <a:solidFill>
            <a:srgbClr val="FFFFFF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ctr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0000"/>
                </a:solidFill>
                <a:latin typeface="Helvetica" pitchFamily="34" charset="0"/>
                <a:ea typeface="方正舒体" pitchFamily="0" charset="0"/>
                <a:cs typeface="Garamond" pitchFamily="0" charset="0"/>
              </a:rPr>
              <a:t>State</a:t>
            </a:r>
            <a:endParaRPr lang="zh-CN" altLang="en-US" sz="2400" b="0" i="0" u="none" strike="noStrike" kern="0" cap="none" spc="0" baseline="0">
              <a:solidFill>
                <a:srgbClr val="FF0000"/>
              </a:solidFill>
              <a:latin typeface="Helvetica" pitchFamily="34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40" name="خانة مستطيلة بحواف دائرية للشرح"/>
          <p:cNvSpPr>
            <a:spLocks/>
          </p:cNvSpPr>
          <p:nvPr/>
        </p:nvSpPr>
        <p:spPr>
          <a:xfrm rot="0">
            <a:off x="5537200" y="1028700"/>
            <a:ext cx="1524000" cy="609600"/>
          </a:xfrm>
          <a:prstGeom prst="wedgeRoundRectCallout">
            <a:avLst>
              <a:gd name="adj1" fmla="val -93750"/>
              <a:gd name="adj2" fmla="val 53379"/>
              <a:gd name="adj3" fmla="val 16667"/>
            </a:avLst>
          </a:prstGeom>
          <a:solidFill>
            <a:srgbClr val="FFFFFF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ctr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0000"/>
                </a:solidFill>
                <a:latin typeface="Helvetica" pitchFamily="34" charset="0"/>
                <a:ea typeface="方正舒体" pitchFamily="0" charset="0"/>
                <a:cs typeface="Garamond" pitchFamily="0" charset="0"/>
              </a:rPr>
              <a:t>Initial state</a:t>
            </a:r>
            <a:endParaRPr lang="zh-CN" altLang="en-US" sz="2400" b="0" i="0" u="none" strike="noStrike" kern="0" cap="none" spc="0" baseline="0">
              <a:solidFill>
                <a:srgbClr val="FF0000"/>
              </a:solidFill>
              <a:latin typeface="Helvetica" pitchFamily="34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41" name="خانة مستطيلة بحواف دائرية للشرح"/>
          <p:cNvSpPr>
            <a:spLocks/>
          </p:cNvSpPr>
          <p:nvPr/>
        </p:nvSpPr>
        <p:spPr>
          <a:xfrm rot="0">
            <a:off x="4648200" y="5613400"/>
            <a:ext cx="1600200" cy="609600"/>
          </a:xfrm>
          <a:prstGeom prst="wedgeRoundRectCallout">
            <a:avLst>
              <a:gd name="adj1" fmla="val -94842"/>
              <a:gd name="adj2" fmla="val 24217"/>
              <a:gd name="adj3" fmla="val 16667"/>
            </a:avLst>
          </a:prstGeom>
          <a:solidFill>
            <a:srgbClr val="FFFFFF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ctr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0000"/>
                </a:solidFill>
                <a:latin typeface="Helvetica" pitchFamily="34" charset="0"/>
                <a:ea typeface="方正舒体" pitchFamily="0" charset="0"/>
                <a:cs typeface="Garamond" pitchFamily="0" charset="0"/>
              </a:rPr>
              <a:t>Final state</a:t>
            </a:r>
            <a:endParaRPr lang="zh-CN" altLang="en-US" sz="2400" b="0" i="0" u="none" strike="noStrike" kern="0" cap="none" spc="0" baseline="0">
              <a:solidFill>
                <a:srgbClr val="FF0000"/>
              </a:solidFill>
              <a:latin typeface="Helvetica" pitchFamily="34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42" name="خانة مستطيلة بحواف دائرية للشرح"/>
          <p:cNvSpPr>
            <a:spLocks/>
          </p:cNvSpPr>
          <p:nvPr/>
        </p:nvSpPr>
        <p:spPr>
          <a:xfrm rot="0">
            <a:off x="2819400" y="2349500"/>
            <a:ext cx="1358899" cy="609600"/>
          </a:xfrm>
          <a:prstGeom prst="wedgeRoundRectCallout">
            <a:avLst>
              <a:gd name="adj1" fmla="val -90652"/>
              <a:gd name="adj2" fmla="val 11717"/>
              <a:gd name="adj3" fmla="val 16667"/>
            </a:avLst>
          </a:prstGeom>
          <a:solidFill>
            <a:srgbClr val="FFFFFF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ctr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0000"/>
                </a:solidFill>
                <a:latin typeface="Helvetica" pitchFamily="34" charset="0"/>
                <a:ea typeface="方正舒体" pitchFamily="0" charset="0"/>
                <a:cs typeface="Garamond" pitchFamily="0" charset="0"/>
              </a:rPr>
              <a:t>Transition</a:t>
            </a:r>
            <a:endParaRPr lang="zh-CN" altLang="en-US" sz="2400" b="0" i="0" u="none" strike="noStrike" kern="0" cap="none" spc="0" baseline="0">
              <a:solidFill>
                <a:srgbClr val="FF0000"/>
              </a:solidFill>
              <a:latin typeface="Helvetica" pitchFamily="34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43" name="خانة مستطيلة بحواف دائرية للشرح"/>
          <p:cNvSpPr>
            <a:spLocks/>
          </p:cNvSpPr>
          <p:nvPr/>
        </p:nvSpPr>
        <p:spPr>
          <a:xfrm rot="0">
            <a:off x="1371600" y="1104900"/>
            <a:ext cx="914400" cy="609600"/>
          </a:xfrm>
          <a:prstGeom prst="wedgeRoundRectCallout">
            <a:avLst>
              <a:gd name="adj1" fmla="val 128467"/>
              <a:gd name="adj2" fmla="val 107550"/>
              <a:gd name="adj3" fmla="val 16667"/>
            </a:avLst>
          </a:prstGeom>
          <a:solidFill>
            <a:srgbClr val="FFFFFF"/>
          </a:solidFill>
          <a:ln w="9525" cmpd="sng" cap="flat">
            <a:solidFill>
              <a:srgbClr val="000000"/>
            </a:solidFill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ctr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0" cap="none" spc="0" baseline="0">
                <a:solidFill>
                  <a:srgbClr val="FF0000"/>
                </a:solidFill>
                <a:latin typeface="Helvetica" pitchFamily="34" charset="0"/>
                <a:ea typeface="方正舒体" pitchFamily="0" charset="0"/>
                <a:cs typeface="Garamond" pitchFamily="0" charset="0"/>
              </a:rPr>
              <a:t>Event</a:t>
            </a:r>
            <a:endParaRPr lang="zh-CN" altLang="en-US" sz="2400" b="0" i="0" u="none" strike="noStrike" kern="0" cap="none" spc="0" baseline="0">
              <a:solidFill>
                <a:srgbClr val="FF0000"/>
              </a:solidFill>
              <a:latin typeface="Helvetica" pitchFamily="34" charset="0"/>
              <a:ea typeface="方正舒体" pitchFamily="0" charset="0"/>
              <a:cs typeface="Garamond" pitchFamily="0" charset="0"/>
            </a:endParaRPr>
          </a:p>
        </p:txBody>
      </p:sp>
      <p:sp>
        <p:nvSpPr>
          <p:cNvPr id="344" name="المستطيلات"/>
          <p:cNvSpPr>
            <a:spLocks/>
          </p:cNvSpPr>
          <p:nvPr/>
        </p:nvSpPr>
        <p:spPr>
          <a:xfrm rot="0">
            <a:off x="3267075" y="6413500"/>
            <a:ext cx="6219825" cy="45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/>
            <a:spAutoFit/>
          </a:bodyPr>
          <a:lstStyle/>
          <a:p>
            <a:pPr marL="0" indent="0" algn="ctr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0000"/>
                </a:solidFill>
                <a:latin typeface="Helvetica" pitchFamily="34" charset="0"/>
                <a:ea typeface="方正舒体" pitchFamily="0" charset="0"/>
                <a:cs typeface="Garamond" pitchFamily="0" charset="0"/>
              </a:rPr>
              <a:t>Represent behavior as states and transitions</a:t>
            </a:r>
            <a:endParaRPr lang="zh-CN" altLang="en-US" sz="2400" b="0" i="0" u="none" strike="noStrike" kern="1200" cap="none" spc="0" baseline="0">
              <a:solidFill>
                <a:srgbClr val="000000"/>
              </a:solidFill>
              <a:latin typeface="Helvetica" pitchFamily="34" charset="0"/>
              <a:ea typeface="方正舒体" pitchFamily="0" charset="0"/>
              <a:cs typeface="Garamon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5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" grpId="0" animBg="1"/>
      <p:bldP spid="339" grpId="0" animBg="1"/>
      <p:bldP spid="343" grpId="0" animBg="1"/>
      <p:bldP spid="342" grpId="0" animBg="1"/>
      <p:bldP spid="341" grpId="0" animBg="1"/>
    </p:bldLst>
  </p:timing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rganic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1507</TotalTime>
  <Application>Honor_Office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HP</dc:creator>
  <dc:description>generated using python-pptx</dc:description>
  <cp:lastModifiedBy>HONOR Docs</cp:lastModifiedBy>
  <cp:revision>9</cp:revision>
  <dcterms:created xsi:type="dcterms:W3CDTF">2013-01-27T09:14:16Z</dcterms:created>
  <dcterms:modified xsi:type="dcterms:W3CDTF">2026-02-28T12:02:09Z</dcterms:modified>
</cp:coreProperties>
</file>