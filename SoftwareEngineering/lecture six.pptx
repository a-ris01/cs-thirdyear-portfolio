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65" r:id="rId3"/>
    <p:sldId id="266" r:id="rId4"/>
    <p:sldId id="272" r:id="rId5"/>
    <p:sldId id="270" r:id="rId6"/>
    <p:sldId id="269" r:id="rId7"/>
    <p:sldId id="267" r:id="rId8"/>
    <p:sldId id="268" r:id="rId9"/>
    <p:sldId id="271" r:id="rId10"/>
    <p:sldId id="273" r:id="rId11"/>
    <p:sldId id="274" r:id="rId12"/>
    <p:sldId id="27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5196" autoAdjust="0"/>
  </p:normalViewPr>
  <p:slideViewPr>
    <p:cSldViewPr>
      <p:cViewPr varScale="1">
        <p:scale>
          <a:sx n="81" d="100"/>
          <a:sy n="81" d="100"/>
        </p:scale>
        <p:origin x="1498" y="62"/>
      </p:cViewPr>
      <p:guideLst>
        <p:guide orient="horz" pos="2160"/>
        <p:guide pos="2880"/>
      </p:guideLst>
    </p:cSldViewPr>
  </p:slideViewPr>
  <p:outlineViewPr>
    <p:cViewPr>
      <p:scale>
        <a:sx n="33" d="100"/>
        <a:sy n="33" d="100"/>
      </p:scale>
      <p:origin x="36" y="151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97B6B6-D21B-4259-BA12-D06AFC67BA27}" type="datetimeFigureOut">
              <a:rPr lang="en-GB" smtClean="0"/>
              <a:t>27/03/2026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F74D88-7073-480F-AD38-5EA98CD8D721}" type="slidenum">
              <a:rPr lang="en-GB" smtClean="0"/>
              <a:t>‹#›</a:t>
            </a:fld>
            <a:endParaRPr lang="en-GB"/>
          </a:p>
        </p:txBody>
      </p:sp>
    </p:spTree>
    <p:extLst>
      <p:ext uri="{BB962C8B-B14F-4D97-AF65-F5344CB8AC3E}">
        <p14:creationId xmlns:p14="http://schemas.microsoft.com/office/powerpoint/2010/main" val="3029200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F74D88-7073-480F-AD38-5EA98CD8D721}" type="slidenum">
              <a:rPr lang="en-GB" smtClean="0"/>
              <a:t>8</a:t>
            </a:fld>
            <a:endParaRPr lang="en-GB"/>
          </a:p>
        </p:txBody>
      </p:sp>
    </p:spTree>
    <p:extLst>
      <p:ext uri="{BB962C8B-B14F-4D97-AF65-F5344CB8AC3E}">
        <p14:creationId xmlns:p14="http://schemas.microsoft.com/office/powerpoint/2010/main" val="1574983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C1DA7B81-8CF7-45BC-81A8-61EFD6ECB7C8}" type="slidenum">
              <a:rPr lang="en-GB" smtClean="0"/>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5389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76494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75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7590B8-B934-4372-9EF6-5F277F270CDE}"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2845794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7590B8-B934-4372-9EF6-5F277F270CDE}" type="datetimeFigureOut">
              <a:rPr lang="en-GB" smtClean="0"/>
              <a:t>27/03/2026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DA7B81-8CF7-45BC-81A8-61EFD6ECB7C8}" type="slidenum">
              <a:rPr lang="en-GB" smtClean="0"/>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5861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7590B8-B934-4372-9EF6-5F277F270CDE}" type="datetimeFigureOut">
              <a:rPr lang="en-GB" smtClean="0"/>
              <a:t>27/03/2026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7897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7590B8-B934-4372-9EF6-5F277F270CDE}" type="datetimeFigureOut">
              <a:rPr lang="en-GB" smtClean="0"/>
              <a:t>27/03/2026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849422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7183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1185606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72122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184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4082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131176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5536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3767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88013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026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7590B8-B934-4372-9EF6-5F277F270CDE}" type="datetimeFigureOut">
              <a:rPr lang="en-GB" smtClean="0"/>
              <a:t>27/03/2026</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DA7B81-8CF7-45BC-81A8-61EFD6ECB7C8}" type="slidenum">
              <a:rPr lang="en-GB" smtClean="0"/>
              <a:t>‹#›</a:t>
            </a:fld>
            <a:endParaRPr lang="en-GB"/>
          </a:p>
        </p:txBody>
      </p:sp>
    </p:spTree>
    <p:extLst>
      <p:ext uri="{BB962C8B-B14F-4D97-AF65-F5344CB8AC3E}">
        <p14:creationId xmlns:p14="http://schemas.microsoft.com/office/powerpoint/2010/main" val="38467687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tryqa.com/what-is-waterfall-model-advantages-disadvantages-and-when-to-use-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Software Engineering</a:t>
            </a:r>
          </a:p>
        </p:txBody>
      </p:sp>
      <p:sp>
        <p:nvSpPr>
          <p:cNvPr id="3" name="Subtitle 2"/>
          <p:cNvSpPr>
            <a:spLocks noGrp="1"/>
          </p:cNvSpPr>
          <p:nvPr>
            <p:ph type="subTitle" idx="1"/>
          </p:nvPr>
        </p:nvSpPr>
        <p:spPr/>
        <p:txBody>
          <a:bodyPr/>
          <a:lstStyle/>
          <a:p>
            <a:r>
              <a:rPr lang="en-GB" dirty="0"/>
              <a:t>Lecture six</a:t>
            </a:r>
          </a:p>
        </p:txBody>
      </p:sp>
    </p:spTree>
    <p:extLst>
      <p:ext uri="{BB962C8B-B14F-4D97-AF65-F5344CB8AC3E}">
        <p14:creationId xmlns:p14="http://schemas.microsoft.com/office/powerpoint/2010/main" val="1141196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850106"/>
          </a:xfrm>
        </p:spPr>
        <p:txBody>
          <a:bodyPr>
            <a:normAutofit/>
          </a:bodyPr>
          <a:lstStyle/>
          <a:p>
            <a:r>
              <a:rPr lang="en-GB" sz="2400" b="1" dirty="0"/>
              <a:t>THE PROTOTYPING MODEL</a:t>
            </a:r>
          </a:p>
        </p:txBody>
      </p:sp>
      <p:sp>
        <p:nvSpPr>
          <p:cNvPr id="2" name="Content Placeholder 1"/>
          <p:cNvSpPr>
            <a:spLocks noGrp="1"/>
          </p:cNvSpPr>
          <p:nvPr>
            <p:ph idx="1"/>
          </p:nvPr>
        </p:nvSpPr>
        <p:spPr>
          <a:xfrm>
            <a:off x="467544" y="1124744"/>
            <a:ext cx="8229600" cy="5376672"/>
          </a:xfrm>
        </p:spPr>
        <p:txBody>
          <a:bodyPr>
            <a:normAutofit/>
          </a:bodyPr>
          <a:lstStyle/>
          <a:p>
            <a:pPr marL="109728" indent="0" algn="just">
              <a:buNone/>
            </a:pPr>
            <a:r>
              <a:rPr lang="en-GB" dirty="0">
                <a:latin typeface="Times New Roman" pitchFamily="18" charset="0"/>
                <a:cs typeface="Times New Roman" pitchFamily="18" charset="0"/>
              </a:rPr>
              <a:t>The prototyping paradigm begins with requirements gathering. Developer and customer meet and define the overall objectives for the software, identify whatever requirements are known, and outline areas where further definition is mandatory. A "quick design" then occurs. The quick design focuses on a representation of those aspects of the software that will be visible to the customer/user The quick design leads to the construction of a prototype. The prototype is evaluated by the customer/user and used to refine requirements for the software to be developed. Iteration occurs as the prototype is tuned to satisfy the needs of the customer, while at the same time enabling the developer to better understand what needs to be done.</a:t>
            </a:r>
          </a:p>
        </p:txBody>
      </p:sp>
    </p:spTree>
    <p:extLst>
      <p:ext uri="{BB962C8B-B14F-4D97-AF65-F5344CB8AC3E}">
        <p14:creationId xmlns:p14="http://schemas.microsoft.com/office/powerpoint/2010/main" val="2190336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5536" y="406272"/>
            <a:ext cx="7787208" cy="579318"/>
          </a:xfrm>
        </p:spPr>
        <p:txBody>
          <a:bodyPr>
            <a:normAutofit/>
          </a:bodyPr>
          <a:lstStyle/>
          <a:p>
            <a:pPr algn="ctr"/>
            <a:r>
              <a:rPr lang="en-GB" sz="2400" dirty="0"/>
              <a:t>The prototyping paradigm</a:t>
            </a:r>
          </a:p>
        </p:txBody>
      </p:sp>
      <p:pic>
        <p:nvPicPr>
          <p:cNvPr id="7" name="Picture 6">
            <a:extLst>
              <a:ext uri="{FF2B5EF4-FFF2-40B4-BE49-F238E27FC236}">
                <a16:creationId xmlns:a16="http://schemas.microsoft.com/office/drawing/2014/main" id="{DF8FB9B1-E037-E284-0900-7FCA90231B55}"/>
              </a:ext>
            </a:extLst>
          </p:cNvPr>
          <p:cNvPicPr>
            <a:picLocks noChangeAspect="1"/>
          </p:cNvPicPr>
          <p:nvPr/>
        </p:nvPicPr>
        <p:blipFill>
          <a:blip r:embed="rId2"/>
          <a:stretch>
            <a:fillRect/>
          </a:stretch>
        </p:blipFill>
        <p:spPr>
          <a:xfrm>
            <a:off x="395536" y="955036"/>
            <a:ext cx="8496944" cy="5642316"/>
          </a:xfrm>
          <a:prstGeom prst="rect">
            <a:avLst/>
          </a:prstGeom>
        </p:spPr>
      </p:pic>
    </p:spTree>
    <p:extLst>
      <p:ext uri="{BB962C8B-B14F-4D97-AF65-F5344CB8AC3E}">
        <p14:creationId xmlns:p14="http://schemas.microsoft.com/office/powerpoint/2010/main" val="199584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26984C-8CF4-9BB7-CE6B-C9237AF944C4}"/>
              </a:ext>
            </a:extLst>
          </p:cNvPr>
          <p:cNvSpPr>
            <a:spLocks noGrp="1"/>
          </p:cNvSpPr>
          <p:nvPr>
            <p:ph type="title"/>
          </p:nvPr>
        </p:nvSpPr>
        <p:spPr>
          <a:xfrm>
            <a:off x="107504" y="188640"/>
            <a:ext cx="8229600" cy="954360"/>
          </a:xfrm>
        </p:spPr>
        <p:txBody>
          <a:bodyPr>
            <a:normAutofit/>
          </a:bodyPr>
          <a:lstStyle/>
          <a:p>
            <a:r>
              <a:rPr lang="en-US" altLang="en-US" sz="3200" dirty="0">
                <a:solidFill>
                  <a:srgbClr val="242424"/>
                </a:solidFill>
                <a:latin typeface="Times New Roman" panose="02020603050405020304" pitchFamily="18" charset="0"/>
                <a:cs typeface="Times New Roman" panose="02020603050405020304" pitchFamily="18" charset="0"/>
              </a:rPr>
              <a:t>Stages of the Prototyping Model</a:t>
            </a:r>
            <a:endParaRPr lang="en-US" sz="3200" dirty="0">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D9B57373-1983-10DC-0665-CC507AC993F2}"/>
              </a:ext>
            </a:extLst>
          </p:cNvPr>
          <p:cNvSpPr>
            <a:spLocks noGrp="1"/>
          </p:cNvSpPr>
          <p:nvPr>
            <p:ph idx="1"/>
          </p:nvPr>
        </p:nvSpPr>
        <p:spPr>
          <a:xfrm>
            <a:off x="611560" y="908720"/>
            <a:ext cx="8064896" cy="5616624"/>
          </a:xfrm>
        </p:spPr>
        <p:txBody>
          <a:bodyPr>
            <a:normAutofit/>
          </a:bodyPr>
          <a:lstStyle/>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1. Requirement Gathering</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Only the basic requirements are collected to start building the initial prototype. Detailed requirements evolve as feedback is received.</a:t>
            </a:r>
            <a:endParaRPr lang="en-US" altLang="en-US" sz="2000" b="1" dirty="0">
              <a:solidFill>
                <a:srgbClr val="242424"/>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2. Quick Design</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A rough design is created for the prototype, focusing only on visible features and user interfaces, not the full architecture.</a:t>
            </a:r>
            <a:endParaRPr lang="en-US" altLang="en-US" sz="2000" b="1" dirty="0">
              <a:solidFill>
                <a:srgbClr val="242424"/>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3. Prototype Development</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The prototype is built using minimal functionality to simulate the expected behavior of the actual software.</a:t>
            </a:r>
            <a:endParaRPr lang="en-US" altLang="en-US" sz="2000" b="1" dirty="0">
              <a:solidFill>
                <a:srgbClr val="242424"/>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4. User Evaluation</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The client or end-users interact with the prototype and provide feedback on design, features, usability, etc.</a:t>
            </a:r>
            <a:endParaRPr lang="en-US" altLang="en-US" sz="2000" b="1" dirty="0">
              <a:solidFill>
                <a:srgbClr val="242424"/>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5. Refinement</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Based on user feedback, the prototype has been improved and tested again. This loop continues until the client is satisfied.</a:t>
            </a:r>
            <a:endParaRPr lang="en-US" altLang="en-US" sz="2000" b="1" dirty="0">
              <a:solidFill>
                <a:srgbClr val="242424"/>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pPr>
            <a:r>
              <a:rPr lang="en-US" altLang="en-US" sz="2000" b="1" dirty="0">
                <a:solidFill>
                  <a:srgbClr val="242424"/>
                </a:solidFill>
                <a:latin typeface="Times New Roman" panose="02020603050405020304" pitchFamily="18" charset="0"/>
                <a:cs typeface="Times New Roman" panose="02020603050405020304" pitchFamily="18" charset="0"/>
              </a:rPr>
              <a:t>6. Product Development</a:t>
            </a:r>
          </a:p>
          <a:p>
            <a:pPr marL="0" lvl="0" indent="0" algn="just" eaLnBrk="0" fontAlgn="base" hangingPunct="0">
              <a:spcBef>
                <a:spcPct val="0"/>
              </a:spcBef>
              <a:spcAft>
                <a:spcPct val="0"/>
              </a:spcAft>
              <a:buClrTx/>
              <a:buSzTx/>
              <a:buNone/>
            </a:pPr>
            <a:r>
              <a:rPr lang="en-US" altLang="en-US" sz="2000" dirty="0">
                <a:solidFill>
                  <a:srgbClr val="242424"/>
                </a:solidFill>
                <a:latin typeface="Times New Roman" panose="02020603050405020304" pitchFamily="18" charset="0"/>
                <a:cs typeface="Times New Roman" panose="02020603050405020304" pitchFamily="18" charset="0"/>
              </a:rPr>
              <a:t>Once the prototype is approved, the final </a:t>
            </a:r>
            <a:r>
              <a:rPr lang="en-US" altLang="en-US" sz="2000" dirty="0" err="1">
                <a:solidFill>
                  <a:srgbClr val="242424"/>
                </a:solidFill>
                <a:latin typeface="Times New Roman" panose="02020603050405020304" pitchFamily="18" charset="0"/>
                <a:cs typeface="Times New Roman" panose="02020603050405020304" pitchFamily="18" charset="0"/>
              </a:rPr>
              <a:t>prouct</a:t>
            </a:r>
            <a:r>
              <a:rPr lang="en-US" altLang="en-US" sz="2000" dirty="0">
                <a:solidFill>
                  <a:srgbClr val="242424"/>
                </a:solidFill>
                <a:latin typeface="Times New Roman" panose="02020603050405020304" pitchFamily="18" charset="0"/>
                <a:cs typeface="Times New Roman" panose="02020603050405020304" pitchFamily="18" charset="0"/>
              </a:rPr>
              <a:t> is developed from scratch using the clarified and validated requirements.</a:t>
            </a:r>
            <a:endParaRPr lang="en-US" altLang="en-US" sz="2000" dirty="0">
              <a:latin typeface="Times New Roman" panose="02020603050405020304" pitchFamily="18" charset="0"/>
              <a:cs typeface="Times New Roman" panose="02020603050405020304" pitchFamily="18" charset="0"/>
            </a:endParaRPr>
          </a:p>
          <a:p>
            <a:pPr algn="just"/>
            <a:endParaRPr lang="en-US" sz="2000" dirty="0"/>
          </a:p>
        </p:txBody>
      </p:sp>
    </p:spTree>
    <p:extLst>
      <p:ext uri="{BB962C8B-B14F-4D97-AF65-F5344CB8AC3E}">
        <p14:creationId xmlns:p14="http://schemas.microsoft.com/office/powerpoint/2010/main" val="2120323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476672"/>
            <a:ext cx="7920880" cy="5328592"/>
          </a:xfrm>
        </p:spPr>
        <p:txBody>
          <a:bodyPr>
            <a:noAutofit/>
          </a:bodyPr>
          <a:lstStyle/>
          <a:p>
            <a:pPr marL="0" indent="0" algn="just" eaLnBrk="0" fontAlgn="base" hangingPunct="0">
              <a:spcBef>
                <a:spcPct val="0"/>
              </a:spcBef>
              <a:spcAft>
                <a:spcPct val="0"/>
              </a:spcAft>
              <a:buClrTx/>
              <a:buSzTx/>
              <a:buNone/>
            </a:pPr>
            <a:r>
              <a:rPr lang="en-US" altLang="en-US" sz="2400" b="1" dirty="0">
                <a:solidFill>
                  <a:srgbClr val="FF0000"/>
                </a:solidFill>
                <a:latin typeface="Times New Roman" panose="02020603050405020304" pitchFamily="18" charset="0"/>
                <a:cs typeface="Times New Roman" panose="02020603050405020304" pitchFamily="18" charset="0"/>
              </a:rPr>
              <a:t>Advantages of the Prototype Model</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Improved User Involvement: </a:t>
            </a:r>
            <a:r>
              <a:rPr lang="en-US" altLang="en-US" sz="2200" dirty="0">
                <a:solidFill>
                  <a:srgbClr val="242424"/>
                </a:solidFill>
                <a:latin typeface="Times New Roman" panose="02020603050405020304" pitchFamily="18" charset="0"/>
                <a:cs typeface="Times New Roman" panose="02020603050405020304" pitchFamily="18" charset="0"/>
              </a:rPr>
              <a:t>Clients see early versions and help shape the final product.</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Better Requirement Clarity: </a:t>
            </a:r>
            <a:r>
              <a:rPr lang="en-US" altLang="en-US" sz="2200" dirty="0">
                <a:solidFill>
                  <a:srgbClr val="242424"/>
                </a:solidFill>
                <a:latin typeface="Times New Roman" panose="02020603050405020304" pitchFamily="18" charset="0"/>
                <a:cs typeface="Times New Roman" panose="02020603050405020304" pitchFamily="18" charset="0"/>
              </a:rPr>
              <a:t>Reduces misunderstandings and incomplete requirements.</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Early Problem Detection: </a:t>
            </a:r>
            <a:r>
              <a:rPr lang="en-US" altLang="en-US" sz="2200" dirty="0">
                <a:solidFill>
                  <a:srgbClr val="242424"/>
                </a:solidFill>
                <a:latin typeface="Times New Roman" panose="02020603050405020304" pitchFamily="18" charset="0"/>
                <a:cs typeface="Times New Roman" panose="02020603050405020304" pitchFamily="18" charset="0"/>
              </a:rPr>
              <a:t>Design and usability issues are caught early.</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Cost-effective Changes: </a:t>
            </a:r>
            <a:r>
              <a:rPr lang="en-US" altLang="en-US" sz="2200" dirty="0">
                <a:solidFill>
                  <a:srgbClr val="242424"/>
                </a:solidFill>
                <a:latin typeface="Times New Roman" panose="02020603050405020304" pitchFamily="18" charset="0"/>
                <a:cs typeface="Times New Roman" panose="02020603050405020304" pitchFamily="18" charset="0"/>
              </a:rPr>
              <a:t>Easier and cheaper to implement changes in the early stages.</a:t>
            </a:r>
          </a:p>
          <a:p>
            <a:pPr marL="0" indent="0" algn="just" eaLnBrk="0" fontAlgn="base" hangingPunct="0">
              <a:spcBef>
                <a:spcPct val="0"/>
              </a:spcBef>
              <a:spcAft>
                <a:spcPct val="0"/>
              </a:spcAft>
              <a:buClrTx/>
              <a:buSzTx/>
              <a:buNone/>
            </a:pPr>
            <a:endParaRPr lang="en-US" altLang="en-US" sz="2200" dirty="0">
              <a:solidFill>
                <a:srgbClr val="242424"/>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SzTx/>
              <a:buNone/>
            </a:pPr>
            <a:r>
              <a:rPr lang="en-US" altLang="en-US" sz="2400" b="1" dirty="0">
                <a:solidFill>
                  <a:srgbClr val="FF0000"/>
                </a:solidFill>
                <a:latin typeface="Times New Roman" panose="02020603050405020304" pitchFamily="18" charset="0"/>
                <a:cs typeface="Times New Roman" panose="02020603050405020304" pitchFamily="18" charset="0"/>
              </a:rPr>
              <a:t>❌ Disadvantages of the Prototype Model</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Increased Time and Cost: </a:t>
            </a:r>
            <a:r>
              <a:rPr lang="en-US" altLang="en-US" sz="2200" dirty="0">
                <a:solidFill>
                  <a:srgbClr val="242424"/>
                </a:solidFill>
                <a:latin typeface="Times New Roman" panose="02020603050405020304" pitchFamily="18" charset="0"/>
                <a:cs typeface="Times New Roman" panose="02020603050405020304" pitchFamily="18" charset="0"/>
              </a:rPr>
              <a:t>Building multiple prototypes may increase overall effort.</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Scope Creep: </a:t>
            </a:r>
            <a:r>
              <a:rPr lang="en-US" altLang="en-US" sz="2200" dirty="0">
                <a:solidFill>
                  <a:srgbClr val="242424"/>
                </a:solidFill>
                <a:latin typeface="Times New Roman" panose="02020603050405020304" pitchFamily="18" charset="0"/>
                <a:cs typeface="Times New Roman" panose="02020603050405020304" pitchFamily="18" charset="0"/>
              </a:rPr>
              <a:t>Users may demand more features than originally planned.</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Neglected Quality: </a:t>
            </a:r>
            <a:r>
              <a:rPr lang="en-US" altLang="en-US" sz="2200" dirty="0">
                <a:solidFill>
                  <a:srgbClr val="242424"/>
                </a:solidFill>
                <a:latin typeface="Times New Roman" panose="02020603050405020304" pitchFamily="18" charset="0"/>
                <a:cs typeface="Times New Roman" panose="02020603050405020304" pitchFamily="18" charset="0"/>
              </a:rPr>
              <a:t>Quick designs may overlook technical standards and performance.</a:t>
            </a:r>
          </a:p>
          <a:p>
            <a:pPr marL="0" indent="0" algn="just" eaLnBrk="0" fontAlgn="base" hangingPunct="0">
              <a:spcBef>
                <a:spcPct val="0"/>
              </a:spcBef>
              <a:spcAft>
                <a:spcPct val="0"/>
              </a:spcAft>
              <a:buClrTx/>
              <a:buSzTx/>
              <a:buNone/>
            </a:pPr>
            <a:r>
              <a:rPr lang="en-US" altLang="en-US" sz="2200" b="1" dirty="0">
                <a:solidFill>
                  <a:srgbClr val="242424"/>
                </a:solidFill>
                <a:latin typeface="Times New Roman" panose="02020603050405020304" pitchFamily="18" charset="0"/>
                <a:cs typeface="Times New Roman" panose="02020603050405020304" pitchFamily="18" charset="0"/>
              </a:rPr>
              <a:t>Misleading Functionalities: </a:t>
            </a:r>
            <a:r>
              <a:rPr lang="en-US" altLang="en-US" sz="2200" dirty="0">
                <a:solidFill>
                  <a:srgbClr val="242424"/>
                </a:solidFill>
                <a:latin typeface="Times New Roman" panose="02020603050405020304" pitchFamily="18" charset="0"/>
                <a:cs typeface="Times New Roman" panose="02020603050405020304" pitchFamily="18" charset="0"/>
              </a:rPr>
              <a:t>Users may assume the prototype is the final product, confusing.</a:t>
            </a:r>
          </a:p>
          <a:p>
            <a:pPr marL="0" lvl="0" indent="0" eaLnBrk="0" fontAlgn="base" hangingPunct="0">
              <a:spcBef>
                <a:spcPct val="0"/>
              </a:spcBef>
              <a:spcAft>
                <a:spcPct val="0"/>
              </a:spcAft>
              <a:buClrTx/>
              <a:buSzTx/>
              <a:buNone/>
            </a:pPr>
            <a:endParaRPr lang="en-GB" sz="2400" dirty="0">
              <a:latin typeface="Times New Roman" pitchFamily="18" charset="0"/>
              <a:cs typeface="Times New Roman" pitchFamily="18" charset="0"/>
            </a:endParaRPr>
          </a:p>
        </p:txBody>
      </p:sp>
    </p:spTree>
    <p:extLst>
      <p:ext uri="{BB962C8B-B14F-4D97-AF65-F5344CB8AC3E}">
        <p14:creationId xmlns:p14="http://schemas.microsoft.com/office/powerpoint/2010/main" val="1380361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GB" sz="3200" dirty="0">
                <a:latin typeface="Times New Roman" pitchFamily="18" charset="0"/>
                <a:cs typeface="Times New Roman" pitchFamily="18" charset="0"/>
              </a:rPr>
              <a:t>EVOLUTIONARY SOFTWARE PROCESS MODELS</a:t>
            </a:r>
            <a:endParaRPr lang="en-GB" sz="3200" dirty="0"/>
          </a:p>
        </p:txBody>
      </p:sp>
      <p:sp>
        <p:nvSpPr>
          <p:cNvPr id="2" name="Content Placeholder 1"/>
          <p:cNvSpPr>
            <a:spLocks noGrp="1"/>
          </p:cNvSpPr>
          <p:nvPr>
            <p:ph idx="1"/>
          </p:nvPr>
        </p:nvSpPr>
        <p:spPr/>
        <p:txBody>
          <a:bodyPr>
            <a:normAutofit fontScale="62500" lnSpcReduction="20000"/>
          </a:bodyPr>
          <a:lstStyle/>
          <a:p>
            <a:pPr marL="109728" indent="0" algn="just">
              <a:buNone/>
            </a:pPr>
            <a:r>
              <a:rPr lang="en-GB" sz="2800" dirty="0">
                <a:latin typeface="Times New Roman" pitchFamily="18" charset="0"/>
                <a:cs typeface="Times New Roman" pitchFamily="18" charset="0"/>
              </a:rPr>
              <a:t>Evolutionary models are iterative. They are characterized in a manner that enables software engineers to develop increasingly more complete versions of the software.</a:t>
            </a:r>
          </a:p>
          <a:p>
            <a:pPr marL="109728" indent="0" algn="just">
              <a:buNone/>
            </a:pPr>
            <a:endParaRPr lang="en-GB" sz="2800" dirty="0">
              <a:latin typeface="Times New Roman" pitchFamily="18" charset="0"/>
              <a:cs typeface="Times New Roman" pitchFamily="18" charset="0"/>
            </a:endParaRPr>
          </a:p>
          <a:p>
            <a:pPr marL="109728" indent="0" algn="just">
              <a:buNone/>
            </a:pPr>
            <a:r>
              <a:rPr lang="en-GB" sz="2800" dirty="0">
                <a:latin typeface="Times New Roman" pitchFamily="18" charset="0"/>
                <a:cs typeface="Times New Roman" pitchFamily="18" charset="0"/>
              </a:rPr>
              <a:t>1- </a:t>
            </a:r>
            <a:r>
              <a:rPr lang="en-GB" sz="2800" b="1" dirty="0">
                <a:latin typeface="Times New Roman" pitchFamily="18" charset="0"/>
                <a:cs typeface="Times New Roman" pitchFamily="18" charset="0"/>
              </a:rPr>
              <a:t>The Incremental Model</a:t>
            </a:r>
          </a:p>
          <a:p>
            <a:pPr marL="109728" indent="0" algn="just">
              <a:buNone/>
            </a:pPr>
            <a:r>
              <a:rPr lang="en-GB" sz="2800" dirty="0">
                <a:latin typeface="Times New Roman" pitchFamily="18" charset="0"/>
                <a:cs typeface="Times New Roman" pitchFamily="18" charset="0"/>
              </a:rPr>
              <a:t>The incremental model combines elements of the linear sequential model  with the iterative philosophy of prototyping.</a:t>
            </a:r>
          </a:p>
          <a:p>
            <a:pPr marL="109728" indent="0" algn="just">
              <a:buNone/>
            </a:pPr>
            <a:r>
              <a:rPr lang="en-GB" sz="2800" dirty="0">
                <a:latin typeface="Times New Roman" pitchFamily="18" charset="0"/>
                <a:cs typeface="Times New Roman" pitchFamily="18" charset="0"/>
              </a:rPr>
              <a:t>Incremental development is particularly useful when staffing is unavailable for a complete implementation by the business deadline that has been established for the project. Early increments can be implemented with fewer people. In addition, increments can be planned to manage technical risks.</a:t>
            </a:r>
          </a:p>
          <a:p>
            <a:pPr marL="109728" indent="0" algn="just">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12647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4102" y="476672"/>
            <a:ext cx="8229600" cy="418058"/>
          </a:xfrm>
        </p:spPr>
        <p:txBody>
          <a:bodyPr>
            <a:noAutofit/>
          </a:bodyPr>
          <a:lstStyle/>
          <a:p>
            <a:pPr algn="ctr"/>
            <a:r>
              <a:rPr lang="en-GB" sz="3200" dirty="0"/>
              <a:t>The Incremental Model</a:t>
            </a:r>
          </a:p>
        </p:txBody>
      </p:sp>
      <p:pic>
        <p:nvPicPr>
          <p:cNvPr id="4" name="Picture 2">
            <a:extLst>
              <a:ext uri="{FF2B5EF4-FFF2-40B4-BE49-F238E27FC236}">
                <a16:creationId xmlns:a16="http://schemas.microsoft.com/office/drawing/2014/main" id="{716F7198-386A-7466-001E-67F2060327B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124744"/>
            <a:ext cx="8517632" cy="5544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6938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476672"/>
            <a:ext cx="8208912" cy="5832648"/>
          </a:xfrm>
        </p:spPr>
        <p:txBody>
          <a:bodyPr>
            <a:normAutofit fontScale="92500" lnSpcReduction="20000"/>
          </a:bodyPr>
          <a:lstStyle/>
          <a:p>
            <a:pPr marL="109728" indent="0" algn="just">
              <a:buNone/>
            </a:pPr>
            <a:r>
              <a:rPr lang="en-GB" b="1" dirty="0">
                <a:latin typeface="Times New Roman" pitchFamily="18" charset="0"/>
                <a:cs typeface="Times New Roman" pitchFamily="18" charset="0"/>
              </a:rPr>
              <a:t>Advantages of Incremental model:</a:t>
            </a:r>
          </a:p>
          <a:p>
            <a:pPr algn="just"/>
            <a:r>
              <a:rPr lang="en-GB" dirty="0">
                <a:latin typeface="Times New Roman" pitchFamily="18" charset="0"/>
                <a:cs typeface="Times New Roman" pitchFamily="18" charset="0"/>
              </a:rPr>
              <a:t>Generates working software quickly and early during the software life cycle.</a:t>
            </a:r>
          </a:p>
          <a:p>
            <a:pPr algn="just"/>
            <a:r>
              <a:rPr lang="en-GB" dirty="0">
                <a:latin typeface="Times New Roman" pitchFamily="18" charset="0"/>
                <a:cs typeface="Times New Roman" pitchFamily="18" charset="0"/>
              </a:rPr>
              <a:t>This model is more flexible – less costly to change scope and requirements.</a:t>
            </a:r>
          </a:p>
          <a:p>
            <a:pPr algn="just"/>
            <a:r>
              <a:rPr lang="en-GB" dirty="0">
                <a:latin typeface="Times New Roman" pitchFamily="18" charset="0"/>
                <a:cs typeface="Times New Roman" pitchFamily="18" charset="0"/>
              </a:rPr>
              <a:t>It is easier to test and debug during a smaller iteration.</a:t>
            </a:r>
          </a:p>
          <a:p>
            <a:pPr algn="just"/>
            <a:r>
              <a:rPr lang="en-GB" dirty="0">
                <a:latin typeface="Times New Roman" pitchFamily="18" charset="0"/>
                <a:cs typeface="Times New Roman" pitchFamily="18" charset="0"/>
              </a:rPr>
              <a:t>In this model customer can respond to each built.</a:t>
            </a:r>
          </a:p>
          <a:p>
            <a:pPr algn="just"/>
            <a:r>
              <a:rPr lang="en-GB" dirty="0">
                <a:latin typeface="Times New Roman" pitchFamily="18" charset="0"/>
                <a:cs typeface="Times New Roman" pitchFamily="18" charset="0"/>
              </a:rPr>
              <a:t>Lowers initial delivery cost.</a:t>
            </a:r>
          </a:p>
          <a:p>
            <a:pPr algn="just"/>
            <a:r>
              <a:rPr lang="en-GB" dirty="0">
                <a:latin typeface="Times New Roman" pitchFamily="18" charset="0"/>
                <a:cs typeface="Times New Roman" pitchFamily="18" charset="0"/>
              </a:rPr>
              <a:t>Easier to manage risk because risky pieces are identified and handled during it’d iteration.</a:t>
            </a:r>
          </a:p>
          <a:p>
            <a:pPr marL="109728" indent="0" algn="just">
              <a:buNone/>
            </a:pPr>
            <a:r>
              <a:rPr lang="en-GB" b="1" dirty="0">
                <a:latin typeface="Times New Roman" pitchFamily="18" charset="0"/>
                <a:cs typeface="Times New Roman" pitchFamily="18" charset="0"/>
              </a:rPr>
              <a:t>Disadvantages of Incremental model:</a:t>
            </a:r>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Needs good planning and design.</a:t>
            </a:r>
          </a:p>
          <a:p>
            <a:pPr algn="just"/>
            <a:r>
              <a:rPr lang="en-GB" dirty="0">
                <a:latin typeface="Times New Roman" pitchFamily="18" charset="0"/>
                <a:cs typeface="Times New Roman" pitchFamily="18" charset="0"/>
              </a:rPr>
              <a:t>Needs a clear and complete definition of the whole system before it can be broken down and built incrementally.</a:t>
            </a:r>
          </a:p>
          <a:p>
            <a:pPr algn="just"/>
            <a:r>
              <a:rPr lang="en-GB" dirty="0">
                <a:latin typeface="Times New Roman" pitchFamily="18" charset="0"/>
                <a:cs typeface="Times New Roman" pitchFamily="18" charset="0"/>
              </a:rPr>
              <a:t>Total cost is higher than </a:t>
            </a:r>
            <a:r>
              <a:rPr lang="en-GB" u="sng" dirty="0">
                <a:solidFill>
                  <a:srgbClr val="FF0000"/>
                </a:solidFill>
                <a:latin typeface="Times New Roman" pitchFamily="18" charset="0"/>
                <a:cs typeface="Times New Roman" pitchFamily="18" charset="0"/>
                <a:hlinkClick r:id="rId3" tooltip="What is Waterfall model- advantages, disadvantages and when to use it?">
                  <a:extLst>
                    <a:ext uri="{A12FA001-AC4F-418D-AE19-62706E023703}">
                      <ahyp:hlinkClr xmlns:ahyp="http://schemas.microsoft.com/office/drawing/2018/hyperlinkcolor" val="tx"/>
                    </a:ext>
                  </a:extLst>
                </a:hlinkClick>
              </a:rPr>
              <a:t>waterfall</a:t>
            </a:r>
            <a:r>
              <a:rPr lang="en-GB" dirty="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603194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552" y="548680"/>
            <a:ext cx="7956376" cy="6309320"/>
          </a:xfrm>
        </p:spPr>
        <p:txBody>
          <a:bodyPr>
            <a:noAutofit/>
          </a:bodyPr>
          <a:lstStyle/>
          <a:p>
            <a:pPr marL="109728" indent="0" algn="just">
              <a:buNone/>
            </a:pPr>
            <a:r>
              <a:rPr lang="en-US" b="1" dirty="0">
                <a:latin typeface="Times New Roman" panose="02020603050405020304" pitchFamily="18" charset="0"/>
                <a:cs typeface="Times New Roman" panose="02020603050405020304" pitchFamily="18" charset="0"/>
              </a:rPr>
              <a:t>2-The Agile model</a:t>
            </a:r>
          </a:p>
          <a:p>
            <a:pPr marL="109728" indent="0" algn="just">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Agile model in software engineering is an iterative and incremental approach that focuses on flexibility, continuous delivery, and customer collaboration to produce high-quality software quickly. It breaks projects into small, manageable cycles (iterations) that allow teams to adapt to changing requirements promptly, rather than relying on strict, upfront planning</a:t>
            </a:r>
            <a:endParaRPr lang="en-GB" dirty="0">
              <a:latin typeface="Times New Roman" panose="02020603050405020304" pitchFamily="18" charset="0"/>
              <a:cs typeface="Times New Roman" pitchFamily="18" charset="0"/>
            </a:endParaRPr>
          </a:p>
        </p:txBody>
      </p:sp>
      <p:pic>
        <p:nvPicPr>
          <p:cNvPr id="3" name="Picture 2">
            <a:extLst>
              <a:ext uri="{FF2B5EF4-FFF2-40B4-BE49-F238E27FC236}">
                <a16:creationId xmlns:a16="http://schemas.microsoft.com/office/drawing/2014/main" id="{E397B49A-9531-C594-458F-AF484D754738}"/>
              </a:ext>
            </a:extLst>
          </p:cNvPr>
          <p:cNvPicPr>
            <a:picLocks noChangeAspect="1"/>
          </p:cNvPicPr>
          <p:nvPr/>
        </p:nvPicPr>
        <p:blipFill>
          <a:blip r:embed="rId2"/>
          <a:stretch>
            <a:fillRect/>
          </a:stretch>
        </p:blipFill>
        <p:spPr>
          <a:xfrm>
            <a:off x="1259632" y="3573017"/>
            <a:ext cx="7236296" cy="2687978"/>
          </a:xfrm>
          <a:prstGeom prst="rect">
            <a:avLst/>
          </a:prstGeom>
        </p:spPr>
      </p:pic>
    </p:spTree>
    <p:extLst>
      <p:ext uri="{BB962C8B-B14F-4D97-AF65-F5344CB8AC3E}">
        <p14:creationId xmlns:p14="http://schemas.microsoft.com/office/powerpoint/2010/main" val="931741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CDE8EF-48D4-4940-3F80-42827ADDB74D}"/>
              </a:ext>
            </a:extLst>
          </p:cNvPr>
          <p:cNvSpPr>
            <a:spLocks noGrp="1"/>
          </p:cNvSpPr>
          <p:nvPr>
            <p:ph idx="1"/>
          </p:nvPr>
        </p:nvSpPr>
        <p:spPr>
          <a:xfrm>
            <a:off x="611560" y="764704"/>
            <a:ext cx="7992888" cy="3877891"/>
          </a:xfrm>
        </p:spPr>
        <p:txBody>
          <a:bodyPr>
            <a:noAutofit/>
          </a:bodyPr>
          <a:lstStyle/>
          <a:p>
            <a:pPr marL="109728" indent="0">
              <a:buNone/>
            </a:pPr>
            <a:r>
              <a:rPr lang="en-US" sz="2400" b="1" dirty="0">
                <a:latin typeface="Times New Roman" panose="02020603050405020304" pitchFamily="18" charset="0"/>
                <a:cs typeface="Times New Roman" panose="02020603050405020304" pitchFamily="18" charset="0"/>
              </a:rPr>
              <a:t>Key Aspects of Agile Model:</a:t>
            </a:r>
          </a:p>
          <a:p>
            <a:pPr marL="109728" indent="0">
              <a:buNone/>
            </a:pPr>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Iterative &amp; Incremental</a:t>
            </a:r>
            <a:r>
              <a:rPr lang="en-US" sz="2400" dirty="0">
                <a:latin typeface="Times New Roman" panose="02020603050405020304" pitchFamily="18" charset="0"/>
                <a:cs typeface="Times New Roman" panose="02020603050405020304" pitchFamily="18" charset="0"/>
              </a:rPr>
              <a:t>: Software is developed in small, functional releases (iterations).</a:t>
            </a:r>
          </a:p>
          <a:p>
            <a:pPr algn="just"/>
            <a:r>
              <a:rPr lang="en-US" sz="2400" b="1" dirty="0">
                <a:latin typeface="Times New Roman" panose="02020603050405020304" pitchFamily="18" charset="0"/>
                <a:cs typeface="Times New Roman" panose="02020603050405020304" pitchFamily="18" charset="0"/>
              </a:rPr>
              <a:t>Customer Collaboration</a:t>
            </a:r>
            <a:r>
              <a:rPr lang="en-US" sz="2400" dirty="0">
                <a:latin typeface="Times New Roman" panose="02020603050405020304" pitchFamily="18" charset="0"/>
                <a:cs typeface="Times New Roman" panose="02020603050405020304" pitchFamily="18" charset="0"/>
              </a:rPr>
              <a:t>: Active customer involvement ensures the product meets evolving needs.</a:t>
            </a:r>
          </a:p>
          <a:p>
            <a:pPr algn="just"/>
            <a:r>
              <a:rPr lang="en-US" sz="2400" b="1" dirty="0">
                <a:latin typeface="Times New Roman" panose="02020603050405020304" pitchFamily="18" charset="0"/>
                <a:cs typeface="Times New Roman" panose="02020603050405020304" pitchFamily="18" charset="0"/>
              </a:rPr>
              <a:t>Flexibility</a:t>
            </a:r>
            <a:r>
              <a:rPr lang="en-US" sz="2400" dirty="0">
                <a:latin typeface="Times New Roman" panose="02020603050405020304" pitchFamily="18" charset="0"/>
                <a:cs typeface="Times New Roman" panose="02020603050405020304" pitchFamily="18" charset="0"/>
              </a:rPr>
              <a:t>: Changes are welcome at any stage, even in late development.</a:t>
            </a:r>
          </a:p>
          <a:p>
            <a:pPr algn="just"/>
            <a:r>
              <a:rPr lang="en-US" sz="2400" b="1" dirty="0">
                <a:latin typeface="Times New Roman" panose="02020603050405020304" pitchFamily="18" charset="0"/>
                <a:cs typeface="Times New Roman" panose="02020603050405020304" pitchFamily="18" charset="0"/>
              </a:rPr>
              <a:t>Core Principles</a:t>
            </a:r>
            <a:r>
              <a:rPr lang="en-US" sz="2400" dirty="0">
                <a:latin typeface="Times New Roman" panose="02020603050405020304" pitchFamily="18" charset="0"/>
                <a:cs typeface="Times New Roman" panose="02020603050405020304" pitchFamily="18" charset="0"/>
              </a:rPr>
              <a:t>: Based on the Agile Manifesto, prioritizing individuals, working software, customer collaboration, and responding to change. </a:t>
            </a:r>
          </a:p>
        </p:txBody>
      </p:sp>
    </p:spTree>
    <p:extLst>
      <p:ext uri="{BB962C8B-B14F-4D97-AF65-F5344CB8AC3E}">
        <p14:creationId xmlns:p14="http://schemas.microsoft.com/office/powerpoint/2010/main" val="426755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3CAE80-6C45-4578-A59C-1F9BEAF86929}"/>
              </a:ext>
            </a:extLst>
          </p:cNvPr>
          <p:cNvSpPr>
            <a:spLocks noGrp="1"/>
          </p:cNvSpPr>
          <p:nvPr>
            <p:ph idx="1"/>
          </p:nvPr>
        </p:nvSpPr>
        <p:spPr>
          <a:xfrm>
            <a:off x="457200" y="548680"/>
            <a:ext cx="8003232" cy="5458611"/>
          </a:xfrm>
        </p:spPr>
        <p:txBody>
          <a:bodyPr>
            <a:normAutofit fontScale="92500"/>
          </a:bodyPr>
          <a:lstStyle/>
          <a:p>
            <a:r>
              <a:rPr lang="en-US" sz="2800" b="1" dirty="0">
                <a:latin typeface="Times New Roman" panose="02020603050405020304" pitchFamily="18" charset="0"/>
                <a:cs typeface="Times New Roman" panose="02020603050405020304" pitchFamily="18" charset="0"/>
              </a:rPr>
              <a:t>Agile Model Development Lifecycle:</a:t>
            </a:r>
          </a:p>
          <a:p>
            <a:pPr algn="just"/>
            <a:r>
              <a:rPr lang="en-US" sz="2800" b="1" dirty="0">
                <a:latin typeface="Times New Roman" panose="02020603050405020304" pitchFamily="18" charset="0"/>
                <a:cs typeface="Times New Roman" panose="02020603050405020304" pitchFamily="18" charset="0"/>
              </a:rPr>
              <a:t>Concept</a:t>
            </a:r>
            <a:r>
              <a:rPr lang="en-US" sz="2800" dirty="0">
                <a:latin typeface="Times New Roman" panose="02020603050405020304" pitchFamily="18" charset="0"/>
                <a:cs typeface="Times New Roman" panose="02020603050405020304" pitchFamily="18" charset="0"/>
              </a:rPr>
              <a:t>: Define the project scope and initial requirements.</a:t>
            </a:r>
          </a:p>
          <a:p>
            <a:pPr algn="just"/>
            <a:r>
              <a:rPr lang="en-US" sz="2800" b="1" dirty="0">
                <a:latin typeface="Times New Roman" panose="02020603050405020304" pitchFamily="18" charset="0"/>
                <a:cs typeface="Times New Roman" panose="02020603050405020304" pitchFamily="18" charset="0"/>
              </a:rPr>
              <a:t>Inception</a:t>
            </a:r>
            <a:r>
              <a:rPr lang="en-US" sz="2800" dirty="0">
                <a:latin typeface="Times New Roman" panose="02020603050405020304" pitchFamily="18" charset="0"/>
                <a:cs typeface="Times New Roman" panose="02020603050405020304" pitchFamily="18" charset="0"/>
              </a:rPr>
              <a:t>: Build the team, create a backlog, and outline requirements.</a:t>
            </a:r>
          </a:p>
          <a:p>
            <a:pPr algn="just"/>
            <a:r>
              <a:rPr lang="en-US" sz="2800" b="1" dirty="0">
                <a:latin typeface="Times New Roman" panose="02020603050405020304" pitchFamily="18" charset="0"/>
                <a:cs typeface="Times New Roman" panose="02020603050405020304" pitchFamily="18" charset="0"/>
              </a:rPr>
              <a:t>Iteration</a:t>
            </a:r>
            <a:r>
              <a:rPr lang="en-US" sz="2800" dirty="0">
                <a:latin typeface="Times New Roman" panose="02020603050405020304" pitchFamily="18" charset="0"/>
                <a:cs typeface="Times New Roman" panose="02020603050405020304" pitchFamily="18" charset="0"/>
              </a:rPr>
              <a:t>: Develop, code, and unit test functionality based on feedback.</a:t>
            </a:r>
          </a:p>
          <a:p>
            <a:pPr algn="just"/>
            <a:r>
              <a:rPr lang="en-US" sz="2800" b="1" dirty="0">
                <a:latin typeface="Times New Roman" panose="02020603050405020304" pitchFamily="18" charset="0"/>
                <a:cs typeface="Times New Roman" panose="02020603050405020304" pitchFamily="18" charset="0"/>
              </a:rPr>
              <a:t>Release</a:t>
            </a:r>
            <a:r>
              <a:rPr lang="en-US" sz="2800" dirty="0">
                <a:latin typeface="Times New Roman" panose="02020603050405020304" pitchFamily="18" charset="0"/>
                <a:cs typeface="Times New Roman" panose="02020603050405020304" pitchFamily="18" charset="0"/>
              </a:rPr>
              <a:t>: Perform testing, training, and final deployment.</a:t>
            </a:r>
          </a:p>
          <a:p>
            <a:pPr algn="just"/>
            <a:r>
              <a:rPr lang="en-US" sz="2800" b="1" dirty="0">
                <a:latin typeface="Times New Roman" panose="02020603050405020304" pitchFamily="18" charset="0"/>
                <a:cs typeface="Times New Roman" panose="02020603050405020304" pitchFamily="18" charset="0"/>
              </a:rPr>
              <a:t>Maintenance:</a:t>
            </a:r>
            <a:r>
              <a:rPr lang="en-US" sz="2800" dirty="0">
                <a:latin typeface="Times New Roman" panose="02020603050405020304" pitchFamily="18" charset="0"/>
                <a:cs typeface="Times New Roman" panose="02020603050405020304" pitchFamily="18" charset="0"/>
              </a:rPr>
              <a:t> Provide ongoing support and updates.</a:t>
            </a:r>
          </a:p>
          <a:p>
            <a:pPr algn="just"/>
            <a:r>
              <a:rPr lang="en-US" sz="2800" b="1" dirty="0">
                <a:latin typeface="Times New Roman" panose="02020603050405020304" pitchFamily="18" charset="0"/>
                <a:cs typeface="Times New Roman" panose="02020603050405020304" pitchFamily="18" charset="0"/>
              </a:rPr>
              <a:t>Retirement</a:t>
            </a:r>
            <a:r>
              <a:rPr lang="en-US" sz="2800" dirty="0">
                <a:latin typeface="Times New Roman" panose="02020603050405020304" pitchFamily="18" charset="0"/>
                <a:cs typeface="Times New Roman" panose="02020603050405020304" pitchFamily="18" charset="0"/>
              </a:rPr>
              <a:t>: End-of-life, migrating to new versions. </a:t>
            </a:r>
          </a:p>
          <a:p>
            <a:endParaRPr lang="en-US" dirty="0"/>
          </a:p>
        </p:txBody>
      </p:sp>
    </p:spTree>
    <p:extLst>
      <p:ext uri="{BB962C8B-B14F-4D97-AF65-F5344CB8AC3E}">
        <p14:creationId xmlns:p14="http://schemas.microsoft.com/office/powerpoint/2010/main" val="84627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5BFF52-DBFB-A730-3A78-2E66D129F8BF}"/>
              </a:ext>
            </a:extLst>
          </p:cNvPr>
          <p:cNvSpPr>
            <a:spLocks noGrp="1"/>
          </p:cNvSpPr>
          <p:nvPr>
            <p:ph idx="1"/>
          </p:nvPr>
        </p:nvSpPr>
        <p:spPr>
          <a:xfrm>
            <a:off x="827584" y="548680"/>
            <a:ext cx="7632848" cy="5458611"/>
          </a:xfrm>
        </p:spPr>
        <p:txBody>
          <a:bodyPr>
            <a:normAutofit/>
          </a:bodyPr>
          <a:lstStyle/>
          <a:p>
            <a:pPr marL="109728" indent="0" algn="just">
              <a:buNone/>
            </a:pPr>
            <a:r>
              <a:rPr lang="en-US" b="1" dirty="0">
                <a:solidFill>
                  <a:srgbClr val="FF0000"/>
                </a:solidFill>
                <a:latin typeface="Times New Roman" panose="02020603050405020304" pitchFamily="18" charset="0"/>
                <a:cs typeface="Times New Roman" panose="02020603050405020304" pitchFamily="18" charset="0"/>
              </a:rPr>
              <a:t>Advantages of Agile Model:</a:t>
            </a:r>
          </a:p>
          <a:p>
            <a:pPr marL="109728" indent="0" algn="just">
              <a:buNone/>
            </a:pPr>
            <a:r>
              <a:rPr lang="en-US" b="1" dirty="0">
                <a:latin typeface="Times New Roman" panose="02020603050405020304" pitchFamily="18" charset="0"/>
                <a:cs typeface="Times New Roman" panose="02020603050405020304" pitchFamily="18" charset="0"/>
              </a:rPr>
              <a:t>Rapid Delivery</a:t>
            </a:r>
            <a:r>
              <a:rPr lang="en-US" dirty="0">
                <a:latin typeface="Times New Roman" panose="02020603050405020304" pitchFamily="18" charset="0"/>
                <a:cs typeface="Times New Roman" panose="02020603050405020304" pitchFamily="18" charset="0"/>
              </a:rPr>
              <a:t>: Frequent releases ensure faster time-to-market.</a:t>
            </a:r>
          </a:p>
          <a:p>
            <a:pPr marL="109728" indent="0" algn="just">
              <a:buNone/>
            </a:pPr>
            <a:r>
              <a:rPr lang="en-US" b="1" dirty="0">
                <a:latin typeface="Times New Roman" panose="02020603050405020304" pitchFamily="18" charset="0"/>
                <a:cs typeface="Times New Roman" panose="02020603050405020304" pitchFamily="18" charset="0"/>
              </a:rPr>
              <a:t>High Quality</a:t>
            </a:r>
            <a:r>
              <a:rPr lang="en-US" dirty="0">
                <a:latin typeface="Times New Roman" panose="02020603050405020304" pitchFamily="18" charset="0"/>
                <a:cs typeface="Times New Roman" panose="02020603050405020304" pitchFamily="18" charset="0"/>
              </a:rPr>
              <a:t>: Continuous testing and feedback loops improve the final product.</a:t>
            </a:r>
          </a:p>
          <a:p>
            <a:pPr marL="109728" indent="0" algn="just">
              <a:buNone/>
            </a:pPr>
            <a:r>
              <a:rPr lang="en-US" b="1" dirty="0">
                <a:latin typeface="Times New Roman" panose="02020603050405020304" pitchFamily="18" charset="0"/>
                <a:cs typeface="Times New Roman" panose="02020603050405020304" pitchFamily="18" charset="0"/>
              </a:rPr>
              <a:t>Customer Satisfaction</a:t>
            </a:r>
            <a:r>
              <a:rPr lang="en-US" dirty="0">
                <a:latin typeface="Times New Roman" panose="02020603050405020304" pitchFamily="18" charset="0"/>
                <a:cs typeface="Times New Roman" panose="02020603050405020304" pitchFamily="18" charset="0"/>
              </a:rPr>
              <a:t>: Regular demonstration of working software ensures alignment with customer needs.</a:t>
            </a:r>
          </a:p>
          <a:p>
            <a:pPr marL="109728" indent="0" algn="just">
              <a:buNone/>
            </a:pPr>
            <a:r>
              <a:rPr lang="en-US" b="1" dirty="0">
                <a:latin typeface="Times New Roman" panose="02020603050405020304" pitchFamily="18" charset="0"/>
                <a:cs typeface="Times New Roman" panose="02020603050405020304" pitchFamily="18" charset="0"/>
              </a:rPr>
              <a:t>Reduced Risks</a:t>
            </a:r>
            <a:r>
              <a:rPr lang="en-US" dirty="0">
                <a:latin typeface="Times New Roman" panose="02020603050405020304" pitchFamily="18" charset="0"/>
                <a:cs typeface="Times New Roman" panose="02020603050405020304" pitchFamily="18" charset="0"/>
              </a:rPr>
              <a:t>: Early identification of issues allows for immediate, corrective actions. </a:t>
            </a:r>
          </a:p>
        </p:txBody>
      </p:sp>
    </p:spTree>
    <p:extLst>
      <p:ext uri="{BB962C8B-B14F-4D97-AF65-F5344CB8AC3E}">
        <p14:creationId xmlns:p14="http://schemas.microsoft.com/office/powerpoint/2010/main" val="403973400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8116</TotalTime>
  <Words>876</Words>
  <Application>Microsoft Office PowerPoint</Application>
  <PresentationFormat>On-screen Show (4:3)</PresentationFormat>
  <Paragraphs>68</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Garamond</vt:lpstr>
      <vt:lpstr>Times New Roman</vt:lpstr>
      <vt:lpstr>Organic</vt:lpstr>
      <vt:lpstr>Software Engineering</vt:lpstr>
      <vt:lpstr>THE PROTOTYPING MODEL</vt:lpstr>
      <vt:lpstr>The prototyping paradigm</vt:lpstr>
      <vt:lpstr>Stages of the Prototyping Model</vt:lpstr>
      <vt:lpstr>PowerPoint Presentation</vt:lpstr>
      <vt:lpstr>EVOLUTIONARY SOFTWARE PROCESS MODELS</vt:lpstr>
      <vt:lpstr>The Incremental Model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najtena2003@outlook.com</dc:creator>
  <cp:lastModifiedBy>Rami Bahaa</cp:lastModifiedBy>
  <cp:revision>24</cp:revision>
  <dcterms:created xsi:type="dcterms:W3CDTF">2017-10-16T20:17:48Z</dcterms:created>
  <dcterms:modified xsi:type="dcterms:W3CDTF">2026-03-27T12:41:02Z</dcterms:modified>
</cp:coreProperties>
</file>